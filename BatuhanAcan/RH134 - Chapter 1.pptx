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Saira SemiCondensed SemiBold"/>
      <p:regular r:id="rId31"/>
      <p:bold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airaSemiCondensedSemiBold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SairaSemiCondensedSemiBold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1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4b0e0531ed8f134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44b0e0531ed8f134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4b0e0531ed8f134_5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4b0e0531ed8f134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44b0e0531ed8f134_5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44b0e0531ed8f134_5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4b0e0531ed8f134_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44b0e0531ed8f134_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4b0e0531ed8f134_5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4b0e0531ed8f134_5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4b0e0531ed8f134_5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44b0e0531ed8f134_5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4b0e0531ed8f134_5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44b0e0531ed8f134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4b0e0531ed8f134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4b0e0531ed8f134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44b0e0531ed8f134_5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44b0e0531ed8f134_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44b0e0531ed8f134_5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44b0e0531ed8f134_5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4b0e0531ed8f134_5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44b0e0531ed8f134_5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44b0e0531ed8f134_5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44b0e0531ed8f134_5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44b0e0531ed8f134_5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44b0e0531ed8f134_5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4b0e0531ed8f134_5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44b0e0531ed8f134_5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4b0e0531ed8f134_5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44b0e0531ed8f134_5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4b0e0531ed8f134_5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44b0e0531ed8f134_5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4b0e0531ed8f134_5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44b0e0531ed8f134_5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44b0e0531ed8f134_5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44b0e0531ed8f134_5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44b0e0531ed8f134_5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h44b0e0531ed8f134_5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44b0e0531ed8f134_5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44b0e0531ed8f134_5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44b0e0531ed8f134_5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44b0e0531ed8f134_5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firstscript.sh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4294967295"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Changing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the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Shell </a:t>
            </a:r>
            <a:endParaRPr sz="30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Environment</a:t>
            </a:r>
            <a:endParaRPr sz="4600"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591075" y="500925"/>
            <a:ext cx="52203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Chapter 1: Changing the Shell Environment</a:t>
            </a:r>
            <a:endParaRPr b="1" sz="4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" name="Google Shape;67;p13"/>
          <p:cNvCxnSpPr/>
          <p:nvPr/>
        </p:nvCxnSpPr>
        <p:spPr>
          <a:xfrm>
            <a:off x="3591075" y="2564100"/>
            <a:ext cx="5254500" cy="1530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3591075" y="2656175"/>
            <a:ext cx="414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Red Hat System Administration II (RH134)</a:t>
            </a:r>
            <a:endParaRPr sz="24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71675" y="4306725"/>
            <a:ext cx="2172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Batuhan Açan</a:t>
            </a:r>
            <a:endParaRPr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900" y="52675"/>
            <a:ext cx="1463850" cy="8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4490" y="3995627"/>
            <a:ext cx="1486260" cy="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Core Concepts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8" name="Google Shape;78;p14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3581950" y="421550"/>
            <a:ext cx="47601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🎯 Objective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Describe shell variables and export environment variables to modify shell and program behavior.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581950" y="1909975"/>
            <a:ext cx="4505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🔹Shell Variables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Unique to a specific session. Used for local commands and settings.</a:t>
            </a:r>
            <a:endParaRPr sz="2000"/>
          </a:p>
        </p:txBody>
      </p:sp>
      <p:sp>
        <p:nvSpPr>
          <p:cNvPr id="81" name="Google Shape;81;p14"/>
          <p:cNvSpPr txBox="1"/>
          <p:nvPr/>
        </p:nvSpPr>
        <p:spPr>
          <a:xfrm>
            <a:off x="3581950" y="3182650"/>
            <a:ext cx="4583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🌍 Environment Variables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Exported variables automatically copied to programs run from the shell.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Variable Assignment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8" name="Google Shape;88;p15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5"/>
          <p:cNvSpPr txBox="1"/>
          <p:nvPr/>
        </p:nvSpPr>
        <p:spPr>
          <a:xfrm>
            <a:off x="3903675" y="562000"/>
            <a:ext cx="4693500" cy="1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Format: VARIABLENAME=value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No spaces 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around the equal sign.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Allowed: Letters, digits, _.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Convention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: ALL-CAPS for system, lowercase for user variables.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903675" y="2961925"/>
            <a:ext cx="4754400" cy="15948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COUNT=40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first_name=Batuhan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full_name=’Batuhan Acan’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Variable Data Types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6"/>
          <p:cNvSpPr txBox="1"/>
          <p:nvPr/>
        </p:nvSpPr>
        <p:spPr>
          <a:xfrm>
            <a:off x="3581950" y="421550"/>
            <a:ext cx="47601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🔤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Strings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Include alphanumeric characters.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Enclose in quotes if using spaces.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581950" y="1888450"/>
            <a:ext cx="4505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🔢 Numbers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Numeric characters only. Used for basic integer arithmetic.</a:t>
            </a:r>
            <a:endParaRPr sz="2000"/>
          </a:p>
        </p:txBody>
      </p:sp>
      <p:sp>
        <p:nvSpPr>
          <p:cNvPr id="100" name="Google Shape;100;p16"/>
          <p:cNvSpPr txBox="1"/>
          <p:nvPr/>
        </p:nvSpPr>
        <p:spPr>
          <a:xfrm>
            <a:off x="3581950" y="3182650"/>
            <a:ext cx="4583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📚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Arrays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Indexed sequences of data. Created using space-separated elements in parentheses.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14350" y="713950"/>
            <a:ext cx="2065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Variable Expansion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3903675" y="562000"/>
            <a:ext cx="4992600" cy="1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to retrieve a value.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"Double Quotes"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: Expands variable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'Single Quotes'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: Literal string 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${Braces}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: Protects variable name 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903675" y="2824275"/>
            <a:ext cx="4801800" cy="17325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COUNT=40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echo “Count is $COUNT”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 is 40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echo ‘Count is $COUNT’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 is $COUNT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echo “Repeat ${COUNT}x”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Repeat 40x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514350" y="713950"/>
            <a:ext cx="22647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Environment &amp; Persistence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3903675" y="562000"/>
            <a:ext cx="4992600" cy="1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Environment Variables: Use export to pass variables to programs.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Key Variables: EDITOR, LANG, PATH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Persistence: Edit ~/.bash_profile or ~/.bashrc to set automatically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903675" y="2824275"/>
            <a:ext cx="4801800" cy="17325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export EDITOR=nano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export PATH=${PATH}:/home…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14350" y="713950"/>
            <a:ext cx="22647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Aliases &amp; Cleanup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>
            <a:off x="514350" y="16582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9"/>
          <p:cNvSpPr txBox="1"/>
          <p:nvPr/>
        </p:nvSpPr>
        <p:spPr>
          <a:xfrm>
            <a:off x="3903675" y="562000"/>
            <a:ext cx="4992600" cy="1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Bash </a:t>
            </a: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Alias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es: Command shortcuts. Save in </a:t>
            </a: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~/.bashrc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for persistence.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unset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&lt;var&gt;: Delete variable.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export -n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&lt;var&gt;: Unexport only.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b="1"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nalias</a:t>
            </a: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&lt;name&gt;: Remove alias. 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903675" y="2824275"/>
            <a:ext cx="4801800" cy="17325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alias hello=’echo “Hello, this is a long string.”’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hello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Hello, this is a long string.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unset file1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export -n PS1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unalias hello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514350" y="713950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 Lab Setup &amp; Prompt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514350" y="19861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0"/>
          <p:cNvSpPr txBox="1"/>
          <p:nvPr/>
        </p:nvSpPr>
        <p:spPr>
          <a:xfrm>
            <a:off x="3903675" y="562000"/>
            <a:ext cx="4993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Objective: Initialize lab &amp; set persistent PS1 prompt with time.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Step 1: Start lab environment.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Step 2: SSH into servera.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Step 3: Append PS1 to ~/.bashrc.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Step 4: Reload with source. 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3825225" y="2756650"/>
            <a:ext cx="4915200" cy="1912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3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student@workstation:~$</a:t>
            </a: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lab start scripts-env</a:t>
            </a:r>
            <a:endParaRPr sz="13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3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student@workstation:~$</a:t>
            </a: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ssh student@servera</a:t>
            </a:r>
            <a:endParaRPr sz="13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3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[student@servera ~]$</a:t>
            </a: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echo "export PS1='[\u@\h \t \w]\$ '" &gt;&gt; ~/.bashrc</a:t>
            </a:r>
            <a:endParaRPr sz="13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3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[student@servera ~]$</a:t>
            </a: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source ~/.bashrc</a:t>
            </a:r>
            <a:endParaRPr sz="13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35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rPr>
              <a:t>[student@servera 14:45:05 ~]$</a:t>
            </a:r>
            <a:endParaRPr sz="1350">
              <a:solidFill>
                <a:srgbClr val="D4AF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514350" y="713950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 Variables &amp; Cleanup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3" name="Google Shape;143;p21"/>
          <p:cNvCxnSpPr/>
          <p:nvPr/>
        </p:nvCxnSpPr>
        <p:spPr>
          <a:xfrm>
            <a:off x="514350" y="19861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1"/>
          <p:cNvSpPr txBox="1"/>
          <p:nvPr/>
        </p:nvSpPr>
        <p:spPr>
          <a:xfrm>
            <a:off x="3903675" y="562000"/>
            <a:ext cx="4993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Task 2: Assign file=examplefile, list with ls, and delete with rm. 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Task 3: Export EDITOR=vim.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Open Sans"/>
              <a:buChar char="●"/>
            </a:pPr>
            <a:r>
              <a:rPr lang="en" sz="2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Task 4: Exit servera &amp; run lab finish scripts-env on workstation.</a:t>
            </a:r>
            <a:endParaRPr sz="2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3825225" y="2756650"/>
            <a:ext cx="4915200" cy="1912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file=examplefile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ls -l $file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-rw-r--r--. 1 student student 0 Jan 23 14:59 examplefile</a:t>
            </a:r>
            <a:endParaRPr sz="1100">
              <a:solidFill>
                <a:srgbClr val="A6E22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rm $file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export EDITOR=vim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exit</a:t>
            </a:r>
            <a:endParaRPr sz="1100">
              <a:solidFill>
                <a:srgbClr val="F8F8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student@workstation:~$ </a:t>
            </a:r>
            <a:r>
              <a:rPr lang="en" sz="1100">
                <a:solidFill>
                  <a:srgbClr val="F8F8F8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scripts-env</a:t>
            </a:r>
            <a:endParaRPr sz="1350">
              <a:solidFill>
                <a:srgbClr val="F8F8F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14350" y="713950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Writing Bash Scripts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514350" y="16835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2"/>
          <p:cNvSpPr txBox="1"/>
          <p:nvPr/>
        </p:nvSpPr>
        <p:spPr>
          <a:xfrm>
            <a:off x="3785925" y="405125"/>
            <a:ext cx="4993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Execute Permission:</a:t>
            </a:r>
            <a:r>
              <a:rPr lang="en" sz="1300"/>
              <a:t> Scripts require execute rights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chmod +x script.sh</a:t>
            </a:r>
            <a:r>
              <a:rPr lang="en" sz="1300"/>
              <a:t>) to run directly.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Execution Paths:</a:t>
            </a:r>
            <a:r>
              <a:rPr lang="en" sz="1300"/>
              <a:t> Run with relative path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./script.sh</a:t>
            </a:r>
            <a:r>
              <a:rPr lang="en" sz="1300"/>
              <a:t>), absolute path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/path/to/script.sh</a:t>
            </a:r>
            <a:r>
              <a:rPr lang="en" sz="1300"/>
              <a:t>), or place in a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$PATH</a:t>
            </a:r>
            <a:r>
              <a:rPr lang="en" sz="1300"/>
              <a:t> directory (e.g.,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~/bin</a:t>
            </a:r>
            <a:r>
              <a:rPr lang="en" sz="1300"/>
              <a:t>).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Shebang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#!/usr/bin/bash</a:t>
            </a:r>
            <a:r>
              <a:rPr b="1" lang="en" sz="1300"/>
              <a:t>):</a:t>
            </a:r>
            <a:r>
              <a:rPr lang="en" sz="1300"/>
              <a:t> First line of a script indicating which interpreter executes the file.</a:t>
            </a:r>
            <a:endParaRPr sz="1300"/>
          </a:p>
        </p:txBody>
      </p:sp>
      <p:sp>
        <p:nvSpPr>
          <p:cNvPr id="154" name="Google Shape;154;p22"/>
          <p:cNvSpPr/>
          <p:nvPr/>
        </p:nvSpPr>
        <p:spPr>
          <a:xfrm>
            <a:off x="3825225" y="2756650"/>
            <a:ext cx="4915200" cy="1912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user@host:~$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cat ~/bin/hello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#!/usr/bin/bash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echo "Hello, world"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user@host:~$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chmod +x ~/bin/hello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user@host:~$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hello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Hello, world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6E22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Positional Parameters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1" name="Google Shape;161;p23"/>
          <p:cNvCxnSpPr/>
          <p:nvPr/>
        </p:nvCxnSpPr>
        <p:spPr>
          <a:xfrm>
            <a:off x="514350" y="16835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3"/>
          <p:cNvSpPr txBox="1"/>
          <p:nvPr/>
        </p:nvSpPr>
        <p:spPr>
          <a:xfrm>
            <a:off x="3785925" y="405125"/>
            <a:ext cx="5077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$0</a:t>
            </a:r>
            <a:r>
              <a:rPr b="1" lang="en"/>
              <a:t>:</a:t>
            </a:r>
            <a:r>
              <a:rPr lang="en"/>
              <a:t> Expands to the script name or exact execution path.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$1</a:t>
            </a:r>
            <a:r>
              <a:rPr b="1" lang="en"/>
              <a:t> to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$9</a:t>
            </a:r>
            <a:r>
              <a:rPr b="1" lang="en"/>
              <a:t>:</a:t>
            </a:r>
            <a:r>
              <a:rPr lang="en"/>
              <a:t> Refer to the 1st through 9th arguments passed after the script name.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Brace Syntax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${10}</a:t>
            </a:r>
            <a:r>
              <a:rPr b="1" lang="en"/>
              <a:t>):</a:t>
            </a:r>
            <a:r>
              <a:rPr lang="en"/>
              <a:t> Required for 10th parameter and above (without braces,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$10</a:t>
            </a:r>
            <a:r>
              <a:rPr lang="en"/>
              <a:t> expands as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$1</a:t>
            </a:r>
            <a:r>
              <a:rPr lang="en"/>
              <a:t> followed by literal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/>
              <a:t>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Reassigning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 --</a:t>
            </a:r>
            <a:r>
              <a:rPr b="1" lang="en"/>
              <a:t>):</a:t>
            </a:r>
            <a:r>
              <a:rPr lang="en"/>
              <a:t> Swaps or replaces positional parameters in a single step.</a:t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3825225" y="2756650"/>
            <a:ext cx="4915200" cy="1912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&gt; user@host:~$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./params.sh 1st 2nd 3rd 4th 5th 6th 7th 8th 9th 10th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Parameter 0: ./params.sh&lt;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Parameter 1: 1st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Parameter 10 (incorrect): 1st0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Parameter 10 (correct): 10th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6E22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Quoting &amp; Output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Redirection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0" name="Google Shape;170;p24"/>
          <p:cNvCxnSpPr/>
          <p:nvPr/>
        </p:nvCxnSpPr>
        <p:spPr>
          <a:xfrm>
            <a:off x="453150" y="186602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4"/>
          <p:cNvSpPr txBox="1"/>
          <p:nvPr/>
        </p:nvSpPr>
        <p:spPr>
          <a:xfrm>
            <a:off x="3785925" y="405125"/>
            <a:ext cx="5077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Single Quotes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 '</a:t>
            </a:r>
            <a:r>
              <a:rPr b="1" lang="en" sz="1300"/>
              <a:t>):</a:t>
            </a:r>
            <a:r>
              <a:rPr lang="en" sz="1300"/>
              <a:t> Preserve literal meaning of all enclosed text (suppresses variable expansion and command execution).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Backslash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</a:t>
            </a:r>
            <a:r>
              <a:rPr b="1" lang="en" sz="1300"/>
              <a:t>):</a:t>
            </a:r>
            <a:r>
              <a:rPr lang="en" sz="1300"/>
              <a:t> Escapes the single character immediately following it.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Double Quotes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 "</a:t>
            </a:r>
            <a:r>
              <a:rPr b="1" lang="en" sz="1300"/>
              <a:t>):</a:t>
            </a:r>
            <a:r>
              <a:rPr lang="en" sz="1300"/>
              <a:t> Suppress globbing, but allow variable substitution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$var</a:t>
            </a:r>
            <a:r>
              <a:rPr lang="en" sz="1300"/>
              <a:t>) and command substitution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$(command)</a:t>
            </a:r>
            <a:r>
              <a:rPr lang="en" sz="1300"/>
              <a:t>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Output Redirection:</a:t>
            </a:r>
            <a:r>
              <a:rPr lang="en" sz="1300"/>
              <a:t> Send normal output to STDOUT or error messages to STDERR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&gt;&amp;2</a:t>
            </a:r>
            <a:r>
              <a:rPr lang="en" sz="1300"/>
              <a:t> or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2&gt; logfile</a:t>
            </a:r>
            <a:r>
              <a:rPr lang="en" sz="1300"/>
              <a:t>).</a:t>
            </a:r>
            <a:endParaRPr sz="1300"/>
          </a:p>
        </p:txBody>
      </p:sp>
      <p:sp>
        <p:nvSpPr>
          <p:cNvPr id="172" name="Google Shape;172;p24"/>
          <p:cNvSpPr/>
          <p:nvPr/>
        </p:nvSpPr>
        <p:spPr>
          <a:xfrm>
            <a:off x="3825225" y="2756650"/>
            <a:ext cx="4915200" cy="1912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echo "User is $(whoami) on $(hostname -s)"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User is student on servera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echo 'User is $(whoami)'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User is $(whoami)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user@host:~$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echo "ERROR: Houston, we have a problem." &gt;&amp;2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 Script Creation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9" name="Google Shape;179;p25"/>
          <p:cNvCxnSpPr/>
          <p:nvPr/>
        </p:nvCxnSpPr>
        <p:spPr>
          <a:xfrm>
            <a:off x="453150" y="156345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5"/>
          <p:cNvSpPr txBox="1"/>
          <p:nvPr/>
        </p:nvSpPr>
        <p:spPr>
          <a:xfrm>
            <a:off x="3755025" y="405125"/>
            <a:ext cx="5077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Objective:</a:t>
            </a:r>
            <a:r>
              <a:rPr lang="en" sz="1200"/>
              <a:t> Write a script that redirects output to a file 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200"/>
              <a:t> (overwrite)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r>
              <a:rPr lang="en" sz="1200"/>
              <a:t> (append).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1:</a:t>
            </a:r>
            <a:r>
              <a:rPr lang="en" sz="1200"/>
              <a:t>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start scripts-write</a:t>
            </a:r>
            <a:r>
              <a:rPr lang="en" sz="1200"/>
              <a:t> on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200"/>
              <a:t> and SSH into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2:</a:t>
            </a:r>
            <a:r>
              <a:rPr lang="en" sz="1200"/>
              <a:t> Create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firstscript.sh</a:t>
            </a:r>
            <a:r>
              <a:rPr lang="en" sz="1200"/>
              <a:t> in the home directory using a text editor.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3:</a:t>
            </a:r>
            <a:r>
              <a:rPr lang="en" sz="1200"/>
              <a:t> Grant execute rights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chmod +x firstscript.sh</a:t>
            </a:r>
            <a:r>
              <a:rPr lang="en" sz="1200"/>
              <a:t>) and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./</a:t>
            </a:r>
            <a:r>
              <a:rPr lang="en" sz="12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firstscript.sh</a:t>
            </a:r>
            <a:r>
              <a:rPr lang="en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4:</a:t>
            </a:r>
            <a:r>
              <a:rPr lang="en" sz="1200"/>
              <a:t> Review the output file 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 output.txt</a:t>
            </a:r>
            <a:r>
              <a:rPr lang="en" sz="1200"/>
              <a:t>.</a:t>
            </a:r>
            <a:endParaRPr sz="1200"/>
          </a:p>
        </p:txBody>
      </p:sp>
      <p:sp>
        <p:nvSpPr>
          <p:cNvPr id="181" name="Google Shape;181;p25"/>
          <p:cNvSpPr/>
          <p:nvPr/>
        </p:nvSpPr>
        <p:spPr>
          <a:xfrm>
            <a:off x="3755025" y="2571750"/>
            <a:ext cx="5139600" cy="21810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student@workstation:~$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lab start scripts-write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student@workstation:~$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ssh student@servera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cat firstscript.sh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#!/usr/bin/bash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echo "This is my first bash script" &gt; ~/output.txt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echo "################################################"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 &gt;&gt; ~/output.txt</a:t>
            </a:r>
            <a:endParaRPr sz="1100">
              <a:solidFill>
                <a:srgbClr val="A6E22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chmod +x firstscript.sh &amp;&amp; ./firstscript.sh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cat output.txt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 Script Expansion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8" name="Google Shape;188;p26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6"/>
          <p:cNvSpPr txBox="1"/>
          <p:nvPr/>
        </p:nvSpPr>
        <p:spPr>
          <a:xfrm>
            <a:off x="3755025" y="405125"/>
            <a:ext cx="5077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200"/>
              <a:t>Step 5 (Expand Script):</a:t>
            </a:r>
            <a:r>
              <a:rPr lang="en" sz="1200"/>
              <a:t> Append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lsblk &gt;&gt; ~/output.txt</a:t>
            </a:r>
            <a:r>
              <a:rPr lang="en" sz="1200"/>
              <a:t>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-h &gt;&gt; ~/output.txt</a:t>
            </a:r>
            <a:r>
              <a:rPr lang="en" sz="1200"/>
              <a:t> to collect block devices and disk usage.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6 (Re-execute):</a:t>
            </a:r>
            <a:r>
              <a:rPr lang="en" sz="1200"/>
              <a:t>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./firstscript.sh</a:t>
            </a:r>
            <a:r>
              <a:rPr lang="en" sz="1200"/>
              <a:t> to update the log file.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7 (Verify Output):</a:t>
            </a:r>
            <a:r>
              <a:rPr lang="en" sz="1200"/>
              <a:t>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 output.txt</a:t>
            </a:r>
            <a:r>
              <a:rPr lang="en" sz="1200"/>
              <a:t> to check the formatted report.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Step 8 (Lab Finish):</a:t>
            </a:r>
            <a:r>
              <a:rPr lang="en" sz="1200"/>
              <a:t> Type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exit</a:t>
            </a:r>
            <a:r>
              <a:rPr lang="en" sz="1200"/>
              <a:t> to return to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200"/>
              <a:t>, then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scripts-write</a:t>
            </a:r>
            <a:r>
              <a:rPr lang="en" sz="1200"/>
              <a:t>.</a:t>
            </a:r>
            <a:endParaRPr sz="1200"/>
          </a:p>
        </p:txBody>
      </p:sp>
      <p:sp>
        <p:nvSpPr>
          <p:cNvPr id="190" name="Google Shape;190;p26"/>
          <p:cNvSpPr/>
          <p:nvPr/>
        </p:nvSpPr>
        <p:spPr>
          <a:xfrm>
            <a:off x="3755025" y="2571750"/>
            <a:ext cx="5139600" cy="21810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cat firstscript.sh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#!/usr/bin/bash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echo "LIST BLOCK DEVICES" &gt;&gt; ~/output.txt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lsblk &gt;&gt; ~/output.txt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echo "FILESYSTEM FREE SPACE STATUS" &gt;&gt; ~/output.txt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df -h &gt;&gt; ~/output.txt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./firstscript.sh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[student@servera ~]$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exit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&gt; student@workstation:~$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scripts-write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For Loops in Bash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3755025" y="405125"/>
            <a:ext cx="5077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Syntax:</a:t>
            </a:r>
            <a:r>
              <a:rPr lang="en" sz="1300"/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VARIABLE in LIST; do COMMAND; done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Brace Expansion:</a:t>
            </a:r>
            <a:r>
              <a:rPr lang="en" sz="1300"/>
              <a:t> Generates explicit sequences (e.g.,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host{1..3}</a:t>
            </a:r>
            <a:r>
              <a:rPr lang="en" sz="1300"/>
              <a:t> expands to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host1 host2 host3</a:t>
            </a:r>
            <a:r>
              <a:rPr lang="en" sz="1300"/>
              <a:t>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Command Output:</a:t>
            </a:r>
            <a:r>
              <a:rPr lang="en" sz="1300"/>
              <a:t> Iterate over dynamic list outputs using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$(command)</a:t>
            </a:r>
            <a:r>
              <a:rPr lang="en" sz="1300"/>
              <a:t> or sequence generators like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seq</a:t>
            </a:r>
            <a:r>
              <a:rPr lang="en" sz="1300"/>
              <a:t>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Scope:</a:t>
            </a:r>
            <a:r>
              <a:rPr lang="en" sz="1300"/>
              <a:t> Iterates through every string element in the list and terminates automatically after the last item.</a:t>
            </a:r>
            <a:endParaRPr/>
          </a:p>
        </p:txBody>
      </p:sp>
      <p:cxnSp>
        <p:nvCxnSpPr>
          <p:cNvPr id="198" name="Google Shape;198;p27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7"/>
          <p:cNvSpPr/>
          <p:nvPr/>
        </p:nvSpPr>
        <p:spPr>
          <a:xfrm>
            <a:off x="3755025" y="2431675"/>
            <a:ext cx="5077800" cy="2321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for HOST in host{1..3}; do echo $HOST; done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host1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host2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host3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for EVEN in $(seq 2 2 10); do echo "$EVEN"; done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Exit Codes &amp; Testing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3755025" y="405125"/>
            <a:ext cx="5077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Exit Codes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$?</a:t>
            </a:r>
            <a:r>
              <a:rPr b="1" lang="en" sz="1300"/>
              <a:t>):</a:t>
            </a:r>
            <a:r>
              <a:rPr lang="en" sz="1300"/>
              <a:t> Every command returns a status from 0 to 255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300"/>
              <a:t> = success, non-zero = error).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Built-in Built-ins:</a:t>
            </a:r>
            <a:r>
              <a:rPr lang="en" sz="1300"/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/bin/true</a:t>
            </a:r>
            <a:r>
              <a:rPr lang="en" sz="1300"/>
              <a:t> always returns exit status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300"/>
              <a:t>;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/bin/false</a:t>
            </a:r>
            <a:r>
              <a:rPr lang="en" sz="1300"/>
              <a:t> returns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300"/>
              <a:t>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Bracket Syntax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[[ ]]</a:t>
            </a:r>
            <a:r>
              <a:rPr b="1" lang="en" sz="1300"/>
              <a:t>):</a:t>
            </a:r>
            <a:r>
              <a:rPr lang="en" sz="1300"/>
              <a:t> Evaluates conditions to true or false. </a:t>
            </a:r>
            <a:r>
              <a:rPr b="1" lang="en" sz="1300"/>
              <a:t>Spaces inside brackets are mandatory</a:t>
            </a:r>
            <a:r>
              <a:rPr lang="en" sz="1300"/>
              <a:t>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Comparison Operators:</a:t>
            </a:r>
            <a:r>
              <a:rPr lang="en" sz="1300"/>
              <a:t> Numeric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-eq</a:t>
            </a:r>
            <a:r>
              <a:rPr lang="en" sz="1300"/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-ne</a:t>
            </a:r>
            <a:r>
              <a:rPr lang="en" sz="1300"/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-gt</a:t>
            </a:r>
            <a:r>
              <a:rPr lang="en" sz="1300"/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-lt</a:t>
            </a:r>
            <a:r>
              <a:rPr lang="en" sz="1300"/>
              <a:t>) and String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1300"/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r>
              <a:rPr lang="en" sz="1300"/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-z</a:t>
            </a:r>
            <a:r>
              <a:rPr lang="en" sz="1300"/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-n</a:t>
            </a:r>
            <a:r>
              <a:rPr lang="en" sz="1300"/>
              <a:t>).</a:t>
            </a:r>
            <a:endParaRPr sz="1300"/>
          </a:p>
        </p:txBody>
      </p:sp>
      <p:cxnSp>
        <p:nvCxnSpPr>
          <p:cNvPr id="207" name="Google Shape;207;p28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8"/>
          <p:cNvSpPr/>
          <p:nvPr/>
        </p:nvSpPr>
        <p:spPr>
          <a:xfrm>
            <a:off x="3755025" y="2431675"/>
            <a:ext cx="5077800" cy="2321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/bin/true; echo $?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[[ 8 -gt 2 ]]; echo $?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STRING=''; [[ -z "$STRING" ]]; echo $?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While &amp; </a:t>
            </a: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Until</a:t>
            </a: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 Loops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3755025" y="405125"/>
            <a:ext cx="52545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200"/>
              <a:t>While Loops:</a:t>
            </a:r>
            <a:r>
              <a:rPr lang="en" sz="1200"/>
              <a:t> Execute block statements as long as the test condition returns true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200"/>
              <a:t> exit code).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200"/>
              <a:t>Until Loops:</a:t>
            </a:r>
            <a:r>
              <a:rPr lang="en" sz="1200"/>
              <a:t> Execute block statements as long as the test condition returns false (non-zero exit code).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200"/>
              <a:t>Pre-test Evaluation:</a:t>
            </a:r>
            <a:r>
              <a:rPr lang="en" sz="1200"/>
              <a:t> Both loop types evaluate the condition before running any iteration; if unsatisfied initially, the loop body never runs.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200"/>
              <a:t>Exit Status:</a:t>
            </a:r>
            <a:r>
              <a:rPr lang="en" sz="1200"/>
              <a:t> The exit code of a completed loop is the exit code of the last executed statement.</a:t>
            </a:r>
            <a:endParaRPr b="1"/>
          </a:p>
        </p:txBody>
      </p:sp>
      <p:cxnSp>
        <p:nvCxnSpPr>
          <p:cNvPr id="216" name="Google Shape;216;p29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9"/>
          <p:cNvSpPr/>
          <p:nvPr/>
        </p:nvSpPr>
        <p:spPr>
          <a:xfrm>
            <a:off x="3755025" y="2672600"/>
            <a:ext cx="4873500" cy="1996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x=1; while [[ $x -le 3 ]]; do echo "x is $x"; x=$((x + 1)); done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 is 1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 is 2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 is 3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user@host:~$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x=3; until [[ $x -lt 1 ]]; do echo "x is $x"; x=$((x - 1)); done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 is 3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 is 2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 is 1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Conditional Branching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3755025" y="405125"/>
            <a:ext cx="52545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/ then</a:t>
            </a:r>
            <a:r>
              <a:rPr b="1" lang="en" sz="1300"/>
              <a:t>:</a:t>
            </a:r>
            <a:r>
              <a:rPr lang="en" sz="1300"/>
              <a:t> Executes statements if the test condition evaluates to true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300"/>
              <a:t> exit code).</a:t>
            </a:r>
            <a:endParaRPr sz="13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b="1" lang="en" sz="1300"/>
              <a:t>:</a:t>
            </a:r>
            <a:r>
              <a:rPr lang="en" sz="1300"/>
              <a:t> Evaluates secondary conditions sequentially if previous tests fail.</a:t>
            </a:r>
            <a:endParaRPr sz="13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" sz="1300"/>
              <a:t>:</a:t>
            </a:r>
            <a:r>
              <a:rPr lang="en" sz="1300"/>
              <a:t> Fallback execution block when all preceding conditions evaluate to false.</a:t>
            </a: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300"/>
              <a:t>Closing Keyword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</a:t>
            </a:r>
            <a:r>
              <a:rPr b="1" lang="en" sz="1300"/>
              <a:t>):</a:t>
            </a:r>
            <a:r>
              <a:rPr lang="en" sz="1300"/>
              <a:t> Mandatory keyword used to close the conditional block.</a:t>
            </a:r>
            <a:r>
              <a:rPr lang="en"/>
              <a:t>.</a:t>
            </a:r>
            <a:endParaRPr b="1" sz="1600"/>
          </a:p>
        </p:txBody>
      </p:sp>
      <p:cxnSp>
        <p:nvCxnSpPr>
          <p:cNvPr id="225" name="Google Shape;225;p30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0"/>
          <p:cNvSpPr/>
          <p:nvPr/>
        </p:nvSpPr>
        <p:spPr>
          <a:xfrm>
            <a:off x="3755025" y="2807075"/>
            <a:ext cx="4873500" cy="1996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[user@host ~]$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if [[ "$MARIADB_ACTIVE" -eq 0 ]]; then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mysql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elif [[ "$POSTGRESQL_ACTIVE" -eq 0 ]]; then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psql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else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sqlite3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fi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Guided Exercise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CLI Loops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3755025" y="405125"/>
            <a:ext cx="52545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Objective:</a:t>
            </a:r>
            <a:r>
              <a:rPr lang="en" sz="1200"/>
              <a:t> Run commands across multiple remote targets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200"/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serverb</a:t>
            </a:r>
            <a:r>
              <a:rPr lang="en" sz="1200"/>
              <a:t>) using SSH and a CLI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200"/>
              <a:t> loop.</a:t>
            </a:r>
            <a:endParaRPr sz="12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Step 1:</a:t>
            </a:r>
            <a:r>
              <a:rPr lang="en" sz="1200"/>
              <a:t> Run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start scripts-loops</a:t>
            </a:r>
            <a:r>
              <a:rPr lang="en" sz="1200"/>
              <a:t> on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200"/>
              <a:t>.</a:t>
            </a:r>
            <a:endParaRPr sz="12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Step 2:</a:t>
            </a:r>
            <a:r>
              <a:rPr lang="en" sz="1200"/>
              <a:t> Test individual hostname execution via SSH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ssh student@servera hostname</a:t>
            </a:r>
            <a:r>
              <a:rPr lang="en" sz="1200"/>
              <a:t>).</a:t>
            </a:r>
            <a:endParaRPr sz="12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200"/>
              <a:t>Step 3:</a:t>
            </a:r>
            <a:r>
              <a:rPr lang="en" sz="1200"/>
              <a:t> Automate execution across hosts using a single-line command-line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200"/>
              <a:t> loop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host in servera serverb; do ... done</a:t>
            </a:r>
            <a:r>
              <a:rPr lang="en" sz="1200"/>
              <a:t>).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34" name="Google Shape;234;p31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1"/>
          <p:cNvSpPr/>
          <p:nvPr/>
        </p:nvSpPr>
        <p:spPr>
          <a:xfrm>
            <a:off x="3755025" y="2807075"/>
            <a:ext cx="4873500" cy="1996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lab start scripts-loops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ssh student@servera hostname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ssh student@serverb hostname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serverb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for host in servera serverb; do ssh student@${host} hostname; done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serverb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End-of-Chapter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Lab: Logic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3642975" y="405125"/>
            <a:ext cx="52545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Objective:</a:t>
            </a:r>
            <a:r>
              <a:rPr lang="en" sz="1100"/>
              <a:t> Collect FQDN, IP address, and architecture from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100"/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serverb</a:t>
            </a:r>
            <a:r>
              <a:rPr lang="en" sz="1100"/>
              <a:t> into separate output files.</a:t>
            </a:r>
            <a:endParaRPr sz="11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1:</a:t>
            </a:r>
            <a:r>
              <a:rPr lang="en" sz="1100"/>
              <a:t> Run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start scripts-review</a:t>
            </a:r>
            <a:r>
              <a:rPr lang="en" sz="1100"/>
              <a:t> 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workstation</a:t>
            </a:r>
            <a:r>
              <a:rPr lang="en" sz="1100"/>
              <a:t>.</a:t>
            </a:r>
            <a:endParaRPr sz="11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2:</a:t>
            </a:r>
            <a:r>
              <a:rPr lang="en" sz="1100"/>
              <a:t> 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/home/student/bin/bash-lab.sh</a:t>
            </a:r>
            <a:r>
              <a:rPr lang="en" sz="1100"/>
              <a:t> with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#!/bin/bash</a:t>
            </a:r>
            <a:r>
              <a:rPr lang="en" sz="1100"/>
              <a:t> shebang.</a:t>
            </a:r>
            <a:endParaRPr sz="11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3:</a:t>
            </a:r>
            <a:r>
              <a:rPr lang="en" sz="1100"/>
              <a:t> Use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/>
              <a:t> loop to iterate over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servera</a:t>
            </a:r>
            <a:r>
              <a:rPr lang="en" sz="1100"/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serverb</a:t>
            </a:r>
            <a:r>
              <a:rPr lang="en" sz="1100"/>
              <a:t>, redirecting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hostname --fqdn</a:t>
            </a:r>
            <a:r>
              <a:rPr lang="en" sz="1100"/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hostname --ip-address</a:t>
            </a:r>
            <a:r>
              <a:rPr lang="en" sz="1100"/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uname --machine</a:t>
            </a:r>
            <a:r>
              <a:rPr lang="en" sz="1100"/>
              <a:t>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#####</a:t>
            </a:r>
            <a:r>
              <a:rPr lang="en" sz="1100"/>
              <a:t> line separators.</a:t>
            </a:r>
            <a:endParaRPr b="1" sz="1200"/>
          </a:p>
        </p:txBody>
      </p:sp>
      <p:cxnSp>
        <p:nvCxnSpPr>
          <p:cNvPr id="243" name="Google Shape;243;p32"/>
          <p:cNvCxnSpPr/>
          <p:nvPr/>
        </p:nvCxnSpPr>
        <p:spPr>
          <a:xfrm>
            <a:off x="453150" y="1619475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2"/>
          <p:cNvSpPr/>
          <p:nvPr/>
        </p:nvSpPr>
        <p:spPr>
          <a:xfrm>
            <a:off x="3690675" y="2571750"/>
            <a:ext cx="5159100" cy="23772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cat ~/bin/bash-lab.sh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#!/bin/bash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for host in servera serverb; do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OUT="/home/student/output-${host}"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ssh student@${host} hostname --fqdn &gt; ${OUT}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echo "#####" &gt;&gt; ${OUT}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ssh student@${host} hostname --ip-address &gt;&gt; ${OUT}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echo "#####" &gt;&gt; ${OUT}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ssh student@${host} uname --machine &gt;&gt; ${OUT}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done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214950" y="253325"/>
            <a:ext cx="3147600" cy="4652100"/>
          </a:xfrm>
          <a:prstGeom prst="rect">
            <a:avLst/>
          </a:prstGeom>
          <a:solidFill>
            <a:srgbClr val="2B3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453150" y="691525"/>
            <a:ext cx="26712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End-of-Chapter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Lab: Execution &amp; Grading</a:t>
            </a:r>
            <a:endParaRPr b="1" sz="2300">
              <a:solidFill>
                <a:srgbClr val="F8F8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3578625" y="304275"/>
            <a:ext cx="54225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4 (Permissions &amp; Execution):</a:t>
            </a:r>
            <a:r>
              <a:rPr lang="en" sz="1100"/>
              <a:t> Make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~/bin/bash-lab.sh</a:t>
            </a:r>
            <a:r>
              <a:rPr lang="en" sz="1100"/>
              <a:t> executable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chmod +x</a:t>
            </a:r>
            <a:r>
              <a:rPr lang="en" sz="1100"/>
              <a:t> and run the script.</a:t>
            </a:r>
            <a:endParaRPr sz="11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5 (Verification):</a:t>
            </a:r>
            <a:r>
              <a:rPr lang="en" sz="1100"/>
              <a:t> Inspect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~/output-servera</a:t>
            </a:r>
            <a:r>
              <a:rPr lang="en" sz="1100"/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~/output-serverb</a:t>
            </a:r>
            <a:r>
              <a:rPr lang="en" sz="1100"/>
              <a:t> to verify host names, IP addresses, system architecture,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#####</a:t>
            </a:r>
            <a:r>
              <a:rPr lang="en" sz="1100"/>
              <a:t> separators.</a:t>
            </a:r>
            <a:endParaRPr sz="11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6 (Evaluation):</a:t>
            </a:r>
            <a:r>
              <a:rPr lang="en" sz="1100"/>
              <a:t> Grade your work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grade scripts-review</a:t>
            </a:r>
            <a:r>
              <a:rPr lang="en" sz="1100"/>
              <a:t>. Resolve any issues until successful.</a:t>
            </a:r>
            <a:endParaRPr sz="11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100"/>
              <a:t>Step 7 (Lab Finish):</a:t>
            </a:r>
            <a:r>
              <a:rPr lang="en" sz="1100"/>
              <a:t> Complete the exercise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scripts-review</a:t>
            </a:r>
            <a:r>
              <a:rPr lang="en" sz="1100"/>
              <a:t>.</a:t>
            </a:r>
            <a:endParaRPr b="1" sz="1100"/>
          </a:p>
        </p:txBody>
      </p:sp>
      <p:cxnSp>
        <p:nvCxnSpPr>
          <p:cNvPr id="252" name="Google Shape;252;p33"/>
          <p:cNvCxnSpPr/>
          <p:nvPr/>
        </p:nvCxnSpPr>
        <p:spPr>
          <a:xfrm>
            <a:off x="453150" y="1933250"/>
            <a:ext cx="2264700" cy="0"/>
          </a:xfrm>
          <a:prstGeom prst="straightConnector1">
            <a:avLst/>
          </a:prstGeom>
          <a:noFill/>
          <a:ln cap="flat" cmpd="sng" w="9525">
            <a:solidFill>
              <a:srgbClr val="D4AF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3"/>
          <p:cNvSpPr/>
          <p:nvPr/>
        </p:nvSpPr>
        <p:spPr>
          <a:xfrm>
            <a:off x="3578625" y="2623325"/>
            <a:ext cx="5072400" cy="2282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chmod +x ~/bin/bash-lab.sh &amp;&amp; bash-lab.sh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cat ~/output-servera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servera.lab.example.com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#####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192.168.0.10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#####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x86_64</a:t>
            </a:r>
            <a:endParaRPr sz="110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lab grade scripts-review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 sz="1100">
                <a:solidFill>
                  <a:srgbClr val="A6E22E"/>
                </a:solidFill>
                <a:latin typeface="Roboto Mono"/>
                <a:ea typeface="Roboto Mono"/>
                <a:cs typeface="Roboto Mono"/>
                <a:sym typeface="Roboto Mono"/>
              </a:rPr>
              <a:t>student@workstation:~$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lab finish scripts-review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