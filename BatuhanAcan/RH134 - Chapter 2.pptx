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Saira SemiCondensed SemiBold"/>
      <p:regular r:id="rId21"/>
      <p:bold r:id="rId22"/>
    </p:embeddedFont>
    <p:embeddedFont>
      <p:font typeface="Roboto Mono"/>
      <p:regular r:id="rId23"/>
      <p:bold r:id="rId24"/>
      <p:italic r:id="rId25"/>
      <p:boldItalic r:id="rId26"/>
    </p:embeddedFont>
    <p:embeddedFont>
      <p:font typeface="Merriweather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FBF2E1-A286-4178-85E1-D5AB931E0C82}">
  <a:tblStyle styleId="{B7FBF2E1-A286-4178-85E1-D5AB931E0C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SairaSemiCondensedSemiBold-bold.fntdata"/><Relationship Id="rId21" Type="http://schemas.openxmlformats.org/officeDocument/2006/relationships/font" Target="fonts/SairaSemiCondensedSemiBold-regular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28" Type="http://schemas.openxmlformats.org/officeDocument/2006/relationships/font" Target="fonts/Merriweather-bold.fntdata"/><Relationship Id="rId27" Type="http://schemas.openxmlformats.org/officeDocument/2006/relationships/font" Target="fonts/Merriweath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Merriweather-boldItalic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44b0e0531ed8f134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44b0e0531ed8f134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44b0e0531ed8f134_5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44b0e0531ed8f134_5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44b0e0531ed8f134_5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44b0e0531ed8f134_5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44b0e0531ed8f134_5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44b0e0531ed8f134_5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44b0e0531ed8f134_5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44b0e0531ed8f134_5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44b0e0531ed8f134_5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44b0e0531ed8f134_5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44b0e0531ed8f134_5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44b0e0531ed8f134_5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44b0e0531ed8f134_5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44b0e0531ed8f134_5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44b0e0531ed8f134_5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44b0e0531ed8f134_5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44b0e0531ed8f134_5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h44b0e0531ed8f134_5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 p14:dur="600">
        <p:fade thruBlk="1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4294967295"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Changing </a:t>
            </a:r>
            <a:endParaRPr sz="3000"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the </a:t>
            </a:r>
            <a:endParaRPr sz="3000"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Shell </a:t>
            </a:r>
            <a:endParaRPr sz="3000"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Environment</a:t>
            </a:r>
            <a:endParaRPr sz="4600"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591075" y="500925"/>
            <a:ext cx="52545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Chapter 2: </a:t>
            </a:r>
            <a:endParaRPr b="1" sz="3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Using Regular Expressions for Practical Applications</a:t>
            </a:r>
            <a:endParaRPr b="1" sz="3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7" name="Google Shape;67;p13"/>
          <p:cNvCxnSpPr/>
          <p:nvPr/>
        </p:nvCxnSpPr>
        <p:spPr>
          <a:xfrm>
            <a:off x="3591075" y="2676175"/>
            <a:ext cx="5254500" cy="1530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3"/>
          <p:cNvSpPr txBox="1"/>
          <p:nvPr/>
        </p:nvSpPr>
        <p:spPr>
          <a:xfrm>
            <a:off x="3591075" y="2812575"/>
            <a:ext cx="414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Red Hat System Administration II (RH134)</a:t>
            </a:r>
            <a:endParaRPr sz="24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371675" y="4306725"/>
            <a:ext cx="2172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Batuhan Açan</a:t>
            </a:r>
            <a:endParaRPr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900" y="52675"/>
            <a:ext cx="1463850" cy="8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4490" y="3995627"/>
            <a:ext cx="1486260" cy="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14350" y="713950"/>
            <a:ext cx="2065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Chapter Objectives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8" name="Google Shape;78;p14"/>
          <p:cNvCxnSpPr/>
          <p:nvPr/>
        </p:nvCxnSpPr>
        <p:spPr>
          <a:xfrm>
            <a:off x="514350" y="16582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4"/>
          <p:cNvSpPr txBox="1"/>
          <p:nvPr/>
        </p:nvSpPr>
        <p:spPr>
          <a:xfrm>
            <a:off x="3581950" y="342550"/>
            <a:ext cx="4760100" cy="15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❖"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Main Goal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Efficiently complete system administration tasks using regular expressions to parse and match text.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581950" y="2140400"/>
            <a:ext cx="49344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🔹Key Objectives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Create regular expressions for use command-line utilities(grep, less, vim)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Match specific text patterns in files, program outputs, and shell pipelines.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Differentiate between Basic (BRE) and Extended (ERE) Regular Expression syntax.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14350" y="713950"/>
            <a:ext cx="26232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Literal Matches &amp; Line Anchors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7" name="Google Shape;87;p15"/>
          <p:cNvCxnSpPr/>
          <p:nvPr/>
        </p:nvCxnSpPr>
        <p:spPr>
          <a:xfrm>
            <a:off x="514350" y="16582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5"/>
          <p:cNvSpPr txBox="1"/>
          <p:nvPr/>
        </p:nvSpPr>
        <p:spPr>
          <a:xfrm>
            <a:off x="3787575" y="377075"/>
            <a:ext cx="4870500" cy="22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Open Sans"/>
              <a:buChar char="➔"/>
            </a:pPr>
            <a:r>
              <a:rPr b="1" lang="en" sz="1200"/>
              <a:t>Literal Match:</a:t>
            </a:r>
            <a:r>
              <a:rPr lang="en" sz="1200"/>
              <a:t> Matches the exact sequence of characters anywhere on a line (e.g.,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r>
              <a:rPr lang="en" sz="1200"/>
              <a:t> matches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category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educated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vindication</a:t>
            </a:r>
            <a:r>
              <a:rPr lang="en" sz="1200"/>
              <a:t>).</a:t>
            </a:r>
            <a:endParaRPr sz="12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Open Sans"/>
              <a:buChar char="➔"/>
            </a:pPr>
            <a:r>
              <a:rPr b="1" lang="en" sz="1200"/>
              <a:t>Caret (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^</a:t>
            </a:r>
            <a:r>
              <a:rPr b="1" lang="en" sz="1200"/>
              <a:t>):</a:t>
            </a:r>
            <a:r>
              <a:rPr lang="en" sz="1200"/>
              <a:t> Line-start anchor that restricts matches strictly to the beginning of a line (e.g.,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^cat</a:t>
            </a:r>
            <a:r>
              <a:rPr lang="en" sz="1200"/>
              <a:t>).</a:t>
            </a:r>
            <a:endParaRPr sz="12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Open Sans"/>
              <a:buChar char="➔"/>
            </a:pPr>
            <a:r>
              <a:rPr b="1" lang="en" sz="1200"/>
              <a:t>Dollar Sign (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b="1" lang="en" sz="1200"/>
              <a:t>):</a:t>
            </a:r>
            <a:r>
              <a:rPr lang="en" sz="1200"/>
              <a:t> Line-end anchor that restricts matches strictly to the end of a line (e.g.,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cat$</a:t>
            </a:r>
            <a:r>
              <a:rPr lang="en" sz="1200"/>
              <a:t>).</a:t>
            </a:r>
            <a:endParaRPr sz="12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Open Sans"/>
              <a:buChar char="➔"/>
            </a:pPr>
            <a:r>
              <a:rPr b="1" lang="en" sz="1200"/>
              <a:t>Exact Line Match (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^pattern$</a:t>
            </a:r>
            <a:r>
              <a:rPr b="1" lang="en" sz="1200"/>
              <a:t>):</a:t>
            </a:r>
            <a:r>
              <a:rPr lang="en" sz="1200"/>
              <a:t> Combines both anchors to match lines containing </a:t>
            </a:r>
            <a:r>
              <a:rPr i="1" lang="en" sz="1200"/>
              <a:t>only</a:t>
            </a:r>
            <a:r>
              <a:rPr lang="en" sz="1200"/>
              <a:t> the specified string.</a:t>
            </a:r>
            <a:endParaRPr b="1" sz="1200"/>
          </a:p>
        </p:txBody>
      </p:sp>
      <p:sp>
        <p:nvSpPr>
          <p:cNvPr id="89" name="Google Shape;89;p15"/>
          <p:cNvSpPr/>
          <p:nvPr/>
        </p:nvSpPr>
        <p:spPr>
          <a:xfrm>
            <a:off x="3748275" y="2846300"/>
            <a:ext cx="4949100" cy="17889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8F8F8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grep 'cat' words.txt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cat, category, educated, vindication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grep '^cat' words.txt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at, category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grep 'cat$' words.txt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grep '^cat$' words.txt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endParaRPr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514350" y="713950"/>
            <a:ext cx="2065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BRE vs. ERE &amp; Wildcards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581950" y="421550"/>
            <a:ext cx="51699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Basic Regex (BRE):</a:t>
            </a:r>
            <a:r>
              <a:rPr lang="en" sz="1200"/>
              <a:t> Default in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grep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sed</a:t>
            </a:r>
            <a:r>
              <a:rPr lang="en" sz="1200"/>
              <a:t>,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vim</a:t>
            </a:r>
            <a:r>
              <a:rPr lang="en" sz="1200"/>
              <a:t>. Special metacharacters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|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{}</a:t>
            </a:r>
            <a:r>
              <a:rPr lang="en" sz="1200"/>
              <a:t>) require a escaping backslash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</a:t>
            </a:r>
            <a:r>
              <a:rPr lang="en" sz="1200"/>
              <a:t>) to trigger special behavior.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Extended Regex (ERE):</a:t>
            </a:r>
            <a:r>
              <a:rPr lang="en" sz="1200"/>
              <a:t> Used with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grep -E</a:t>
            </a:r>
            <a:r>
              <a:rPr lang="en" sz="1200"/>
              <a:t> or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less</a:t>
            </a:r>
            <a:r>
              <a:rPr lang="en" sz="1200"/>
              <a:t>. Metacharacters have special meaning by default (backslash removes it).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Wildcard Dot (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1200"/>
              <a:t>):</a:t>
            </a:r>
            <a:r>
              <a:rPr lang="en" sz="1200"/>
              <a:t> Matches any single character on a line (e.g.,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c.t</a:t>
            </a:r>
            <a:r>
              <a:rPr lang="en" sz="1200"/>
              <a:t> matches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cut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c$t</a:t>
            </a:r>
            <a:r>
              <a:rPr lang="en" sz="1200"/>
              <a:t>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Character Sets (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r>
              <a:rPr b="1" lang="en" sz="1200"/>
              <a:t>):</a:t>
            </a:r>
            <a:r>
              <a:rPr lang="en" sz="1200"/>
              <a:t> Matches a single character matching any item inside brackets (e.g.,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c[aou]t</a:t>
            </a:r>
            <a:r>
              <a:rPr lang="en" sz="1200"/>
              <a:t> matches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cot</a:t>
            </a:r>
            <a:r>
              <a:rPr lang="en" sz="1200"/>
              <a:t>, or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cut</a:t>
            </a:r>
            <a:r>
              <a:rPr lang="en" sz="1200"/>
              <a:t>).</a:t>
            </a:r>
            <a:endParaRPr b="1" sz="25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7" name="Google Shape;97;p16"/>
          <p:cNvCxnSpPr/>
          <p:nvPr/>
        </p:nvCxnSpPr>
        <p:spPr>
          <a:xfrm>
            <a:off x="514350" y="16582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6"/>
          <p:cNvSpPr/>
          <p:nvPr/>
        </p:nvSpPr>
        <p:spPr>
          <a:xfrm>
            <a:off x="3748275" y="2846300"/>
            <a:ext cx="4949100" cy="17889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8F8F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>
                <a:solidFill>
                  <a:srgbClr val="F8F8F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grep 'c.t' words.txt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cat, cut, cot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grep 'c[aou]t' words.txt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cat, cut, cot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grep -E 'cat|dog' words.txt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cat, dog</a:t>
            </a:r>
            <a:endParaRPr>
              <a:solidFill>
                <a:srgbClr val="F8F8F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3512250" y="393900"/>
            <a:ext cx="5195400" cy="19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File Filtering:</a:t>
            </a:r>
            <a:r>
              <a:rPr lang="en" sz="1200"/>
              <a:t>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grep 'pattern' filename</a:t>
            </a:r>
            <a:r>
              <a:rPr lang="en" sz="1200"/>
              <a:t> searches for lines matching the pattern within a specified file.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Single Quotes Rule:</a:t>
            </a:r>
            <a:r>
              <a:rPr lang="en" sz="1200"/>
              <a:t> Enclose regular expressions in single quotation marks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 '</a:t>
            </a:r>
            <a:r>
              <a:rPr lang="en" sz="1200"/>
              <a:t>) to prevent the shell from misinterpreting metacharacters (e.g.,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{}</a:t>
            </a:r>
            <a:r>
              <a:rPr lang="en" sz="1200"/>
              <a:t>).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Pipeline Filtering:</a:t>
            </a:r>
            <a:r>
              <a:rPr lang="en" sz="1200"/>
              <a:t> Use the pipe operator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|</a:t>
            </a:r>
            <a:r>
              <a:rPr lang="en" sz="1200"/>
              <a:t>) to send standard output from any command into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grep</a:t>
            </a:r>
            <a:r>
              <a:rPr lang="en" sz="1200"/>
              <a:t> for pattern filtering.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Process Searching:</a:t>
            </a:r>
            <a:r>
              <a:rPr lang="en" sz="1200"/>
              <a:t> Frequently used by administrators to find specific running processes (e.g.,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ps aux | grep process</a:t>
            </a:r>
            <a:r>
              <a:rPr lang="en" sz="1200"/>
              <a:t>).</a:t>
            </a:r>
            <a:endParaRPr b="1" sz="1300"/>
          </a:p>
        </p:txBody>
      </p:sp>
      <p:sp>
        <p:nvSpPr>
          <p:cNvPr id="105" name="Google Shape;105;p17"/>
          <p:cNvSpPr txBox="1"/>
          <p:nvPr/>
        </p:nvSpPr>
        <p:spPr>
          <a:xfrm>
            <a:off x="364650" y="562000"/>
            <a:ext cx="31476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Data Isolation &amp; Pipelines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6" name="Google Shape;106;p17"/>
          <p:cNvCxnSpPr/>
          <p:nvPr/>
        </p:nvCxnSpPr>
        <p:spPr>
          <a:xfrm>
            <a:off x="491925" y="1591000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7"/>
          <p:cNvSpPr/>
          <p:nvPr/>
        </p:nvSpPr>
        <p:spPr>
          <a:xfrm>
            <a:off x="3645925" y="2796625"/>
            <a:ext cx="5083500" cy="18834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grep '^computer' /usr/share/dict/words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computer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computerese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computerize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root@host:~#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ps aux | grep chrony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chrony 915 0.0 0.0 10140 2516 ? S 20:19 0:00 /usr/sbin/chronyd</a:t>
            </a:r>
            <a:endParaRPr sz="12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514350" y="713950"/>
            <a:ext cx="22647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Essential Grep Options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4" name="Google Shape;114;p18"/>
          <p:cNvCxnSpPr/>
          <p:nvPr/>
        </p:nvCxnSpPr>
        <p:spPr>
          <a:xfrm>
            <a:off x="514350" y="16582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8"/>
          <p:cNvSpPr txBox="1"/>
          <p:nvPr/>
        </p:nvSpPr>
        <p:spPr>
          <a:xfrm>
            <a:off x="3601125" y="381000"/>
            <a:ext cx="5173200" cy="19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Case &amp; Inversion:</a:t>
            </a:r>
            <a:r>
              <a:rPr lang="en"/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-i</a:t>
            </a:r>
            <a:r>
              <a:rPr lang="en"/>
              <a:t> (case-insensitive search),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-v</a:t>
            </a:r>
            <a:r>
              <a:rPr lang="en"/>
              <a:t> (invert match to display lines </a:t>
            </a:r>
            <a:r>
              <a:rPr i="1" lang="en"/>
              <a:t>not</a:t>
            </a:r>
            <a:r>
              <a:rPr lang="en"/>
              <a:t> matching the pattern).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Recursion:</a:t>
            </a:r>
            <a:r>
              <a:rPr lang="en"/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-r</a:t>
            </a:r>
            <a:r>
              <a:rPr lang="en"/>
              <a:t> (search recursively through all files in a directory tree).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Context Control:</a:t>
            </a:r>
            <a:r>
              <a:rPr lang="en"/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-A NUM</a:t>
            </a:r>
            <a:r>
              <a:rPr lang="en"/>
              <a:t> (print </a:t>
            </a:r>
            <a:r>
              <a:rPr i="1" lang="en"/>
              <a:t>NUM</a:t>
            </a:r>
            <a:r>
              <a:rPr lang="en"/>
              <a:t> lines </a:t>
            </a:r>
            <a:r>
              <a:rPr i="1" lang="en"/>
              <a:t>after</a:t>
            </a:r>
            <a:r>
              <a:rPr lang="en"/>
              <a:t> match),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-B NUM</a:t>
            </a:r>
            <a:r>
              <a:rPr lang="en"/>
              <a:t> (print </a:t>
            </a:r>
            <a:r>
              <a:rPr i="1" lang="en"/>
              <a:t>NUM</a:t>
            </a:r>
            <a:r>
              <a:rPr lang="en"/>
              <a:t> lines </a:t>
            </a:r>
            <a:r>
              <a:rPr i="1" lang="en"/>
              <a:t>before</a:t>
            </a:r>
            <a:r>
              <a:rPr lang="en"/>
              <a:t> match).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Multiple Patterns &amp; ERE:</a:t>
            </a:r>
            <a:r>
              <a:rPr lang="en"/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-e PATTERN</a:t>
            </a:r>
            <a:r>
              <a:rPr lang="en"/>
              <a:t> (specify multiple search patterns using logical OR),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-E</a:t>
            </a:r>
            <a:r>
              <a:rPr lang="en"/>
              <a:t> (enable Extended Regular Expressions).</a:t>
            </a:r>
            <a:endParaRPr sz="23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3601125" y="2785425"/>
            <a:ext cx="5083500" cy="18834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grep -i 'serverroot' /etc/httpd/conf/httpd.conf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ServerRoot "/etc/httpd"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grep -v -i 'server' /etc/hosts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127.0.0.1 localhost.localdomain localhost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 grep -B 2 'Listen 80' /etc/httpd/conf/httpd.conf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388500" y="658325"/>
            <a:ext cx="28005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Practical Filtering Applications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3" name="Google Shape;123;p19"/>
          <p:cNvCxnSpPr/>
          <p:nvPr/>
        </p:nvCxnSpPr>
        <p:spPr>
          <a:xfrm>
            <a:off x="480975" y="158037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9"/>
          <p:cNvSpPr/>
          <p:nvPr/>
        </p:nvSpPr>
        <p:spPr>
          <a:xfrm>
            <a:off x="3855975" y="2818000"/>
            <a:ext cx="4897200" cy="18834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grep -v '^[#;]' </a:t>
            </a: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/etc/systemd/system/.../rsyslog.service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[Unit]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Description=System Logging Service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ExecStart=/usr/sbin/rsyslogd -n $SYSLOGD_OPTIONS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root@host:~#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grep -e 'pam_unix' -e 'user root' </a:t>
            </a: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/var/log/secure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May 19 19:29:09 host passwd[3108]: pam_unix(passwd:chauthtok)...</a:t>
            </a:r>
            <a:endParaRPr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3808275" y="528600"/>
            <a:ext cx="4992600" cy="18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Stripping Comments (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grep -v '^[#;]'</a:t>
            </a:r>
            <a:r>
              <a:rPr b="1" lang="en" sz="1200"/>
              <a:t>):</a:t>
            </a:r>
            <a:r>
              <a:rPr lang="en" sz="1200"/>
              <a:t> Cleanly view configuration files by excluding lines starting with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</a:t>
            </a:r>
            <a:r>
              <a:rPr lang="en" sz="1200"/>
              <a:t> (general comments) or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en" sz="1200"/>
              <a:t> (commented directives).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Anchors + Sets:</a:t>
            </a:r>
            <a:r>
              <a:rPr lang="en" sz="1200"/>
              <a:t> The pattern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^[#;]</a:t>
            </a:r>
            <a:r>
              <a:rPr lang="en" sz="1200"/>
              <a:t> matches any line whose first character is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</a:t>
            </a:r>
            <a:r>
              <a:rPr lang="en" sz="1200"/>
              <a:t> or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en" sz="1200"/>
              <a:t>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Multi-Pattern Search (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grep -e</a:t>
            </a:r>
            <a:r>
              <a:rPr b="1" lang="en" sz="1200"/>
              <a:t>):</a:t>
            </a:r>
            <a:r>
              <a:rPr lang="en" sz="1200"/>
              <a:t> Supply multiple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-e</a:t>
            </a:r>
            <a:r>
              <a:rPr lang="en" sz="1200"/>
              <a:t> options to search for several patterns simultaneously with a logical OR condition.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Log File Analysis:</a:t>
            </a:r>
            <a:r>
              <a:rPr lang="en" sz="1200"/>
              <a:t> Filter complex security logs (e.g., matching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pam_unix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 root</a:t>
            </a:r>
            <a:r>
              <a:rPr lang="en" sz="1200"/>
              <a:t>,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Accepted publickey</a:t>
            </a:r>
            <a:r>
              <a:rPr lang="en" sz="1200"/>
              <a:t> in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/var/log/secure</a:t>
            </a:r>
            <a:r>
              <a:rPr lang="en" sz="1200"/>
              <a:t>).</a:t>
            </a:r>
            <a:endParaRPr sz="21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310500" y="702850"/>
            <a:ext cx="29565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Interactive Search (less &amp; vim)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2" name="Google Shape;132;p20"/>
          <p:cNvCxnSpPr/>
          <p:nvPr/>
        </p:nvCxnSpPr>
        <p:spPr>
          <a:xfrm>
            <a:off x="469850" y="17080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20"/>
          <p:cNvSpPr txBox="1"/>
          <p:nvPr/>
        </p:nvSpPr>
        <p:spPr>
          <a:xfrm>
            <a:off x="3903675" y="562000"/>
            <a:ext cx="49938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Initiate Search (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b="1" lang="en" sz="1200"/>
              <a:t>):</a:t>
            </a:r>
            <a:r>
              <a:rPr lang="en" sz="1200"/>
              <a:t> Type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200"/>
              <a:t> followed by a regular expression pattern and press Enter to search forward from the current cursor position.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Match Navigation:</a:t>
            </a:r>
            <a:r>
              <a:rPr lang="en" sz="1200"/>
              <a:t> Press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 sz="1200"/>
              <a:t> to jump to the next matching pattern instance, or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 sz="1200"/>
              <a:t> to jump to the previous matching instance.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Regex Pattern Support:</a:t>
            </a:r>
            <a:r>
              <a:rPr lang="en" sz="1200"/>
              <a:t> Both utilities accept full regular expression syntax, such as line anchors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/usb$</a:t>
            </a:r>
            <a:r>
              <a:rPr lang="en" sz="1200"/>
              <a:t>) or bracket character sets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/[Nn][Tt][Pp]</a:t>
            </a:r>
            <a:r>
              <a:rPr lang="en" sz="1200"/>
              <a:t>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Practical Use:</a:t>
            </a:r>
            <a:r>
              <a:rPr lang="en" sz="1200"/>
              <a:t> Allows rapid, targeted navigation through extensive log files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/var/log/messages</a:t>
            </a:r>
            <a:r>
              <a:rPr lang="en" sz="1200"/>
              <a:t>) or system configuration files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/etc/chrony.conf</a:t>
            </a:r>
            <a:r>
              <a:rPr lang="en" sz="1200"/>
              <a:t>).</a:t>
            </a:r>
            <a:endParaRPr sz="21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3903675" y="2959024"/>
            <a:ext cx="4640100" cy="15873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3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sudo less /var/log/messages</a:t>
            </a:r>
            <a:endParaRPr sz="13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/usb$</a:t>
            </a:r>
            <a:endParaRPr sz="13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3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root@host:~#</a:t>
            </a:r>
            <a:r>
              <a:rPr lang="en"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vim /etc/chrony.conf</a:t>
            </a:r>
            <a:endParaRPr sz="13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/[Nn][Tt][Pp]</a:t>
            </a:r>
            <a:endParaRPr sz="15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214950" y="253325"/>
            <a:ext cx="3155700" cy="21939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514350" y="713950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Guided Exercise: Service Search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1" name="Google Shape;141;p21"/>
          <p:cNvCxnSpPr/>
          <p:nvPr/>
        </p:nvCxnSpPr>
        <p:spPr>
          <a:xfrm>
            <a:off x="514350" y="19861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21"/>
          <p:cNvSpPr txBox="1"/>
          <p:nvPr/>
        </p:nvSpPr>
        <p:spPr>
          <a:xfrm>
            <a:off x="3746625" y="330850"/>
            <a:ext cx="5041500" cy="15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Lab Setup:</a:t>
            </a:r>
            <a:r>
              <a:rPr lang="en" sz="1200"/>
              <a:t> Run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 start regexes-regex</a:t>
            </a:r>
            <a:r>
              <a:rPr lang="en" sz="1200"/>
              <a:t> on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workstation</a:t>
            </a:r>
            <a:r>
              <a:rPr lang="en" sz="1200"/>
              <a:t>, SSH to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servera</a:t>
            </a:r>
            <a:r>
              <a:rPr lang="en" sz="1200"/>
              <a:t>, and elevate to root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-i</a:t>
            </a:r>
            <a:r>
              <a:rPr lang="en" sz="1200"/>
              <a:t>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User/Group Search:</a:t>
            </a:r>
            <a:r>
              <a:rPr lang="en" sz="1200"/>
              <a:t> Query multi-file user databases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grep apache /etc/passwd /etc/group</a:t>
            </a:r>
            <a:r>
              <a:rPr lang="en" sz="1200"/>
              <a:t>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Context Lines (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-A</a:t>
            </a:r>
            <a:r>
              <a:rPr b="1" lang="en" sz="1200"/>
              <a:t>, 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-B</a:t>
            </a:r>
            <a:r>
              <a:rPr b="1" lang="en" sz="1200"/>
              <a:t>):</a:t>
            </a:r>
            <a:r>
              <a:rPr lang="en" sz="1200"/>
              <a:t> Pipe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systemctl status httpd</a:t>
            </a:r>
            <a:r>
              <a:rPr lang="en" sz="1200"/>
              <a:t> into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grep Active -B 2 -A 3</a:t>
            </a:r>
            <a:r>
              <a:rPr lang="en" sz="1200"/>
              <a:t> to capture surrounding status context lines.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Case-Insensitive Multi-Pattern (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grep -i -e</a:t>
            </a:r>
            <a:r>
              <a:rPr b="1" lang="en" sz="1200"/>
              <a:t>):</a:t>
            </a:r>
            <a:r>
              <a:rPr lang="en" sz="1200"/>
              <a:t> Search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httpd.conf</a:t>
            </a:r>
            <a:r>
              <a:rPr lang="en" sz="1200"/>
              <a:t> for root directories using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^serverroot</a:t>
            </a:r>
            <a:r>
              <a:rPr lang="en" sz="1200"/>
              <a:t>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^documentroot</a:t>
            </a:r>
            <a:r>
              <a:rPr lang="en" sz="1200"/>
              <a:t>.</a:t>
            </a:r>
            <a:endParaRPr sz="21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155725" y="2702925"/>
            <a:ext cx="4138200" cy="17982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0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[root@servera ~]#</a:t>
            </a: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systemctl status httpd | grep Active -B 2 -A 3</a:t>
            </a:r>
            <a:endParaRPr sz="1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● httpd.service - The Apache HTTP Server</a:t>
            </a:r>
            <a:endParaRPr sz="10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Active: active (running) since Wed 2025-05-28 22:47:18 UTC</a:t>
            </a:r>
            <a:endParaRPr sz="10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0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[root@servera ~]#</a:t>
            </a:r>
            <a:r>
              <a:rPr lang="en" sz="1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grep -i -e ^serverroot -e ^documentroot /etc/httpd/conf/httpd.conf</a:t>
            </a:r>
            <a:endParaRPr sz="1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ServerRoot "/etc/httpd"</a:t>
            </a:r>
            <a:endParaRPr sz="10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DocumentRoot "/var/www/html"</a:t>
            </a:r>
            <a:endParaRPr sz="12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144" name="Google Shape;144;p21"/>
          <p:cNvGraphicFramePr/>
          <p:nvPr/>
        </p:nvGraphicFramePr>
        <p:xfrm>
          <a:off x="4633475" y="2702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{B7FBF2E1-A286-4178-85E1-D5AB931E0C82}</a:tableStyleId>
              </a:tblPr>
              <a:tblGrid>
                <a:gridCol w="1408150"/>
                <a:gridCol w="1408150"/>
                <a:gridCol w="1408150"/>
              </a:tblGrid>
              <a:tr h="28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/>
                        <a:t>Flag / Command</a:t>
                      </a:r>
                      <a:endParaRPr sz="1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Function in Exercise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Output Highlight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8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grep apache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Multi-file database query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Returns UID/GID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1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-B 2 -A 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Display 2 lines before &amp; 3 after match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Service state context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1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-i -e ^pattern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Case-insensitive anchored OR match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ServerRoot &amp; DocumentRoot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214950" y="245700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364650" y="506375"/>
            <a:ext cx="28482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Guided Exercise: Log &amp; Vim Search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1" name="Google Shape;151;p22"/>
          <p:cNvCxnSpPr/>
          <p:nvPr/>
        </p:nvCxnSpPr>
        <p:spPr>
          <a:xfrm>
            <a:off x="480975" y="14464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22"/>
          <p:cNvSpPr txBox="1"/>
          <p:nvPr/>
        </p:nvSpPr>
        <p:spPr>
          <a:xfrm>
            <a:off x="3704350" y="318575"/>
            <a:ext cx="50688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100"/>
              <a:t>Log Redirection:</a:t>
            </a:r>
            <a:r>
              <a:rPr lang="en" sz="1100"/>
              <a:t> Redirect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grep httpd /var/log/messages</a:t>
            </a:r>
            <a:r>
              <a:rPr lang="en" sz="1100"/>
              <a:t>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/tmp/httpd.log</a:t>
            </a:r>
            <a:r>
              <a:rPr lang="en" sz="1100"/>
              <a:t> for inspection.</a:t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100"/>
              <a:t>Process Verification:</a:t>
            </a:r>
            <a:r>
              <a:rPr lang="en" sz="1100"/>
              <a:t> Filter live running processes using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ps ax | grep httpd</a:t>
            </a:r>
            <a:r>
              <a:rPr lang="en" sz="1100"/>
              <a:t>.</a:t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100"/>
              <a:t>Interactive Vim Regex:</a:t>
            </a:r>
            <a:r>
              <a:rPr lang="en" sz="1100"/>
              <a:t> Open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/etc/httpd/conf/httpd.conf</a:t>
            </a:r>
            <a:r>
              <a:rPr lang="en" sz="1100"/>
              <a:t> in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vim</a:t>
            </a:r>
            <a:r>
              <a:rPr lang="en" sz="1100"/>
              <a:t> and jump directly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ServerAdmin</a:t>
            </a:r>
            <a:r>
              <a:rPr lang="en" sz="1100"/>
              <a:t> using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/^ServerAdmin</a:t>
            </a:r>
            <a:r>
              <a:rPr lang="en" sz="1100"/>
              <a:t>.</a:t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100"/>
              <a:t>Lab Cleanup:</a:t>
            </a:r>
            <a:r>
              <a:rPr lang="en" sz="1100"/>
              <a:t> Exit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servera</a:t>
            </a:r>
            <a:r>
              <a:rPr lang="en" sz="1100"/>
              <a:t> and run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 finish regexes-regex</a:t>
            </a:r>
            <a:r>
              <a:rPr lang="en" sz="1100"/>
              <a:t> on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workstation</a:t>
            </a:r>
            <a:r>
              <a:rPr lang="en" sz="1100"/>
              <a:t>.</a:t>
            </a:r>
            <a:endParaRPr sz="1300"/>
          </a:p>
        </p:txBody>
      </p:sp>
      <p:sp>
        <p:nvSpPr>
          <p:cNvPr id="153" name="Google Shape;153;p22"/>
          <p:cNvSpPr/>
          <p:nvPr/>
        </p:nvSpPr>
        <p:spPr>
          <a:xfrm>
            <a:off x="3704350" y="3148125"/>
            <a:ext cx="4738800" cy="14766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9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[root@servera ~]#</a:t>
            </a: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grep httpd /var/log/messages &gt; /tmp/httpd.log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9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[root@servera ~]#</a:t>
            </a: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ps ax | grep httpd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1842 ? Ss 0:00 /usr/sbin/httpd -DFOREGROUND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9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[root@servera ~]#</a:t>
            </a: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vim /etc/httpd/conf/httpd.conf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/^ServerAdmin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9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[root@servera ~]#</a:t>
            </a: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exit &amp;&amp; exit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9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student@workstation:~$</a:t>
            </a: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lab finish regexes-regex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3815600" y="2174701"/>
            <a:ext cx="2183700" cy="7941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190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Log Target</a:t>
            </a:r>
            <a:endParaRPr b="1" sz="12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/tmp/httpd.log</a:t>
            </a:r>
            <a:endParaRPr sz="13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6229850" y="2174701"/>
            <a:ext cx="2183700" cy="7941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190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Vim Anchor Search</a:t>
            </a:r>
            <a:endParaRPr b="1" sz="12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/^ServerAdmin</a:t>
            </a:r>
            <a:endParaRPr b="1" sz="13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