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Saira SemiCondensed SemiBold"/>
      <p:regular r:id="rId24"/>
      <p:bold r:id="rId25"/>
    </p:embeddedFont>
    <p:embeddedFont>
      <p:font typeface="Roboto Mono"/>
      <p:regular r:id="rId26"/>
      <p:bold r:id="rId27"/>
      <p:italic r:id="rId28"/>
      <p:boldItalic r:id="rId29"/>
    </p:embeddedFont>
    <p:embeddedFont>
      <p:font typeface="Merriweather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F006F0-CE1C-4913-ACCE-7B3EBBF65CEF}">
  <a:tblStyle styleId="{C1F006F0-CE1C-4913-ACCE-7B3EBBF65C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SairaSemiCondensedSemiBold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regular.fntdata"/><Relationship Id="rId25" Type="http://schemas.openxmlformats.org/officeDocument/2006/relationships/font" Target="fonts/SairaSemiCondensedSemiBold-bold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bold.fntdata"/><Relationship Id="rId30" Type="http://schemas.openxmlformats.org/officeDocument/2006/relationships/font" Target="fonts/Merriweather-regular.fntdata"/><Relationship Id="rId11" Type="http://schemas.openxmlformats.org/officeDocument/2006/relationships/slide" Target="slides/slide5.xml"/><Relationship Id="rId33" Type="http://schemas.openxmlformats.org/officeDocument/2006/relationships/font" Target="fonts/Merriweather-bold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-italic.fntdata"/><Relationship Id="rId13" Type="http://schemas.openxmlformats.org/officeDocument/2006/relationships/slide" Target="slides/slide7.xml"/><Relationship Id="rId35" Type="http://schemas.openxmlformats.org/officeDocument/2006/relationships/font" Target="fonts/OpenSans-bold.fntdata"/><Relationship Id="rId12" Type="http://schemas.openxmlformats.org/officeDocument/2006/relationships/slide" Target="slides/slide6.xml"/><Relationship Id="rId34" Type="http://schemas.openxmlformats.org/officeDocument/2006/relationships/font" Target="fonts/OpenSans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8.xml"/><Relationship Id="rId36" Type="http://schemas.openxmlformats.org/officeDocument/2006/relationships/font" Target="fonts/Open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44b0e0531ed8f134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44b0e0531ed8f134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44b0e0531ed8f134_5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44b0e0531ed8f134_5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44b0e0531ed8f134_5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44b0e0531ed8f134_5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44b0e0531ed8f134_5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44b0e0531ed8f134_5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44b0e0531ed8f134_5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44b0e0531ed8f134_5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44b0e0531ed8f134_5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44b0e0531ed8f134_5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44b0e0531ed8f134_5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44b0e0531ed8f134_5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44b0e0531ed8f134_5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44b0e0531ed8f134_5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44b0e0531ed8f134_5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44b0e0531ed8f134_5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44b0e0531ed8f134_5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44b0e0531ed8f134_5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5e95c3da612c7a1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5e95c3da612c7a1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5e95c3da612c7a1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5e95c3da612c7a1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5e95c3da612c7a1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5e95c3da612c7a1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 p14:dur="600">
        <p:fade thruBlk="1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4294967295"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Changing </a:t>
            </a:r>
            <a:endParaRPr sz="3000"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the </a:t>
            </a:r>
            <a:endParaRPr sz="3000"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Shell </a:t>
            </a:r>
            <a:endParaRPr sz="3000"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Environment</a:t>
            </a:r>
            <a:endParaRPr sz="4600"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591075" y="1336775"/>
            <a:ext cx="4776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Chapter </a:t>
            </a:r>
            <a:r>
              <a:rPr b="1" lang="en" sz="3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3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: Scheduling</a:t>
            </a:r>
            <a:endParaRPr b="1" sz="3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User </a:t>
            </a:r>
            <a:r>
              <a:rPr b="1" lang="en" sz="3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Tasks</a:t>
            </a:r>
            <a:endParaRPr b="1" sz="3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7" name="Google Shape;67;p13"/>
          <p:cNvCxnSpPr/>
          <p:nvPr/>
        </p:nvCxnSpPr>
        <p:spPr>
          <a:xfrm>
            <a:off x="3591075" y="2676175"/>
            <a:ext cx="5254500" cy="1530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3"/>
          <p:cNvSpPr txBox="1"/>
          <p:nvPr/>
        </p:nvSpPr>
        <p:spPr>
          <a:xfrm>
            <a:off x="3591075" y="2812575"/>
            <a:ext cx="511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Red Hat System Administration II (RH134)</a:t>
            </a:r>
            <a:endParaRPr sz="24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371675" y="4306725"/>
            <a:ext cx="2172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Batuhan Açan</a:t>
            </a:r>
            <a:endParaRPr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900" y="52675"/>
            <a:ext cx="1463850" cy="8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4490" y="3995627"/>
            <a:ext cx="1486260" cy="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14350" y="713950"/>
            <a:ext cx="2065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Chapter Objectives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8" name="Google Shape;78;p14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4"/>
          <p:cNvSpPr txBox="1"/>
          <p:nvPr/>
        </p:nvSpPr>
        <p:spPr>
          <a:xfrm>
            <a:off x="3589050" y="459875"/>
            <a:ext cx="5230800" cy="22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r>
              <a:rPr lang="en"/>
              <a:t> </a:t>
            </a:r>
            <a:r>
              <a:rPr lang="en"/>
              <a:t>Schedule programs to run automatically in the future, either as one-time deferred executions or recurring jobs.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Core Competencies: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Execute one-time deferred tasks using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</a:t>
            </a:r>
            <a:r>
              <a:rPr lang="en"/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atd</a:t>
            </a:r>
            <a:r>
              <a:rPr lang="en"/>
              <a:t>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Inspect, review, and remove pending deferred jobs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atq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 -c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atrm</a:t>
            </a:r>
            <a:r>
              <a:rPr lang="en"/>
              <a:t>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Configure recurring user tasks with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crontab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0" name="Google Shape;80;p14"/>
          <p:cNvGraphicFramePr/>
          <p:nvPr/>
        </p:nvGraphicFramePr>
        <p:xfrm>
          <a:off x="3818363" y="289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{C1F006F0-CE1C-4913-ACCE-7B3EBBF65CEF}</a:tableStyleId>
              </a:tblPr>
              <a:tblGrid>
                <a:gridCol w="1590725"/>
                <a:gridCol w="1590725"/>
                <a:gridCol w="1590725"/>
              </a:tblGrid>
              <a:tr h="54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Task Type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Core Daemon / Utility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Typical Use Cases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4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Deferred (One-Time)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atd</a:t>
                      </a:r>
                      <a:r>
                        <a:rPr lang="en" sz="900"/>
                        <a:t> / </a:t>
                      </a:r>
                      <a:r>
                        <a:rPr lang="en" sz="9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Midnight maintenance, safety rollback timers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4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Recurring (Scheduled)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crond</a:t>
                      </a:r>
                      <a:r>
                        <a:rPr lang="en" sz="900"/>
                        <a:t> / </a:t>
                      </a:r>
                      <a:r>
                        <a:rPr lang="en" sz="9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crontab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Daily backups, hourly log cleanups, system reports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14350" y="713950"/>
            <a:ext cx="2623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Deferred User Tasks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7" name="Google Shape;87;p15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5"/>
          <p:cNvSpPr txBox="1"/>
          <p:nvPr/>
        </p:nvSpPr>
        <p:spPr>
          <a:xfrm>
            <a:off x="3787575" y="377075"/>
            <a:ext cx="4870500" cy="22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b="1" lang="en" sz="1200"/>
              <a:t>Deferred Concept:</a:t>
            </a:r>
            <a:r>
              <a:rPr lang="en" sz="1200"/>
              <a:t> Scheduled commands (tasks/jobs) configured to run once at a designated future time (e.g., late-night maintenance or safety firewall rollbacks).</a:t>
            </a:r>
            <a:endParaRPr sz="12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b="1" lang="en" sz="1200"/>
              <a:t>The 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atd</a:t>
            </a:r>
            <a:r>
              <a:rPr b="1" lang="en" sz="1200"/>
              <a:t> Daemon:</a:t>
            </a:r>
            <a:r>
              <a:rPr lang="en" sz="1200"/>
              <a:t> Background service installed and enabled by default in RHEL to handle execution queues.</a:t>
            </a:r>
            <a:endParaRPr sz="12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b="1" lang="en" sz="1200"/>
              <a:t>Queue Structures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a-z</a:t>
            </a:r>
            <a:r>
              <a:rPr b="1" lang="en" sz="1200"/>
              <a:t>, 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A-Z</a:t>
            </a:r>
            <a:r>
              <a:rPr b="1" lang="en" sz="1200"/>
              <a:t>):</a:t>
            </a:r>
            <a:r>
              <a:rPr lang="en" sz="1200"/>
              <a:t> Supports queues named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" sz="1200"/>
              <a:t> through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</a:t>
            </a:r>
            <a:r>
              <a:rPr lang="en" sz="1200"/>
              <a:t>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" sz="1200"/>
              <a:t> through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</a:t>
            </a:r>
            <a:r>
              <a:rPr lang="en" sz="1200"/>
              <a:t>. Default queue is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" sz="1200"/>
              <a:t>.</a:t>
            </a:r>
            <a:endParaRPr sz="12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b="1" lang="en" sz="1200"/>
              <a:t>Queue Priority:</a:t>
            </a:r>
            <a:r>
              <a:rPr lang="en" sz="1200"/>
              <a:t> Alphabetically higher letters execute with higher process priorities.</a:t>
            </a:r>
            <a:endParaRPr b="1" sz="1300"/>
          </a:p>
        </p:txBody>
      </p:sp>
      <p:sp>
        <p:nvSpPr>
          <p:cNvPr id="89" name="Google Shape;89;p15"/>
          <p:cNvSpPr/>
          <p:nvPr/>
        </p:nvSpPr>
        <p:spPr>
          <a:xfrm>
            <a:off x="3748275" y="2846300"/>
            <a:ext cx="4949100" cy="17889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systemctl status atd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● atd.service - Deferred execution scheduler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Loaded: loaded (/usr/lib/systemd/system/atd.service; enabled; preset: enabled)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Active: active (running) since Wed 2025-05-14 10:00:00 UTC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214950" y="253325"/>
            <a:ext cx="3147900" cy="26760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514350" y="713950"/>
            <a:ext cx="2065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Scheduling with “at”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581950" y="421550"/>
            <a:ext cx="5228700" cy="13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100"/>
              <a:t>Input Streams:</a:t>
            </a:r>
            <a:r>
              <a:rPr lang="en" sz="1100"/>
              <a:t> Reads commands from standard input (keyboard ended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Ctrl+D</a:t>
            </a:r>
            <a:r>
              <a:rPr lang="en" sz="1100"/>
              <a:t>) or script file redirection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 TIMESPEC &lt; script</a:t>
            </a:r>
            <a:r>
              <a:rPr lang="en" sz="1100"/>
              <a:t>).</a:t>
            </a:r>
            <a:endParaRPr sz="11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100"/>
              <a:t>Time vs. Date Evaluation:</a:t>
            </a:r>
            <a:r>
              <a:rPr lang="en" sz="1100"/>
              <a:t> Expects time first, date second. Omitting date assumes today (or tomorrow if the specified time has already passed).</a:t>
            </a:r>
            <a:endParaRPr sz="11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100"/>
              <a:t>Case Sensitivity:</a:t>
            </a:r>
            <a:r>
              <a:rPr lang="en" sz="1100"/>
              <a:t> Accepts lowercase, sentence case, or uppercase specifications.</a:t>
            </a:r>
            <a:endParaRPr b="1" sz="1200"/>
          </a:p>
        </p:txBody>
      </p:sp>
      <p:cxnSp>
        <p:nvCxnSpPr>
          <p:cNvPr id="97" name="Google Shape;97;p16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6"/>
          <p:cNvSpPr/>
          <p:nvPr/>
        </p:nvSpPr>
        <p:spPr>
          <a:xfrm>
            <a:off x="214950" y="3239100"/>
            <a:ext cx="3147900" cy="11745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0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at now +5min &lt; myfile</a:t>
            </a:r>
            <a:endParaRPr sz="1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warning: commands will be executed using /bin/sh</a:t>
            </a:r>
            <a:endParaRPr sz="1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job 2 at Wed May 14 20:40:00 2025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99" name="Google Shape;99;p16"/>
          <p:cNvGraphicFramePr/>
          <p:nvPr/>
        </p:nvGraphicFramePr>
        <p:xfrm>
          <a:off x="3737563" y="206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{C1F006F0-CE1C-4913-ACCE-7B3EBBF65CEF}</a:tableStyleId>
              </a:tblPr>
              <a:tblGrid>
                <a:gridCol w="1691025"/>
                <a:gridCol w="1691025"/>
                <a:gridCol w="1691025"/>
              </a:tblGrid>
              <a:tr h="32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Expression 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Syntax Example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Schedule Behavior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440"/>
                    </a:solidFill>
                  </a:tcPr>
                </a:tc>
              </a:tr>
              <a:tr h="506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800"/>
                        <a:t>Relative Offset</a:t>
                      </a:r>
                      <a:endParaRPr b="1" sz="800"/>
                    </a:p>
                  </a:txBody>
                  <a:tcPr marT="76200" marB="76200" marR="114300" marL="114300">
                    <a:lnL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>
                          <a:solidFill>
                            <a:srgbClr val="188038"/>
                          </a:solidFill>
                        </a:rPr>
                        <a:t>now +5min</a:t>
                      </a:r>
                      <a:endParaRPr sz="1000">
                        <a:solidFill>
                          <a:srgbClr val="188038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/>
                        <a:t>Runs 5 minutes from command execution</a:t>
                      </a:r>
                      <a:endParaRPr sz="1100"/>
                    </a:p>
                  </a:txBody>
                  <a:tcPr marT="76200" marB="76200" marR="114300" marL="114300">
                    <a:lnL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800"/>
                        <a:t>Named Times</a:t>
                      </a:r>
                      <a:endParaRPr b="1" sz="800"/>
                    </a:p>
                  </a:txBody>
                  <a:tcPr marT="76200" marB="76200" marR="114300" marL="114300">
                    <a:lnL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>
                          <a:solidFill>
                            <a:srgbClr val="188038"/>
                          </a:solidFill>
                        </a:rPr>
                        <a:t>teatime tomorrow</a:t>
                      </a:r>
                      <a:endParaRPr sz="1000">
                        <a:solidFill>
                          <a:srgbClr val="188038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/>
                        <a:t>Runs at 16:00 (4:00 PM) the following day</a:t>
                      </a:r>
                      <a:endParaRPr sz="1100"/>
                    </a:p>
                  </a:txBody>
                  <a:tcPr marT="76200" marB="76200" marR="114300" marL="114300">
                    <a:lnL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800"/>
                        <a:t>Day Offsets</a:t>
                      </a:r>
                      <a:endParaRPr b="1" sz="800"/>
                    </a:p>
                  </a:txBody>
                  <a:tcPr marT="76200" marB="76200" marR="114300" marL="114300">
                    <a:lnL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>
                          <a:solidFill>
                            <a:srgbClr val="188038"/>
                          </a:solidFill>
                        </a:rPr>
                        <a:t>noon +4 days</a:t>
                      </a:r>
                      <a:endParaRPr sz="1000">
                        <a:solidFill>
                          <a:srgbClr val="188038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/>
                        <a:t>Runs at 12:00 PM 4 days in the future</a:t>
                      </a:r>
                      <a:endParaRPr sz="1100"/>
                    </a:p>
                  </a:txBody>
                  <a:tcPr marT="76200" marB="76200" marR="114300" marL="114300">
                    <a:lnL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800"/>
                        <a:t>Explicit Date</a:t>
                      </a:r>
                      <a:endParaRPr b="1" sz="800"/>
                    </a:p>
                  </a:txBody>
                  <a:tcPr marT="76200" marB="76200" marR="114300" marL="114300">
                    <a:lnL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>
                          <a:solidFill>
                            <a:srgbClr val="188038"/>
                          </a:solidFill>
                        </a:rPr>
                        <a:t>5pm august 3 2025</a:t>
                      </a:r>
                      <a:endParaRPr sz="1000">
                        <a:solidFill>
                          <a:srgbClr val="188038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/>
                        <a:t>Runs at 17:00 on the exact specified date</a:t>
                      </a:r>
                      <a:endParaRPr sz="1100"/>
                    </a:p>
                  </a:txBody>
                  <a:tcPr marT="76200" marB="76200" marR="114300" marL="114300">
                    <a:lnL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214950" y="253325"/>
            <a:ext cx="3147600" cy="16257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140100" y="2249725"/>
            <a:ext cx="3297300" cy="24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000"/>
              <a:t>List Pending Jobs (</a:t>
            </a:r>
            <a:r>
              <a:rPr b="1"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atq</a:t>
            </a:r>
            <a:r>
              <a:rPr b="1" lang="en" sz="1000"/>
              <a:t> / </a:t>
            </a:r>
            <a:r>
              <a:rPr b="1"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 -l</a:t>
            </a:r>
            <a:r>
              <a:rPr b="1" lang="en" sz="1000"/>
              <a:t>):</a:t>
            </a:r>
            <a:r>
              <a:rPr lang="en" sz="1000"/>
              <a:t> Displays job ID, execution date/time, queue designation, and owner username.</a:t>
            </a:r>
            <a:endParaRPr sz="10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000"/>
              <a:t>User Permissions:</a:t>
            </a:r>
            <a:r>
              <a:rPr lang="en" sz="1000"/>
              <a:t> Unprivileged users view and delete only their own jobs;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root</a:t>
            </a:r>
            <a:r>
              <a:rPr lang="en" sz="1000"/>
              <a:t> can manage all user queues.</a:t>
            </a:r>
            <a:endParaRPr sz="10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000"/>
              <a:t>Inspect Job Content (</a:t>
            </a:r>
            <a:r>
              <a:rPr b="1"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 -c</a:t>
            </a:r>
            <a:r>
              <a:rPr b="1" lang="en" sz="1000"/>
              <a:t>):</a:t>
            </a:r>
            <a:r>
              <a:rPr lang="en" sz="1000"/>
              <a:t> Exports and views the captured environment variables and exact command strings for a job number.</a:t>
            </a:r>
            <a:endParaRPr sz="10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000"/>
              <a:t>Remove Scheduled Jobs (</a:t>
            </a:r>
            <a:r>
              <a:rPr b="1"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atrm</a:t>
            </a:r>
            <a:r>
              <a:rPr b="1" lang="en" sz="1000"/>
              <a:t>):</a:t>
            </a:r>
            <a:r>
              <a:rPr lang="en" sz="1000"/>
              <a:t> Deletes a queued job by job number (e.g., cancelling a safety rollback).</a:t>
            </a:r>
            <a:endParaRPr b="1" sz="1100"/>
          </a:p>
        </p:txBody>
      </p:sp>
      <p:sp>
        <p:nvSpPr>
          <p:cNvPr id="106" name="Google Shape;106;p17"/>
          <p:cNvSpPr txBox="1"/>
          <p:nvPr/>
        </p:nvSpPr>
        <p:spPr>
          <a:xfrm>
            <a:off x="364650" y="562000"/>
            <a:ext cx="31476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Job Queue Management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>
            <a:off x="491925" y="1591000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7"/>
          <p:cNvSpPr/>
          <p:nvPr/>
        </p:nvSpPr>
        <p:spPr>
          <a:xfrm>
            <a:off x="3788300" y="3214225"/>
            <a:ext cx="4823100" cy="13590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atq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28 Mon May 19 05:13:00 2025 a user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29 Tue May 20 16:00:00 2025 h user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atrm 29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109" name="Google Shape;109;p17"/>
          <p:cNvGraphicFramePr/>
          <p:nvPr/>
        </p:nvGraphicFramePr>
        <p:xfrm>
          <a:off x="3661913" y="39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{C1F006F0-CE1C-4913-ACCE-7B3EBBF65CEF}</a:tableStyleId>
              </a:tblPr>
              <a:tblGrid>
                <a:gridCol w="1691950"/>
                <a:gridCol w="1691950"/>
                <a:gridCol w="1691950"/>
              </a:tblGrid>
              <a:tr h="41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8F8F8"/>
                          </a:solidFill>
                        </a:rPr>
                        <a:t>Utility Command</a:t>
                      </a:r>
                      <a:endParaRPr sz="1500">
                        <a:solidFill>
                          <a:srgbClr val="F8F8F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B3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8F8F8"/>
                          </a:solidFill>
                        </a:rPr>
                        <a:t>Argument</a:t>
                      </a:r>
                      <a:endParaRPr sz="1500">
                        <a:solidFill>
                          <a:srgbClr val="F8F8F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B3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8F8F8"/>
                          </a:solidFill>
                        </a:rPr>
                        <a:t>Action</a:t>
                      </a:r>
                      <a:r>
                        <a:rPr lang="en" sz="1500">
                          <a:solidFill>
                            <a:srgbClr val="F8F8F8"/>
                          </a:solidFill>
                        </a:rPr>
                        <a:t> Description</a:t>
                      </a:r>
                      <a:endParaRPr sz="1500">
                        <a:solidFill>
                          <a:srgbClr val="F8F8F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B3440"/>
                    </a:solidFill>
                  </a:tcPr>
                </a:tc>
              </a:tr>
              <a:tr h="55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atq</a:t>
                      </a:r>
                      <a:r>
                        <a:rPr lang="en" sz="1300"/>
                        <a:t> </a:t>
                      </a:r>
                      <a:r>
                        <a:rPr i="1" lang="en" sz="1300"/>
                        <a:t>(or </a:t>
                      </a:r>
                      <a:r>
                        <a:rPr i="1"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at -l</a:t>
                      </a:r>
                      <a:r>
                        <a:rPr i="1" lang="en" sz="1300"/>
                        <a:t>)</a:t>
                      </a:r>
                      <a:endParaRPr sz="16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None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List queued pending jobs for current user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  <a:tr h="73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at -c</a:t>
                      </a:r>
                      <a:endParaRPr sz="1600"/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JOBNUMBER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Output environment settings &amp; script code of job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  <a:tr h="55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atrm</a:t>
                      </a:r>
                      <a:endParaRPr sz="1600"/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JOBNUMBER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Remove specified job from execution queue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514350" y="713950"/>
            <a:ext cx="26526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Guided Exercise: Deferred Jobs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6" name="Google Shape;116;p18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8"/>
          <p:cNvSpPr txBox="1"/>
          <p:nvPr/>
        </p:nvSpPr>
        <p:spPr>
          <a:xfrm>
            <a:off x="3601125" y="381000"/>
            <a:ext cx="5173200" cy="22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200"/>
              <a:t>Lab Initialization:</a:t>
            </a:r>
            <a:r>
              <a:rPr lang="en" sz="1200"/>
              <a:t> Run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 start scheduling-at</a:t>
            </a:r>
            <a:r>
              <a:rPr lang="en" sz="1200"/>
              <a:t> on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workstation</a:t>
            </a:r>
            <a:r>
              <a:rPr lang="en" sz="1200"/>
              <a:t> and SSH into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servera</a:t>
            </a:r>
            <a:r>
              <a:rPr lang="en" sz="1200"/>
              <a:t>.</a:t>
            </a:r>
            <a:endParaRPr sz="12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200"/>
              <a:t>Non-Interactive Submission:</a:t>
            </a:r>
            <a:r>
              <a:rPr lang="en" sz="1200"/>
              <a:t> Pipe command strings into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</a:t>
            </a:r>
            <a:r>
              <a:rPr lang="en" sz="1200"/>
              <a:t> using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echo</a:t>
            </a:r>
            <a:r>
              <a:rPr lang="en" sz="1200"/>
              <a:t>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echo "date &gt;&gt; ~/myjob.txt" | at now +2min</a:t>
            </a:r>
            <a:r>
              <a:rPr lang="en" sz="1200"/>
              <a:t>).</a:t>
            </a:r>
            <a:endParaRPr sz="12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200"/>
              <a:t>Real-Time Queue Monitoring:</a:t>
            </a:r>
            <a:r>
              <a:rPr lang="en" sz="1200"/>
              <a:t> Use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watch atq</a:t>
            </a:r>
            <a:r>
              <a:rPr lang="en" sz="1200"/>
              <a:t> to observe job status until execution and automatic queue removal.</a:t>
            </a:r>
            <a:endParaRPr sz="12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200"/>
              <a:t>Output Verification:</a:t>
            </a:r>
            <a:r>
              <a:rPr lang="en" sz="1200"/>
              <a:t> Inspect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~/myjob.txt</a:t>
            </a:r>
            <a:r>
              <a:rPr lang="en" sz="1200"/>
              <a:t> using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en" sz="1200"/>
              <a:t> to confirm execution timestamp.</a:t>
            </a:r>
            <a:endParaRPr b="1" sz="1500"/>
          </a:p>
        </p:txBody>
      </p:sp>
      <p:sp>
        <p:nvSpPr>
          <p:cNvPr id="118" name="Google Shape;118;p18"/>
          <p:cNvSpPr/>
          <p:nvPr/>
        </p:nvSpPr>
        <p:spPr>
          <a:xfrm>
            <a:off x="3582975" y="2571750"/>
            <a:ext cx="5209500" cy="20970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lab start scheduling-at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ssh student@servera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[student@servera ~]$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echo "date &gt;&gt; /home/student/myjob.txt" | at now +2min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job 1 at Wed May 28 18:05:00 2025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[student@servera ~]$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watch atq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Every 2.0s: atq servera: Wed May 28 18:04:42 2025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1 Wed May 28 18:05:00 2025 a student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[student@servera ~]$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cat myjob.txt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Wed May 28 18:05:00 UTC 2025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286175" y="582000"/>
            <a:ext cx="33348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Guided Exercise: Queue Management</a:t>
            </a:r>
            <a:endParaRPr b="1" sz="22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5" name="Google Shape;125;p19"/>
          <p:cNvCxnSpPr/>
          <p:nvPr/>
        </p:nvCxnSpPr>
        <p:spPr>
          <a:xfrm>
            <a:off x="418650" y="150917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9"/>
          <p:cNvSpPr/>
          <p:nvPr/>
        </p:nvSpPr>
        <p:spPr>
          <a:xfrm>
            <a:off x="3855975" y="2818000"/>
            <a:ext cx="4897200" cy="18834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[student@servera ~]$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at -q g teatime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at&gt; echo "It's teatime" &gt;&gt; /home/student/tea.txt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at&gt; &lt;EOT&gt; (Ctrl+D)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[student@servera ~]$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atq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2 Thu May 29 16:00:00 2025 g student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3 Thu May 29 16:05:00 2025 b student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[student@servera ~]$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atrm 2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[student@servera ~]$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exit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lab finish scheduling-at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3808275" y="528600"/>
            <a:ext cx="4992600" cy="18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200"/>
              <a:t>Custom Queues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 -q</a:t>
            </a:r>
            <a:r>
              <a:rPr b="1" lang="en" sz="1200"/>
              <a:t>):</a:t>
            </a:r>
            <a:r>
              <a:rPr lang="en" sz="1200"/>
              <a:t> Schedule jobs in specific queue identifiers (e.g.,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 -q g teatime</a:t>
            </a:r>
            <a:r>
              <a:rPr lang="en" sz="1200"/>
              <a:t>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 -q b 16:05</a:t>
            </a:r>
            <a:r>
              <a:rPr lang="en" sz="1200"/>
              <a:t>).</a:t>
            </a:r>
            <a:endParaRPr sz="12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200"/>
              <a:t>Interactive Input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Ctrl+D</a:t>
            </a:r>
            <a:r>
              <a:rPr b="1" lang="en" sz="1200"/>
              <a:t>):</a:t>
            </a:r>
            <a:r>
              <a:rPr lang="en" sz="1200"/>
              <a:t> Enter job statements line-by-line at the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at&gt;</a:t>
            </a:r>
            <a:r>
              <a:rPr lang="en" sz="1200"/>
              <a:t> prompt and submit using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Ctrl+D</a:t>
            </a:r>
            <a:r>
              <a:rPr lang="en" sz="1200"/>
              <a:t>.</a:t>
            </a:r>
            <a:endParaRPr sz="12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200"/>
              <a:t>Inspect Script Wrappers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 -c</a:t>
            </a:r>
            <a:r>
              <a:rPr b="1" lang="en" sz="1200"/>
              <a:t>):</a:t>
            </a:r>
            <a:r>
              <a:rPr lang="en" sz="1200"/>
              <a:t> View captured environment variables and target commands embedded inside pending jobs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 -c 2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 -c 3</a:t>
            </a:r>
            <a:r>
              <a:rPr lang="en" sz="1200"/>
              <a:t>).</a:t>
            </a:r>
            <a:endParaRPr sz="12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200"/>
              <a:t>Remove &amp; Finish:</a:t>
            </a:r>
            <a:r>
              <a:rPr lang="en" sz="1200"/>
              <a:t> Cancel pending jobs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atrm 2</a:t>
            </a:r>
            <a:r>
              <a:rPr lang="en" sz="1200"/>
              <a:t>), verify queue status with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atq</a:t>
            </a:r>
            <a:r>
              <a:rPr lang="en" sz="1200"/>
              <a:t>, exit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servera</a:t>
            </a:r>
            <a:r>
              <a:rPr lang="en" sz="1200"/>
              <a:t>, and run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 finish scheduling-at</a:t>
            </a:r>
            <a:r>
              <a:rPr lang="en" sz="1200"/>
              <a:t>.</a:t>
            </a:r>
            <a:endParaRPr b="1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310500" y="702850"/>
            <a:ext cx="29565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Recurring User Jobs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4" name="Google Shape;134;p20"/>
          <p:cNvCxnSpPr/>
          <p:nvPr/>
        </p:nvCxnSpPr>
        <p:spPr>
          <a:xfrm>
            <a:off x="469850" y="17080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20"/>
          <p:cNvSpPr txBox="1"/>
          <p:nvPr/>
        </p:nvSpPr>
        <p:spPr>
          <a:xfrm>
            <a:off x="3499325" y="443050"/>
            <a:ext cx="4965600" cy="1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200"/>
              <a:t>Recurring Execution:</a:t>
            </a:r>
            <a:r>
              <a:rPr lang="en" sz="1200"/>
              <a:t> Runs commands repeatedly on a defined schedule (handled by the default active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crond</a:t>
            </a:r>
            <a:r>
              <a:rPr lang="en" sz="1200"/>
              <a:t> daemon).</a:t>
            </a:r>
            <a:endParaRPr sz="12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200"/>
              <a:t>User Crontab Files:</a:t>
            </a:r>
            <a:r>
              <a:rPr lang="en" sz="1200"/>
              <a:t> Each user maintains an individual crontab configuration edited exclusively via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crontab -e</a:t>
            </a:r>
            <a:r>
              <a:rPr lang="en" sz="1200"/>
              <a:t>.</a:t>
            </a:r>
            <a:endParaRPr sz="12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200"/>
              <a:t>Output Handling:</a:t>
            </a:r>
            <a:r>
              <a:rPr lang="en" sz="1200"/>
              <a:t> Unredirected output or error messages generated by cron jobs are automatically emailed to the job owner via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MAILTO</a:t>
            </a:r>
            <a:r>
              <a:rPr lang="en" sz="1200"/>
              <a:t>.</a:t>
            </a:r>
            <a:endParaRPr sz="12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200"/>
              <a:t>Security Best Practice:</a:t>
            </a:r>
            <a:r>
              <a:rPr lang="en" sz="1200"/>
              <a:t> Avoid running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crontab -e</a:t>
            </a:r>
            <a:r>
              <a:rPr lang="en" sz="1200"/>
              <a:t> as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root</a:t>
            </a:r>
            <a:r>
              <a:rPr lang="en" sz="1200"/>
              <a:t>; unprivileged personal crontabs can introduce root-level security vulnerabilities.</a:t>
            </a:r>
            <a:endParaRPr b="1" sz="1300"/>
          </a:p>
        </p:txBody>
      </p:sp>
      <p:sp>
        <p:nvSpPr>
          <p:cNvPr id="136" name="Google Shape;136;p20"/>
          <p:cNvSpPr/>
          <p:nvPr/>
        </p:nvSpPr>
        <p:spPr>
          <a:xfrm>
            <a:off x="3659225" y="3056825"/>
            <a:ext cx="4645800" cy="15600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systemctl status crond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● crond.service - Command Scheduler</a:t>
            </a:r>
            <a:endParaRPr sz="12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Active: active (running) since Wed 2025-05-14 08:00:00 UTC</a:t>
            </a:r>
            <a:endParaRPr sz="10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 user@host:~$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crontab -l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no crontab for user</a:t>
            </a:r>
            <a:endParaRPr sz="12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137" name="Google Shape;137;p20"/>
          <p:cNvGraphicFramePr/>
          <p:nvPr/>
        </p:nvGraphicFramePr>
        <p:xfrm>
          <a:off x="496525" y="2155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{C1F006F0-CE1C-4913-ACCE-7B3EBBF65CEF}</a:tableStyleId>
              </a:tblPr>
              <a:tblGrid>
                <a:gridCol w="1292225"/>
                <a:gridCol w="1292225"/>
              </a:tblGrid>
              <a:tr h="44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Command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Intended use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</a:rPr>
                        <a:t>crontab -l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</a:rPr>
                        <a:t>List the jobs for the current user.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</a:rPr>
                        <a:t>crontab -r 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</a:rPr>
                        <a:t>Remove all jobs for the current user.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</a:rPr>
                        <a:t>crontab -e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</a:rPr>
                        <a:t>Edit jobs for the current user.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9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</a:rPr>
                        <a:t>c</a:t>
                      </a:r>
                      <a:r>
                        <a:rPr lang="en" sz="700">
                          <a:solidFill>
                            <a:schemeClr val="lt1"/>
                          </a:solidFill>
                        </a:rPr>
                        <a:t>rontab </a:t>
                      </a:r>
                      <a:r>
                        <a:rPr i="1" lang="en" sz="700">
                          <a:solidFill>
                            <a:schemeClr val="lt1"/>
                          </a:solidFill>
                        </a:rPr>
                        <a:t>filename</a:t>
                      </a:r>
                      <a:endParaRPr i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</a:rPr>
                        <a:t>Remove all jobs, and replace them with jobs that are read from the filename file. This command uses stdin input when no file is specified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214950" y="253325"/>
            <a:ext cx="3155700" cy="45810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514350" y="713950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Crontab Syntax &amp; Fields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4" name="Google Shape;144;p21"/>
          <p:cNvCxnSpPr/>
          <p:nvPr/>
        </p:nvCxnSpPr>
        <p:spPr>
          <a:xfrm>
            <a:off x="514350" y="1727950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21"/>
          <p:cNvSpPr txBox="1"/>
          <p:nvPr/>
        </p:nvSpPr>
        <p:spPr>
          <a:xfrm>
            <a:off x="3746625" y="330850"/>
            <a:ext cx="50775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000"/>
              <a:t>5 Time/Date Fields:</a:t>
            </a:r>
            <a:r>
              <a:rPr lang="en" sz="1000"/>
              <a:t> Every crontab entry requires 5 time fields followed by the target executable command.</a:t>
            </a:r>
            <a:endParaRPr sz="10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000"/>
              <a:t>Field Operators:</a:t>
            </a:r>
            <a:r>
              <a:rPr lang="en" sz="1000"/>
              <a:t> </a:t>
            </a:r>
            <a:r>
              <a:rPr lang="en" sz="1000">
                <a:solidFill>
                  <a:srgbClr val="188038"/>
                </a:solidFill>
              </a:rPr>
              <a:t>*</a:t>
            </a:r>
            <a:r>
              <a:rPr lang="en" sz="1000"/>
              <a:t> (every instance), </a:t>
            </a:r>
            <a:r>
              <a:rPr lang="en" sz="1000">
                <a:solidFill>
                  <a:srgbClr val="188038"/>
                </a:solidFill>
              </a:rPr>
              <a:t>x-y</a:t>
            </a:r>
            <a:r>
              <a:rPr lang="en" sz="1000"/>
              <a:t> (inclusive range), </a:t>
            </a:r>
            <a:r>
              <a:rPr lang="en" sz="1000">
                <a:solidFill>
                  <a:srgbClr val="188038"/>
                </a:solidFill>
              </a:rPr>
              <a:t>x,y</a:t>
            </a:r>
            <a:r>
              <a:rPr lang="en" sz="1000"/>
              <a:t> (value list), and </a:t>
            </a:r>
            <a:r>
              <a:rPr lang="en" sz="1000">
                <a:solidFill>
                  <a:srgbClr val="188038"/>
                </a:solidFill>
              </a:rPr>
              <a:t>*/x</a:t>
            </a:r>
            <a:r>
              <a:rPr lang="en" sz="1000"/>
              <a:t> (interval step).</a:t>
            </a:r>
            <a:endParaRPr sz="10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000"/>
              <a:t>Day &amp; Month Names:</a:t>
            </a:r>
            <a:r>
              <a:rPr lang="en" sz="1000"/>
              <a:t> Accepts 3-letter English abbreviations (e.g., </a:t>
            </a:r>
            <a:r>
              <a:rPr lang="en" sz="1000">
                <a:solidFill>
                  <a:srgbClr val="188038"/>
                </a:solidFill>
              </a:rPr>
              <a:t>Jan</a:t>
            </a:r>
            <a:r>
              <a:rPr lang="en" sz="1000"/>
              <a:t>-</a:t>
            </a:r>
            <a:r>
              <a:rPr lang="en" sz="1000">
                <a:solidFill>
                  <a:srgbClr val="188038"/>
                </a:solidFill>
              </a:rPr>
              <a:t>Dec</a:t>
            </a:r>
            <a:r>
              <a:rPr lang="en" sz="1000"/>
              <a:t>, </a:t>
            </a:r>
            <a:r>
              <a:rPr lang="en" sz="1000">
                <a:solidFill>
                  <a:srgbClr val="188038"/>
                </a:solidFill>
              </a:rPr>
              <a:t>Mon</a:t>
            </a:r>
            <a:r>
              <a:rPr lang="en" sz="1000"/>
              <a:t>-</a:t>
            </a:r>
            <a:r>
              <a:rPr lang="en" sz="1000">
                <a:solidFill>
                  <a:srgbClr val="188038"/>
                </a:solidFill>
              </a:rPr>
              <a:t>Sun</a:t>
            </a:r>
            <a:r>
              <a:rPr lang="en" sz="1000"/>
              <a:t>; </a:t>
            </a:r>
            <a:r>
              <a:rPr lang="en" sz="1000">
                <a:solidFill>
                  <a:srgbClr val="188038"/>
                </a:solidFill>
              </a:rPr>
              <a:t>0</a:t>
            </a:r>
            <a:r>
              <a:rPr lang="en" sz="1000"/>
              <a:t> and </a:t>
            </a:r>
            <a:r>
              <a:rPr lang="en" sz="1000">
                <a:solidFill>
                  <a:srgbClr val="188038"/>
                </a:solidFill>
              </a:rPr>
              <a:t>7</a:t>
            </a:r>
            <a:r>
              <a:rPr lang="en" sz="1000"/>
              <a:t> both equal Sunday).</a:t>
            </a:r>
            <a:endParaRPr sz="10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000"/>
              <a:t>Strict Range Rule:</a:t>
            </a:r>
            <a:r>
              <a:rPr lang="en" sz="1000"/>
              <a:t> First value in a range must be &lt;= second value (</a:t>
            </a:r>
            <a:r>
              <a:rPr lang="en" sz="1000">
                <a:solidFill>
                  <a:srgbClr val="188038"/>
                </a:solidFill>
              </a:rPr>
              <a:t>Tue-Fri</a:t>
            </a:r>
            <a:r>
              <a:rPr lang="en" sz="1000"/>
              <a:t> / </a:t>
            </a:r>
            <a:r>
              <a:rPr lang="en" sz="1000">
                <a:solidFill>
                  <a:srgbClr val="188038"/>
                </a:solidFill>
              </a:rPr>
              <a:t>2-5</a:t>
            </a:r>
            <a:r>
              <a:rPr lang="en" sz="1000"/>
              <a:t> is valid; </a:t>
            </a:r>
            <a:r>
              <a:rPr lang="en" sz="1000">
                <a:solidFill>
                  <a:srgbClr val="188038"/>
                </a:solidFill>
              </a:rPr>
              <a:t>Fri-Tue</a:t>
            </a:r>
            <a:r>
              <a:rPr lang="en" sz="1000"/>
              <a:t> / </a:t>
            </a:r>
            <a:r>
              <a:rPr lang="en" sz="1000">
                <a:solidFill>
                  <a:srgbClr val="188038"/>
                </a:solidFill>
              </a:rPr>
              <a:t>5-2</a:t>
            </a:r>
            <a:r>
              <a:rPr lang="en" sz="1000"/>
              <a:t> is </a:t>
            </a:r>
            <a:r>
              <a:rPr b="1" lang="en" sz="1000"/>
              <a:t>invalid</a:t>
            </a:r>
            <a:r>
              <a:rPr lang="en" sz="1000"/>
              <a:t> –&gt; use </a:t>
            </a:r>
            <a:r>
              <a:rPr lang="en" sz="1000">
                <a:solidFill>
                  <a:srgbClr val="188038"/>
                </a:solidFill>
              </a:rPr>
              <a:t>Sun-Tue,Fri-Sat</a:t>
            </a:r>
            <a:r>
              <a:rPr lang="en" sz="1000"/>
              <a:t>).</a:t>
            </a:r>
            <a:endParaRPr b="1" sz="1100"/>
          </a:p>
        </p:txBody>
      </p:sp>
      <p:sp>
        <p:nvSpPr>
          <p:cNvPr id="146" name="Google Shape;146;p21"/>
          <p:cNvSpPr/>
          <p:nvPr/>
        </p:nvSpPr>
        <p:spPr>
          <a:xfrm>
            <a:off x="4144425" y="2018750"/>
            <a:ext cx="4281900" cy="6609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B3440"/>
                </a:solidFill>
                <a:latin typeface="Courier New"/>
                <a:ea typeface="Courier New"/>
                <a:cs typeface="Courier New"/>
                <a:sym typeface="Courier New"/>
              </a:rPr>
              <a:t>MIN (0-59) HOUR (0-23) DOM (1-31) MONTH (1-12) DOW (0-7) COMMAND</a:t>
            </a:r>
            <a:endParaRPr b="1" sz="1200">
              <a:solidFill>
                <a:srgbClr val="2B344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47" name="Google Shape;147;p21"/>
          <p:cNvGraphicFramePr/>
          <p:nvPr/>
        </p:nvGraphicFramePr>
        <p:xfrm>
          <a:off x="3659150" y="285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{C1F006F0-CE1C-4913-ACCE-7B3EBBF65CEF}</a:tableStyleId>
              </a:tblPr>
              <a:tblGrid>
                <a:gridCol w="1260325"/>
                <a:gridCol w="1301550"/>
                <a:gridCol w="1301550"/>
                <a:gridCol w="1301550"/>
              </a:tblGrid>
              <a:tr h="43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</a:rPr>
                        <a:t>Field</a:t>
                      </a:r>
                      <a:endParaRPr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B3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</a:rPr>
                        <a:t>Property</a:t>
                      </a:r>
                      <a:endParaRPr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B3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</a:rPr>
                        <a:t>Valid Values</a:t>
                      </a:r>
                      <a:endParaRPr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B3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</a:rPr>
                        <a:t>Example Operator Usage</a:t>
                      </a:r>
                      <a:endParaRPr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B3440"/>
                    </a:solidFill>
                  </a:tcPr>
                </a:tc>
              </a:tr>
              <a:tr h="23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Minute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0-59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*/5 (every 5 minutes)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</a:tr>
              <a:tr h="23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2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Hour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0-23 (24-hr format)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9-16 (9 AM through 4 PM)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</a:tr>
              <a:tr h="31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3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Day of Month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1-31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1,15 (1st and 15th of month)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</a:tr>
              <a:tr h="23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4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Month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1-12 or Jan-Dec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Jul (July only)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</a:tr>
              <a:tr h="31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5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Day of Week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0-7 or Sun-Sat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1-5 (Monday through Friday)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/>
          <p:nvPr/>
        </p:nvSpPr>
        <p:spPr>
          <a:xfrm>
            <a:off x="214950" y="245700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364650" y="506375"/>
            <a:ext cx="30615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Crontab Environment &amp; STDIN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4" name="Google Shape;154;p22"/>
          <p:cNvCxnSpPr/>
          <p:nvPr/>
        </p:nvCxnSpPr>
        <p:spPr>
          <a:xfrm>
            <a:off x="480975" y="1814850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2"/>
          <p:cNvSpPr txBox="1"/>
          <p:nvPr/>
        </p:nvSpPr>
        <p:spPr>
          <a:xfrm>
            <a:off x="3704350" y="318575"/>
            <a:ext cx="50688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100"/>
              <a:t>Environment Declarations:</a:t>
            </a:r>
            <a:r>
              <a:rPr lang="en" sz="1100"/>
              <a:t> Place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NAME=value</a:t>
            </a:r>
            <a:r>
              <a:rPr lang="en" sz="1100"/>
              <a:t> variables at the top of the crontab file to govern all subsequent execution lines.</a:t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SHELL</a:t>
            </a:r>
            <a:r>
              <a:rPr b="1" lang="en" sz="1100"/>
              <a:t> &amp;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MAILTO</a:t>
            </a:r>
            <a:r>
              <a:rPr b="1" lang="en" sz="1100"/>
              <a:t>:</a:t>
            </a:r>
            <a:r>
              <a:rPr lang="en" sz="1100"/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SHELL=/bin/bash</a:t>
            </a:r>
            <a:r>
              <a:rPr lang="en" sz="1100"/>
              <a:t> sets the default interpreter;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MAILTO=user@example.com</a:t>
            </a:r>
            <a:r>
              <a:rPr lang="en" sz="1100"/>
              <a:t> defines the recipient for execution logs.</a:t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100"/>
              <a:t>The Percent Sign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r>
              <a:rPr b="1" lang="en" sz="1100"/>
              <a:t> Operator):</a:t>
            </a:r>
            <a:r>
              <a:rPr lang="en" sz="1100"/>
              <a:t> Unescaped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r>
              <a:rPr lang="en" sz="1100"/>
              <a:t> characters inside cron command strings are converted into </a:t>
            </a:r>
            <a:r>
              <a:rPr b="1" lang="en" sz="1100"/>
              <a:t>newline characters</a:t>
            </a:r>
            <a:r>
              <a:rPr lang="en" sz="1100"/>
              <a:t>.</a:t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100"/>
              <a:t>STDIN Redirection via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r>
              <a:rPr b="1" lang="en" sz="1100"/>
              <a:t>:</a:t>
            </a:r>
            <a:r>
              <a:rPr lang="en" sz="1100"/>
              <a:t> All text following an unescaped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r>
              <a:rPr lang="en" sz="1100"/>
              <a:t> is automatically passed to the command as standard input (STDIN).</a:t>
            </a:r>
            <a:endParaRPr b="1" sz="1100"/>
          </a:p>
        </p:txBody>
      </p:sp>
      <p:sp>
        <p:nvSpPr>
          <p:cNvPr id="156" name="Google Shape;156;p22"/>
          <p:cNvSpPr/>
          <p:nvPr/>
        </p:nvSpPr>
        <p:spPr>
          <a:xfrm>
            <a:off x="3704350" y="3148125"/>
            <a:ext cx="4738800" cy="14766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 user@host:~$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crontab -e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SHELL=/bin/bash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MAILTO=student@servera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# Send automated check-in email every weekday at 09:00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0 9 * * 1-5 mutt -s "Checking in" dev@example.com % Hi team, status update attached.</a:t>
            </a:r>
            <a:endParaRPr sz="9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3848350" y="2089750"/>
            <a:ext cx="4594800" cy="8400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190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ENVIRONMENT SETTINGS &amp; STDIN REDIRECTION VIA '%' SHELL=/bin/bash </a:t>
            </a:r>
            <a:endParaRPr sz="11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MAILTO=developer@example.com </a:t>
            </a:r>
            <a:endParaRPr sz="11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0 9 * * 1-5 mutt -s "Report" manager@example.com % Line 1 % Line 2</a:t>
            </a:r>
            <a:endParaRPr sz="11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/>
          <p:nvPr/>
        </p:nvSpPr>
        <p:spPr>
          <a:xfrm>
            <a:off x="214950" y="245700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364650" y="506375"/>
            <a:ext cx="30615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Practical Cron Schedules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4" name="Google Shape;164;p23"/>
          <p:cNvCxnSpPr/>
          <p:nvPr/>
        </p:nvCxnSpPr>
        <p:spPr>
          <a:xfrm>
            <a:off x="454000" y="1491350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3"/>
          <p:cNvSpPr txBox="1"/>
          <p:nvPr/>
        </p:nvSpPr>
        <p:spPr>
          <a:xfrm>
            <a:off x="3673000" y="318575"/>
            <a:ext cx="5137800" cy="16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000"/>
              <a:t>Yearly Execution:</a:t>
            </a:r>
            <a:r>
              <a:rPr lang="en" sz="1000"/>
              <a:t>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 9 3 2 * command</a:t>
            </a:r>
            <a:r>
              <a:rPr lang="en" sz="1000"/>
              <a:t> (runs at 09:00:00 on February 3rd every year).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000"/>
              <a:t>Interval &amp; Hour Ranges (</a:t>
            </a:r>
            <a:r>
              <a:rPr b="1"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9-16</a:t>
            </a:r>
            <a:r>
              <a:rPr b="1" lang="en" sz="1000"/>
              <a:t>):</a:t>
            </a:r>
            <a:r>
              <a:rPr lang="en" sz="1000"/>
              <a:t>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*/5 9-16 * Jul 5 command</a:t>
            </a:r>
            <a:r>
              <a:rPr lang="en" sz="1000"/>
              <a:t> (runs every 5 minutes from 09:00 through 16:55 on Fridays in July; 17:00 is outside the 9–16 scope).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000"/>
              <a:t>Weekday Midnight Jobs:</a:t>
            </a:r>
            <a:r>
              <a:rPr lang="en" sz="1000"/>
              <a:t>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58 23 * * 1-5 command</a:t>
            </a:r>
            <a:r>
              <a:rPr lang="en" sz="1000"/>
              <a:t> (runs at 23:58 every weekday Monday through Friday).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000"/>
              <a:t>Unredirected Output:</a:t>
            </a:r>
            <a:r>
              <a:rPr lang="en" sz="1000"/>
              <a:t> Output not suppressed or redirected to a file is captured by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crond</a:t>
            </a:r>
            <a:r>
              <a:rPr lang="en" sz="1000"/>
              <a:t> and sent as an email to the job owner.</a:t>
            </a:r>
            <a:endParaRPr b="1" sz="1000"/>
          </a:p>
        </p:txBody>
      </p:sp>
      <p:sp>
        <p:nvSpPr>
          <p:cNvPr id="166" name="Google Shape;166;p23"/>
          <p:cNvSpPr/>
          <p:nvPr/>
        </p:nvSpPr>
        <p:spPr>
          <a:xfrm>
            <a:off x="3866200" y="2114400"/>
            <a:ext cx="4751400" cy="7389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# Example production crontab entries</a:t>
            </a:r>
            <a:endParaRPr sz="10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0 9 3 2 * /usr/local/bin/yearly_backup</a:t>
            </a:r>
            <a:endParaRPr sz="10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*/5 9-16 * Jul 5 echo "Chime"</a:t>
            </a:r>
            <a:endParaRPr sz="10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58 23 * * 1-5 /usr/local/bin/daily_report</a:t>
            </a:r>
            <a:endParaRPr sz="10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167" name="Google Shape;167;p23"/>
          <p:cNvGraphicFramePr/>
          <p:nvPr/>
        </p:nvGraphicFramePr>
        <p:xfrm>
          <a:off x="3704350" y="301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{C1F006F0-CE1C-4913-ACCE-7B3EBBF65CEF}</a:tableStyleId>
              </a:tblPr>
              <a:tblGrid>
                <a:gridCol w="1691700"/>
                <a:gridCol w="1691700"/>
                <a:gridCol w="1691700"/>
              </a:tblGrid>
              <a:tr h="34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Schedule Requirement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B3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Crontab Expression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B3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Detailed Schedule Behavior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B3440"/>
                    </a:solidFill>
                  </a:tcPr>
                </a:tc>
              </a:tr>
              <a:tr h="22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Yearly Backup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0 9 3 2 *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Feb 3rd at 09:00 annually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  <a:tr h="32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Recurring Interval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*/5 9-16 * Jul 5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Every 5 mins from 09:00 to 16:55 on Jul Fridays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  <a:tr h="22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Weekday End-of-Day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58 23 * * 1-5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Mon–Fri at 23:58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  <a:tr h="22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Hourly Status Check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0 * * * *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Minute 0 of every hour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/>
          <p:nvPr/>
        </p:nvSpPr>
        <p:spPr>
          <a:xfrm>
            <a:off x="214950" y="245700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301050" y="488400"/>
            <a:ext cx="30615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Guided Exercise - Cron Creation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4" name="Google Shape;174;p24"/>
          <p:cNvCxnSpPr/>
          <p:nvPr/>
        </p:nvCxnSpPr>
        <p:spPr>
          <a:xfrm>
            <a:off x="373125" y="15003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4"/>
          <p:cNvSpPr txBox="1"/>
          <p:nvPr/>
        </p:nvSpPr>
        <p:spPr>
          <a:xfrm>
            <a:off x="3673000" y="318575"/>
            <a:ext cx="5137800" cy="17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100"/>
              <a:t>Lab Setup:</a:t>
            </a:r>
            <a:r>
              <a:rPr lang="en" sz="1100"/>
              <a:t> Run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 start scheduling-cron</a:t>
            </a:r>
            <a:r>
              <a:rPr lang="en" sz="1100"/>
              <a:t> on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workstation</a:t>
            </a:r>
            <a:r>
              <a:rPr lang="en" sz="1100"/>
              <a:t> and SSH into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servera</a:t>
            </a:r>
            <a:r>
              <a:rPr lang="en" sz="1100"/>
              <a:t>.</a:t>
            </a:r>
            <a:endParaRPr sz="11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100"/>
              <a:t>Dynamic Day Range:</a:t>
            </a:r>
            <a:r>
              <a:rPr lang="en" sz="1100"/>
              <a:t> Calculate the 3-day window using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 -d "last day" +%a</a:t>
            </a:r>
            <a:r>
              <a:rPr lang="en" sz="1100"/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 -d "next day" +%a</a:t>
            </a:r>
            <a:r>
              <a:rPr lang="en" sz="1100"/>
              <a:t> (e.g.,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Tue-Thu</a:t>
            </a:r>
            <a:r>
              <a:rPr lang="en" sz="1100"/>
              <a:t>).</a:t>
            </a:r>
            <a:endParaRPr sz="11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100"/>
              <a:t>Crontab Entry:</a:t>
            </a:r>
            <a:r>
              <a:rPr lang="en" sz="1100"/>
              <a:t> Open the editor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crontab -e</a:t>
            </a:r>
            <a:r>
              <a:rPr lang="en" sz="1100"/>
              <a:t> and append the recurring job line.</a:t>
            </a:r>
            <a:endParaRPr sz="11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100"/>
              <a:t>Interval &amp; Target:</a:t>
            </a:r>
            <a:r>
              <a:rPr lang="en" sz="1100"/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*/2 * * * Tue-Thu /usr/bin/date &gt;&gt; ~/my_first_cron_job.txt</a:t>
            </a:r>
            <a:r>
              <a:rPr lang="en" sz="1100"/>
              <a:t> executes every 2 minutes across the calculated day range.</a:t>
            </a:r>
            <a:endParaRPr b="1" sz="1000"/>
          </a:p>
        </p:txBody>
      </p:sp>
      <p:graphicFrame>
        <p:nvGraphicFramePr>
          <p:cNvPr id="176" name="Google Shape;176;p24"/>
          <p:cNvGraphicFramePr/>
          <p:nvPr/>
        </p:nvGraphicFramePr>
        <p:xfrm>
          <a:off x="491200" y="204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{C1F006F0-CE1C-4913-ACCE-7B3EBBF65CEF}</a:tableStyleId>
              </a:tblPr>
              <a:tblGrid>
                <a:gridCol w="865025"/>
                <a:gridCol w="865025"/>
                <a:gridCol w="865025"/>
              </a:tblGrid>
              <a:tr h="65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Query Command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B3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Command Output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B3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Crontab Range Equivalent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B3440"/>
                    </a:solidFill>
                  </a:tcPr>
                </a:tc>
              </a:tr>
              <a:tr h="59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date -d "last day" +%a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Tue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Range Start Day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  <a:tr h="59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date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Wed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Current Execution Day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  <a:tr h="59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Date -d “”next day” +%a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Thu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</a:rPr>
                        <a:t>Range End Day (Tue-Thu)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24"/>
          <p:cNvSpPr/>
          <p:nvPr/>
        </p:nvSpPr>
        <p:spPr>
          <a:xfrm>
            <a:off x="3575500" y="2571750"/>
            <a:ext cx="5174700" cy="16161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lab start scheduling-cron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 student@workstation:~$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ssh student@servera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 [student@servera ~]$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date -d "last day" +%a &amp;&amp; date -d "next day" +%a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Tue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Thu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[student@servera ~]$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crontab -e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crontab: installing new crontab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/>
          <p:nvPr/>
        </p:nvSpPr>
        <p:spPr>
          <a:xfrm>
            <a:off x="214950" y="245700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301050" y="488400"/>
            <a:ext cx="30615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Guided Exercise - Cron Cleanup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4" name="Google Shape;184;p25"/>
          <p:cNvCxnSpPr/>
          <p:nvPr/>
        </p:nvCxnSpPr>
        <p:spPr>
          <a:xfrm>
            <a:off x="373125" y="15003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25"/>
          <p:cNvSpPr txBox="1"/>
          <p:nvPr/>
        </p:nvSpPr>
        <p:spPr>
          <a:xfrm>
            <a:off x="3673000" y="318575"/>
            <a:ext cx="5292900" cy="21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Inspect Crontab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crontab -l</a:t>
            </a:r>
            <a:r>
              <a:rPr b="1" lang="en" sz="1100"/>
              <a:t>):</a:t>
            </a:r>
            <a:r>
              <a:rPr lang="en" sz="1100"/>
              <a:t> Verify that the scheduled recurring job entry is installed active in the crontab.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Shell Loop Wait:</a:t>
            </a:r>
            <a:r>
              <a:rPr lang="en" sz="1100"/>
              <a:t> Execute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while ! test -f my_first_cron_job.txt; do sleep 1s; done</a:t>
            </a:r>
            <a:r>
              <a:rPr lang="en" sz="1100"/>
              <a:t> to pause until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crond</a:t>
            </a:r>
            <a:r>
              <a:rPr lang="en" sz="1100"/>
              <a:t> creates the file.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Output Inspection:</a:t>
            </a:r>
            <a:r>
              <a:rPr lang="en" sz="1100"/>
              <a:t> Run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 my_first_cron_job.txt</a:t>
            </a:r>
            <a:r>
              <a:rPr lang="en" sz="1100"/>
              <a:t> to verify the logged timestamp output.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Purge &amp; Finish:</a:t>
            </a:r>
            <a:r>
              <a:rPr lang="en" sz="1100"/>
              <a:t> Delete all user cron jobs using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crontab -r</a:t>
            </a:r>
            <a:r>
              <a:rPr lang="en" sz="1100"/>
              <a:t>, confirm empty crontab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crontab -l</a:t>
            </a:r>
            <a:r>
              <a:rPr lang="en" sz="1100"/>
              <a:t>), exit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workstation</a:t>
            </a:r>
            <a:r>
              <a:rPr lang="en" sz="1100"/>
              <a:t>, and run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 finish scheduling-cron</a:t>
            </a:r>
            <a:r>
              <a:rPr lang="en" sz="1100"/>
              <a:t>.</a:t>
            </a:r>
            <a:endParaRPr b="1" sz="1100"/>
          </a:p>
        </p:txBody>
      </p:sp>
      <p:sp>
        <p:nvSpPr>
          <p:cNvPr id="186" name="Google Shape;186;p25"/>
          <p:cNvSpPr/>
          <p:nvPr/>
        </p:nvSpPr>
        <p:spPr>
          <a:xfrm>
            <a:off x="3575500" y="2615450"/>
            <a:ext cx="5292900" cy="18240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0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[student@servera ~]$</a:t>
            </a: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crontab -l</a:t>
            </a:r>
            <a:endParaRPr sz="1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*/2 * * * Tue-Thu /usr/bin/date &gt;&gt; /home/student/my_first_cron_job.txt</a:t>
            </a:r>
            <a:endParaRPr sz="1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0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[student@servera ~]$</a:t>
            </a: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while ! test -f my_first_cron_job.txt; do sleep 1s; done</a:t>
            </a:r>
            <a:endParaRPr sz="1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0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[student@servera ~]$</a:t>
            </a: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cat my_first_cron_job.txt</a:t>
            </a:r>
            <a:endParaRPr sz="1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Wed May 28 18:34:01 UTC 2025</a:t>
            </a:r>
            <a:endParaRPr sz="1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0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[student@servera ~]$</a:t>
            </a: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crontab -r &amp;&amp; crontab -l</a:t>
            </a:r>
            <a:endParaRPr sz="1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no crontab for student</a:t>
            </a:r>
            <a:endParaRPr sz="1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0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lab finish scheduling-cron</a:t>
            </a:r>
            <a:endParaRPr sz="1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