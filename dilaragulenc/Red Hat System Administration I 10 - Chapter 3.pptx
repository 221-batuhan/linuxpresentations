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F45D78F-FB0E-C3BC-88E8-AE2F39CC6F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2F328E17-3DBC-4F8E-4F5E-0C04982729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58F95F5-B54A-83F0-79E8-8C755692D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EB172-BBBA-4DD7-9C1A-0C21D8226140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E9E048B1-6B3E-3A3F-AA4B-B5EFBE5D1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9309F48-23E1-E2AC-8F79-97E2FC99C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3F861-9305-4F80-8090-0B29038A5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210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B544F77-626B-FECF-F5CA-7F2EF4FF3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C0C0A4F-BDD0-BA22-05AA-FBAF3FF0B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917E030-09F8-2330-FAAA-1D461FDA7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EB172-BBBA-4DD7-9C1A-0C21D8226140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DD880D78-65F3-67F3-5623-E12C09416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2672AC3-8D5B-62BD-DDF2-B9860C396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3F861-9305-4F80-8090-0B29038A5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091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921F218-F951-2C8A-96DA-1685B432B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500240E8-4D37-B713-2AB9-6180AA35C4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46C72D4-9D2D-04BD-AEB7-443633C65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EB172-BBBA-4DD7-9C1A-0C21D8226140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10A2FB8-77FA-A005-5431-EA47A9284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B66D074-808A-4D01-BB71-FF10658A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3F861-9305-4F80-8090-0B29038A5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255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6C485F1-BC0E-7A2D-4B34-5F8E7C833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FDD225F-304C-56DA-3E42-C7745F1832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B9084EF1-8F3F-D011-2C1F-5FC81299DB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11821F14-EBB7-F735-8D49-848B79A7F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EB172-BBBA-4DD7-9C1A-0C21D8226140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C44F2CEB-F485-E97C-2308-300C2F350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43EFA17C-FCBD-8B63-3772-D63CB1349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3F861-9305-4F80-8090-0B29038A5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6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E744CA6-5456-9641-7C4C-1D7FB5076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26859B86-F3DE-2C1C-C107-F289B9A894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2994F0F6-495C-13FD-C4C7-D7E30EEB78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42C00331-19B4-A382-89D9-85B7372A5F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41E3F660-FC14-A6C0-0B9B-1EC2707C80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FB554B5A-BEDE-BDB8-0C62-60143F9F1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EB172-BBBA-4DD7-9C1A-0C21D8226140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FFDBBA33-7C29-F4D6-52C7-59590ECAE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E547F5E4-337E-B267-7693-041A03CB1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3F861-9305-4F80-8090-0B29038A5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327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7DB35AC-3181-1BE9-DC8D-77171A6A4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F26D3E98-4059-C095-17BD-6C39A0FD8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EB172-BBBA-4DD7-9C1A-0C21D8226140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063ED4D0-6E94-B18A-DBE2-AA36027F3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D690D75B-0017-9277-4A25-B8785CB96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3F861-9305-4F80-8090-0B29038A5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696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A750E55C-6204-1140-4B48-29A06A9A3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EB172-BBBA-4DD7-9C1A-0C21D8226140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FE3E9AE1-5F7C-5C1A-7FA0-62D2CDF10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9341D156-2EF4-4D19-EEA9-1F842574B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3F861-9305-4F80-8090-0B29038A5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018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E3941F3-B7C2-E783-4BB9-1248304A2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C0C1191-9C09-4544-0ED3-BC0BD71E81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97481860-575E-C4AF-3C4A-2A4A31269A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7BFFA317-B85B-F738-CC85-11ABBE814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EB172-BBBA-4DD7-9C1A-0C21D8226140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29D8F799-EFFE-2DEB-5A8F-3B923D08A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85380842-AD22-77B6-E25B-29C5AB31F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3F861-9305-4F80-8090-0B29038A5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04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ABB92A6-A0E6-088C-05FB-413016F89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B25D2D6E-5B05-638A-4CD2-E9785A3EA91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C2580805-D08E-CF8E-D7BB-EE445697A3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1111DC08-D078-3E6F-C3FC-85E8174B2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EB172-BBBA-4DD7-9C1A-0C21D8226140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2BA152CE-93A4-A929-86CC-D52785428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0DF2B3AF-6657-ADFE-C335-FFB430981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3F861-9305-4F80-8090-0B29038A5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366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77331E5-D5DC-D547-7CE1-2F38EBC1D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9C4F9AE9-D576-7A34-DF1E-46B3DAEC3F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F0B2E3AA-D64C-D51F-8989-EBF25DE30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EB172-BBBA-4DD7-9C1A-0C21D8226140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F460DDAB-8C45-FF95-4E92-2B261E9F7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E7782D2C-DD4F-2E69-38C6-DF5C150EA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3F861-9305-4F80-8090-0B29038A5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129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F1429873-4380-6E66-1921-1233E04EE6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156E98E2-68D7-C557-0F77-BBF00E7142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4A603ACF-FAEC-F82F-A893-F8AB5445E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EB172-BBBA-4DD7-9C1A-0C21D8226140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FE7F21C-26B7-95E6-91F5-CAB3D02EA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9AD29AC-3C23-8BCF-EB31-D08445AB5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3F861-9305-4F80-8090-0B29038A5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686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65AE844F-54B3-6D0C-785A-3011AAF88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5F9676C0-DA3A-EDC2-38C6-2B57D0463E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A3D9B33-1E93-4541-44B6-453B438DE6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1EB172-BBBA-4DD7-9C1A-0C21D8226140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F313A8E2-F027-7F48-19AA-6BDEB4BD05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83AFE7E0-5E4C-E2AB-8052-F9C202A909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63F861-9305-4F80-8090-0B29038A5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3D09407-53BC-485E-B4CE-BC5E4FC4B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21DB988-49FC-4608-B0A2-E2F3A4019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9423C9ED-D707-9AE5-83A3-C02C70482B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5470" y="3041077"/>
            <a:ext cx="10640754" cy="775845"/>
          </a:xfrm>
        </p:spPr>
        <p:txBody>
          <a:bodyPr anchor="b">
            <a:normAutofit/>
          </a:bodyPr>
          <a:lstStyle/>
          <a:p>
            <a:r>
              <a:rPr lang="en-US" sz="4000" dirty="0">
                <a:solidFill>
                  <a:schemeClr val="tx2"/>
                </a:solidFill>
              </a:rPr>
              <a:t>Red Hat System Administration I 10.0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223D44DA-3ADE-E856-31FA-44C8B6343D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99131" y="3993384"/>
            <a:ext cx="8409368" cy="825508"/>
          </a:xfrm>
        </p:spPr>
        <p:txBody>
          <a:bodyPr anchor="ctr">
            <a:normAutofit/>
          </a:bodyPr>
          <a:lstStyle/>
          <a:p>
            <a:pPr algn="r"/>
            <a:r>
              <a:rPr lang="tr-TR" sz="2000" b="1" dirty="0" err="1">
                <a:solidFill>
                  <a:schemeClr val="tx2"/>
                </a:solidFill>
              </a:rPr>
              <a:t>Chapter</a:t>
            </a:r>
            <a:r>
              <a:rPr lang="tr-TR" sz="2000" b="1" dirty="0">
                <a:solidFill>
                  <a:schemeClr val="tx2"/>
                </a:solidFill>
              </a:rPr>
              <a:t>  3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9B930FD-8671-4C4C-ADCF-73AC1D0CD4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676747" y="0"/>
            <a:ext cx="2514948" cy="2174333"/>
            <a:chOff x="-305" y="-4155"/>
            <a:chExt cx="2514948" cy="2174333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35B12C1-569C-4E37-AA33-7EF215F201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23E2660-7810-46F6-8752-187127C83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C991DC45-0378-45B3-B325-FB8F98545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E228F5BA-5150-4554-B7EA-93F371F3B1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pic>
        <p:nvPicPr>
          <p:cNvPr id="5" name="Resim 4">
            <a:extLst>
              <a:ext uri="{FF2B5EF4-FFF2-40B4-BE49-F238E27FC236}">
                <a16:creationId xmlns:a16="http://schemas.microsoft.com/office/drawing/2014/main" id="{84B38AA2-095D-634B-3059-51BECAEE5A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969" y="375972"/>
            <a:ext cx="2916879" cy="1221295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383C2651-AE0C-4AE4-8725-E2F9414FE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305" y="4322879"/>
            <a:ext cx="3378428" cy="2535121"/>
            <a:chOff x="-305" y="-1"/>
            <a:chExt cx="3832880" cy="2876136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CE13265-B5D2-47B4-A199-E05F390D5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93EBD03-D832-462C-9304-7273698ED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D53D3E2-805E-40D2-964F-352BF6D476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B7A9A916-A926-43E6-800F-432ABC3F24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6" name="Metin kutusu 5">
            <a:extLst>
              <a:ext uri="{FF2B5EF4-FFF2-40B4-BE49-F238E27FC236}">
                <a16:creationId xmlns:a16="http://schemas.microsoft.com/office/drawing/2014/main" id="{A8F42B92-EC7C-16BE-57B9-677AD7A323BA}"/>
              </a:ext>
            </a:extLst>
          </p:cNvPr>
          <p:cNvSpPr txBox="1"/>
          <p:nvPr/>
        </p:nvSpPr>
        <p:spPr>
          <a:xfrm>
            <a:off x="9413823" y="5503820"/>
            <a:ext cx="1843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Dilara Gülenç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E2841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2485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2EA11FC2-B129-408F-F58E-B626FA2A6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Introduction to Linux Manual Pages (man)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8EE3C10-DE15-38E2-428B-E08A18548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318197"/>
            <a:ext cx="3725056" cy="3683358"/>
          </a:xfrm>
        </p:spPr>
        <p:txBody>
          <a:bodyPr anchor="ctr">
            <a:norm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1400" b="1" dirty="0"/>
              <a:t>Local Documentation:</a:t>
            </a:r>
            <a:r>
              <a:rPr lang="en-US" sz="1400" dirty="0"/>
              <a:t> Shipped directly by software packages to provide on-system reference documentation.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1400" b="1" dirty="0"/>
              <a:t>Access Method:</a:t>
            </a:r>
            <a:r>
              <a:rPr lang="en-US" sz="1400" dirty="0"/>
              <a:t> Queried from the command line interface using the </a:t>
            </a:r>
            <a:r>
              <a:rPr lang="en-US" sz="1400" dirty="0">
                <a:latin typeface="Courier New" panose="02070309020205020404" pitchFamily="49" charset="0"/>
              </a:rPr>
              <a:t>man</a:t>
            </a:r>
            <a:r>
              <a:rPr lang="en-US" sz="1400" dirty="0"/>
              <a:t> command.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1400" b="1" dirty="0"/>
              <a:t>Filesystem Location:</a:t>
            </a:r>
            <a:r>
              <a:rPr lang="en-US" sz="1400" dirty="0"/>
              <a:t> Stored within dedicated subdirectories inside </a:t>
            </a:r>
            <a:r>
              <a:rPr lang="en-US" sz="1400" dirty="0">
                <a:latin typeface="Courier New" panose="02070309020205020404" pitchFamily="49" charset="0"/>
              </a:rPr>
              <a:t>/</a:t>
            </a:r>
            <a:r>
              <a:rPr lang="en-US" sz="1400" dirty="0" err="1">
                <a:latin typeface="Courier New" panose="02070309020205020404" pitchFamily="49" charset="0"/>
              </a:rPr>
              <a:t>usr</a:t>
            </a:r>
            <a:r>
              <a:rPr lang="en-US" sz="1400" dirty="0">
                <a:latin typeface="Courier New" panose="02070309020205020404" pitchFamily="49" charset="0"/>
              </a:rPr>
              <a:t>/share/man</a:t>
            </a:r>
            <a:r>
              <a:rPr lang="en-US" sz="1400" dirty="0"/>
              <a:t>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1400" b="1" dirty="0"/>
              <a:t>Origin:</a:t>
            </a:r>
            <a:r>
              <a:rPr lang="en-US" sz="1400" dirty="0"/>
              <a:t> Derived from the historical </a:t>
            </a:r>
            <a:r>
              <a:rPr lang="en-US" sz="1400" i="1" dirty="0"/>
              <a:t>Linux Programmer's Manual</a:t>
            </a:r>
            <a:r>
              <a:rPr lang="en-US" sz="1400" dirty="0"/>
              <a:t>, divided into multiple sections due to its extensive size.</a:t>
            </a:r>
          </a:p>
          <a:p>
            <a:pPr marL="0" indent="0" algn="just">
              <a:buNone/>
            </a:pPr>
            <a:endParaRPr lang="en-US" sz="2000" dirty="0"/>
          </a:p>
        </p:txBody>
      </p:sp>
      <p:sp>
        <p:nvSpPr>
          <p:cNvPr id="5" name="İçerik Yer Tutucusu 2">
            <a:extLst>
              <a:ext uri="{FF2B5EF4-FFF2-40B4-BE49-F238E27FC236}">
                <a16:creationId xmlns:a16="http://schemas.microsoft.com/office/drawing/2014/main" id="{34BC4060-38C4-142D-6989-3B4260680758}"/>
              </a:ext>
            </a:extLst>
          </p:cNvPr>
          <p:cNvSpPr txBox="1">
            <a:spLocks/>
          </p:cNvSpPr>
          <p:nvPr/>
        </p:nvSpPr>
        <p:spPr>
          <a:xfrm>
            <a:off x="6468256" y="2318197"/>
            <a:ext cx="3725056" cy="3421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/>
            <a:r>
              <a:rPr lang="en-US" sz="1400" b="1" dirty="0"/>
              <a:t>Collision Resolution:</a:t>
            </a:r>
            <a:r>
              <a:rPr lang="en-US" sz="1400" dirty="0"/>
              <a:t> Identical names across different system categories are distinguished by appending their section number in parentheses:</a:t>
            </a:r>
          </a:p>
          <a:p>
            <a:pPr lvl="1" algn="just"/>
            <a:r>
              <a:rPr lang="en-US" sz="1400" dirty="0"/>
              <a:t>topic(section)</a:t>
            </a:r>
          </a:p>
          <a:p>
            <a:pPr lvl="0" algn="just"/>
            <a:r>
              <a:rPr lang="en-US" sz="1400" b="1" dirty="0"/>
              <a:t>Comparative Example:</a:t>
            </a:r>
            <a:endParaRPr lang="en-US" sz="1400" dirty="0"/>
          </a:p>
          <a:p>
            <a:pPr lvl="1" algn="just"/>
            <a:r>
              <a:rPr lang="en-US" sz="1400" b="1" dirty="0"/>
              <a:t>passwd(1):</a:t>
            </a:r>
            <a:r>
              <a:rPr lang="en-US" sz="1400" dirty="0"/>
              <a:t> Documents the executable user command used to update passwords.</a:t>
            </a:r>
          </a:p>
          <a:p>
            <a:pPr lvl="1" algn="just"/>
            <a:r>
              <a:rPr lang="en-US" sz="1400" b="1" dirty="0"/>
              <a:t>passwd(5):</a:t>
            </a:r>
            <a:r>
              <a:rPr lang="en-US" sz="1400" dirty="0"/>
              <a:t> Documents the /</a:t>
            </a:r>
            <a:r>
              <a:rPr lang="en-US" sz="1400" dirty="0" err="1"/>
              <a:t>etc</a:t>
            </a:r>
            <a:r>
              <a:rPr lang="en-US" sz="1400" dirty="0"/>
              <a:t>/passwd file format used for storing local user accounts.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480456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C5925D1A-270C-61EE-C88A-F8CC4ECEA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Common Sections of the Linux Manual</a:t>
            </a:r>
          </a:p>
        </p:txBody>
      </p:sp>
      <p:graphicFrame>
        <p:nvGraphicFramePr>
          <p:cNvPr id="4" name="İçerik Yer Tutucusu 3">
            <a:extLst>
              <a:ext uri="{FF2B5EF4-FFF2-40B4-BE49-F238E27FC236}">
                <a16:creationId xmlns:a16="http://schemas.microsoft.com/office/drawing/2014/main" id="{D9B69477-640E-67F7-9605-DF3E85C542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0629513"/>
              </p:ext>
            </p:extLst>
          </p:nvPr>
        </p:nvGraphicFramePr>
        <p:xfrm>
          <a:off x="4289021" y="217379"/>
          <a:ext cx="7648728" cy="4589020"/>
        </p:xfrm>
        <a:graphic>
          <a:graphicData uri="http://schemas.openxmlformats.org/drawingml/2006/table">
            <a:tbl>
              <a:tblPr/>
              <a:tblGrid>
                <a:gridCol w="2549576">
                  <a:extLst>
                    <a:ext uri="{9D8B030D-6E8A-4147-A177-3AD203B41FA5}">
                      <a16:colId xmlns:a16="http://schemas.microsoft.com/office/drawing/2014/main" val="2407835854"/>
                    </a:ext>
                  </a:extLst>
                </a:gridCol>
                <a:gridCol w="2549576">
                  <a:extLst>
                    <a:ext uri="{9D8B030D-6E8A-4147-A177-3AD203B41FA5}">
                      <a16:colId xmlns:a16="http://schemas.microsoft.com/office/drawing/2014/main" val="257726814"/>
                    </a:ext>
                  </a:extLst>
                </a:gridCol>
                <a:gridCol w="2549576">
                  <a:extLst>
                    <a:ext uri="{9D8B030D-6E8A-4147-A177-3AD203B41FA5}">
                      <a16:colId xmlns:a16="http://schemas.microsoft.com/office/drawing/2014/main" val="3353231530"/>
                    </a:ext>
                  </a:extLst>
                </a:gridCol>
              </a:tblGrid>
              <a:tr h="312336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Section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1248" marR="71248" marT="47498" marB="4749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Content Type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1248" marR="71248" marT="47498" marB="4749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Description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1248" marR="71248" marT="47498" marB="4749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6631516"/>
                  </a:ext>
                </a:extLst>
              </a:tr>
              <a:tr h="513123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1248" marR="71248" marT="47498" marB="4749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User commands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1248" marR="71248" marT="47498" marB="4749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Both executable and shell programs</a:t>
                      </a:r>
                    </a:p>
                  </a:txBody>
                  <a:tcPr marL="71248" marR="71248" marT="47498" marB="4749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939358"/>
                  </a:ext>
                </a:extLst>
              </a:tr>
              <a:tr h="513123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1248" marR="71248" marT="47498" marB="4749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System calls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1248" marR="71248" marT="47498" marB="4749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Kernel routines that are invoked from user space</a:t>
                      </a:r>
                    </a:p>
                  </a:txBody>
                  <a:tcPr marL="71248" marR="71248" marT="47498" marB="4749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064894"/>
                  </a:ext>
                </a:extLst>
              </a:tr>
              <a:tr h="312336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1248" marR="71248" marT="47498" marB="4749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Library functions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1248" marR="71248" marT="47498" marB="4749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Provided by program libraries</a:t>
                      </a:r>
                    </a:p>
                  </a:txBody>
                  <a:tcPr marL="71248" marR="71248" marT="47498" marB="4749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289767"/>
                  </a:ext>
                </a:extLst>
              </a:tr>
              <a:tr h="513123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1248" marR="71248" marT="47498" marB="4749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Special files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1248" marR="71248" marT="47498" marB="4749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Device files (e.g., hardware/virtual devices)</a:t>
                      </a:r>
                    </a:p>
                  </a:txBody>
                  <a:tcPr marL="71248" marR="71248" marT="47498" marB="4749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1687947"/>
                  </a:ext>
                </a:extLst>
              </a:tr>
              <a:tr h="513123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1248" marR="71248" marT="47498" marB="4749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File formats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1248" marR="71248" marT="47498" marB="4749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Configuration files and data structures</a:t>
                      </a:r>
                    </a:p>
                  </a:txBody>
                  <a:tcPr marL="71248" marR="71248" marT="47498" marB="4749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7833359"/>
                  </a:ext>
                </a:extLst>
              </a:tr>
              <a:tr h="513123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6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1248" marR="71248" marT="47498" marB="4749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Games &amp; screensavers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1248" marR="71248" marT="47498" marB="4749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Historical section for amusing programs</a:t>
                      </a:r>
                    </a:p>
                  </a:txBody>
                  <a:tcPr marL="71248" marR="71248" marT="47498" marB="4749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9935073"/>
                  </a:ext>
                </a:extLst>
              </a:tr>
              <a:tr h="513123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7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1248" marR="71248" marT="47498" marB="4749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Miscellaneous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1248" marR="71248" marT="47498" marB="4749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Conventions, standards, protocols, and file systems</a:t>
                      </a:r>
                    </a:p>
                  </a:txBody>
                  <a:tcPr marL="71248" marR="71248" marT="47498" marB="4749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0908514"/>
                  </a:ext>
                </a:extLst>
              </a:tr>
              <a:tr h="513123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8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1248" marR="71248" marT="47498" marB="4749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System administration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1248" marR="71248" marT="47498" marB="4749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Privileged commands and maintenance tasks</a:t>
                      </a:r>
                    </a:p>
                  </a:txBody>
                  <a:tcPr marL="71248" marR="71248" marT="47498" marB="4749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8271617"/>
                  </a:ext>
                </a:extLst>
              </a:tr>
              <a:tr h="312336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1248" marR="71248" marT="47498" marB="4749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Linux kernel API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1248" marR="71248" marT="47498" marB="4749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Internal kernel calls</a:t>
                      </a:r>
                    </a:p>
                  </a:txBody>
                  <a:tcPr marL="71248" marR="71248" marT="47498" marB="4749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112769"/>
                  </a:ext>
                </a:extLst>
              </a:tr>
            </a:tbl>
          </a:graphicData>
        </a:graphic>
      </p:graphicFrame>
      <p:sp>
        <p:nvSpPr>
          <p:cNvPr id="5" name="Metin kutusu 4">
            <a:extLst>
              <a:ext uri="{FF2B5EF4-FFF2-40B4-BE49-F238E27FC236}">
                <a16:creationId xmlns:a16="http://schemas.microsoft.com/office/drawing/2014/main" id="{442DCA98-9D1B-ACAE-E62E-4ED460B8D991}"/>
              </a:ext>
            </a:extLst>
          </p:cNvPr>
          <p:cNvSpPr txBox="1"/>
          <p:nvPr/>
        </p:nvSpPr>
        <p:spPr>
          <a:xfrm>
            <a:off x="4543852" y="4955036"/>
            <a:ext cx="789993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Administrative Priority:</a:t>
            </a:r>
            <a:endParaRPr lang="en-US" dirty="0"/>
          </a:p>
          <a:p>
            <a:pPr lvl="0"/>
            <a:r>
              <a:rPr lang="en-US" b="1" dirty="0"/>
              <a:t>Primary Admin Sections:</a:t>
            </a:r>
            <a:r>
              <a:rPr lang="en-US" dirty="0"/>
              <a:t> </a:t>
            </a:r>
            <a:r>
              <a:rPr lang="en-US" b="1" dirty="0"/>
              <a:t>1</a:t>
            </a:r>
            <a:r>
              <a:rPr lang="en-US" dirty="0"/>
              <a:t> (Commands), </a:t>
            </a:r>
            <a:r>
              <a:rPr lang="en-US" b="1" dirty="0"/>
              <a:t>5</a:t>
            </a:r>
            <a:r>
              <a:rPr lang="en-US" dirty="0"/>
              <a:t> (File Formats), and </a:t>
            </a:r>
            <a:r>
              <a:rPr lang="en-US" b="1" dirty="0"/>
              <a:t>8</a:t>
            </a:r>
            <a:r>
              <a:rPr lang="en-US" dirty="0"/>
              <a:t> (Admin Utilities).</a:t>
            </a:r>
          </a:p>
          <a:p>
            <a:pPr lvl="0"/>
            <a:r>
              <a:rPr lang="en-US" b="1" dirty="0"/>
              <a:t>Troubleshooting:</a:t>
            </a:r>
            <a:r>
              <a:rPr lang="en-US" dirty="0"/>
              <a:t> Section </a:t>
            </a:r>
            <a:r>
              <a:rPr lang="en-US" b="1" dirty="0"/>
              <a:t>2</a:t>
            </a:r>
            <a:r>
              <a:rPr lang="en-US" dirty="0"/>
              <a:t> (System Calls) is used with select diagnostic tools; remaining sections serve developer reference and advanced tasks.</a:t>
            </a:r>
          </a:p>
          <a:p>
            <a:endParaRPr lang="en-US" dirty="0"/>
          </a:p>
        </p:txBody>
      </p:sp>
      <p:pic>
        <p:nvPicPr>
          <p:cNvPr id="7" name="Grafik 6" descr="Ataş ana hat">
            <a:extLst>
              <a:ext uri="{FF2B5EF4-FFF2-40B4-BE49-F238E27FC236}">
                <a16:creationId xmlns:a16="http://schemas.microsoft.com/office/drawing/2014/main" id="{BC6CBA5F-4E18-1020-86C8-F7795B30D3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20277375">
            <a:off x="4022499" y="5316569"/>
            <a:ext cx="580869" cy="580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470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C49BD034-FDB6-30CA-1E42-089C7A421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/>
              <a:t>Accessing &amp; Querying Man Pages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A4DFAFB-0052-317F-5F98-62F53A551A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/>
              <a:t>Default Search Order:</a:t>
            </a:r>
            <a:r>
              <a:rPr lang="en-US" sz="2000"/>
              <a:t> The </a:t>
            </a:r>
            <a:r>
              <a:rPr lang="en-US" sz="2000">
                <a:latin typeface="Courier New" panose="02070309020205020404" pitchFamily="49" charset="0"/>
              </a:rPr>
              <a:t>man</a:t>
            </a:r>
            <a:r>
              <a:rPr lang="en-US" sz="2000"/>
              <a:t> utility scans manual sections sequentially in alphanumeric order.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/>
              <a:t>Basic Query Syntax:</a:t>
            </a:r>
            <a:r>
              <a:rPr lang="en-US" sz="2000"/>
              <a:t> Run </a:t>
            </a:r>
            <a:r>
              <a:rPr lang="en-US" sz="2000">
                <a:latin typeface="Courier New" panose="02070309020205020404" pitchFamily="49" charset="0"/>
              </a:rPr>
              <a:t>man topic</a:t>
            </a:r>
            <a:r>
              <a:rPr lang="en-US" sz="2000"/>
              <a:t> to display the first matching manual page.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/>
              <a:t>Section-Specific Targeting:</a:t>
            </a:r>
            <a:r>
              <a:rPr lang="en-US" sz="2000"/>
              <a:t> Target a particular category directly using </a:t>
            </a:r>
            <a:r>
              <a:rPr lang="en-US" sz="2000">
                <a:latin typeface="Courier New" panose="02070309020205020404" pitchFamily="49" charset="0"/>
              </a:rPr>
              <a:t>man section topic</a:t>
            </a:r>
            <a:r>
              <a:rPr lang="en-US" sz="2000"/>
              <a:t> (overriding the default search sequence).</a:t>
            </a:r>
          </a:p>
          <a:p>
            <a:endParaRPr lang="en-US" sz="200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DA0459C0-30D6-F8B8-ED53-B2F1CE9E59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2770543"/>
            <a:ext cx="5150277" cy="3141668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197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7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B037D17F-42C7-8CCE-CB99-D84D7DD6A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633" y="523720"/>
            <a:ext cx="9688296" cy="456774"/>
          </a:xfrm>
        </p:spPr>
        <p:txBody>
          <a:bodyPr anchor="b">
            <a:normAutofit fontScale="90000"/>
          </a:bodyPr>
          <a:lstStyle/>
          <a:p>
            <a:r>
              <a:rPr lang="en-US" sz="4000" dirty="0"/>
              <a:t>Structural Anatomy of a Man Page</a:t>
            </a:r>
          </a:p>
        </p:txBody>
      </p:sp>
      <p:graphicFrame>
        <p:nvGraphicFramePr>
          <p:cNvPr id="4" name="İçerik Yer Tutucusu 3">
            <a:extLst>
              <a:ext uri="{FF2B5EF4-FFF2-40B4-BE49-F238E27FC236}">
                <a16:creationId xmlns:a16="http://schemas.microsoft.com/office/drawing/2014/main" id="{E07CA971-EB65-8CC3-66A5-2462BD1E31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0265016"/>
              </p:ext>
            </p:extLst>
          </p:nvPr>
        </p:nvGraphicFramePr>
        <p:xfrm>
          <a:off x="204907" y="919780"/>
          <a:ext cx="8567086" cy="5414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83543">
                  <a:extLst>
                    <a:ext uri="{9D8B030D-6E8A-4147-A177-3AD203B41FA5}">
                      <a16:colId xmlns:a16="http://schemas.microsoft.com/office/drawing/2014/main" val="3548212017"/>
                    </a:ext>
                  </a:extLst>
                </a:gridCol>
                <a:gridCol w="4283543">
                  <a:extLst>
                    <a:ext uri="{9D8B030D-6E8A-4147-A177-3AD203B41FA5}">
                      <a16:colId xmlns:a16="http://schemas.microsoft.com/office/drawing/2014/main" val="4191293030"/>
                    </a:ext>
                  </a:extLst>
                </a:gridCol>
              </a:tblGrid>
              <a:tr h="276703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Heading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615" marR="58615" marT="39077" marB="3907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Description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615" marR="58615" marT="39077" marB="39077" anchor="ctr"/>
                </a:tc>
                <a:extLst>
                  <a:ext uri="{0D108BD9-81ED-4DB2-BD59-A6C34878D82A}">
                    <a16:rowId xmlns:a16="http://schemas.microsoft.com/office/drawing/2014/main" val="2127478784"/>
                  </a:ext>
                </a:extLst>
              </a:tr>
              <a:tr h="454583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NAME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615" marR="58615" marT="39077" marB="3907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Subject name (command or file) paired with a brief definition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615" marR="58615" marT="39077" marB="39077" anchor="ctr"/>
                </a:tc>
                <a:extLst>
                  <a:ext uri="{0D108BD9-81ED-4DB2-BD59-A6C34878D82A}">
                    <a16:rowId xmlns:a16="http://schemas.microsoft.com/office/drawing/2014/main" val="2380744431"/>
                  </a:ext>
                </a:extLst>
              </a:tr>
              <a:tr h="454583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SYNOPSIS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615" marR="58615" marT="39077" marB="3907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Syntax summary illustrating execution patterns, flags, and targets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615" marR="58615" marT="39077" marB="39077" anchor="ctr"/>
                </a:tc>
                <a:extLst>
                  <a:ext uri="{0D108BD9-81ED-4DB2-BD59-A6C34878D82A}">
                    <a16:rowId xmlns:a16="http://schemas.microsoft.com/office/drawing/2014/main" val="48259868"/>
                  </a:ext>
                </a:extLst>
              </a:tr>
              <a:tr h="454583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DESCRIPTION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615" marR="58615" marT="39077" marB="3907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In-depth narrative providing a fundamental understanding of the topic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615" marR="58615" marT="39077" marB="39077" anchor="ctr"/>
                </a:tc>
                <a:extLst>
                  <a:ext uri="{0D108BD9-81ED-4DB2-BD59-A6C34878D82A}">
                    <a16:rowId xmlns:a16="http://schemas.microsoft.com/office/drawing/2014/main" val="3257514960"/>
                  </a:ext>
                </a:extLst>
              </a:tr>
              <a:tr h="454583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OPTIONS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615" marR="58615" marT="39077" marB="3907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Comprehensive explanation of all execution options and flags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615" marR="58615" marT="39077" marB="39077" anchor="ctr"/>
                </a:tc>
                <a:extLst>
                  <a:ext uri="{0D108BD9-81ED-4DB2-BD59-A6C34878D82A}">
                    <a16:rowId xmlns:a16="http://schemas.microsoft.com/office/drawing/2014/main" val="1557985395"/>
                  </a:ext>
                </a:extLst>
              </a:tr>
              <a:tr h="454583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EXAMPLES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615" marR="58615" marT="39077" marB="3907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Real-world usage demonstrations for the utility, function, or file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615" marR="58615" marT="39077" marB="39077" anchor="ctr"/>
                </a:tc>
                <a:extLst>
                  <a:ext uri="{0D108BD9-81ED-4DB2-BD59-A6C34878D82A}">
                    <a16:rowId xmlns:a16="http://schemas.microsoft.com/office/drawing/2014/main" val="1770143874"/>
                  </a:ext>
                </a:extLst>
              </a:tr>
              <a:tr h="454583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FILES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615" marR="58615" marT="39077" marB="3907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Listing of configuration files and system paths linked to the topic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615" marR="58615" marT="39077" marB="39077" anchor="ctr"/>
                </a:tc>
                <a:extLst>
                  <a:ext uri="{0D108BD9-81ED-4DB2-BD59-A6C34878D82A}">
                    <a16:rowId xmlns:a16="http://schemas.microsoft.com/office/drawing/2014/main" val="107864726"/>
                  </a:ext>
                </a:extLst>
              </a:tr>
              <a:tr h="454583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SEE ALSO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615" marR="58615" marT="39077" marB="3907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Cross-references to related topics, standards, or documentation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615" marR="58615" marT="39077" marB="39077" anchor="ctr"/>
                </a:tc>
                <a:extLst>
                  <a:ext uri="{0D108BD9-81ED-4DB2-BD59-A6C34878D82A}">
                    <a16:rowId xmlns:a16="http://schemas.microsoft.com/office/drawing/2014/main" val="1596864574"/>
                  </a:ext>
                </a:extLst>
              </a:tr>
              <a:tr h="454583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BUGS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615" marR="58615" marT="39077" marB="3907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Documented software flaws, operational limitations, or caveats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615" marR="58615" marT="39077" marB="39077" anchor="ctr"/>
                </a:tc>
                <a:extLst>
                  <a:ext uri="{0D108BD9-81ED-4DB2-BD59-A6C34878D82A}">
                    <a16:rowId xmlns:a16="http://schemas.microsoft.com/office/drawing/2014/main" val="2538294228"/>
                  </a:ext>
                </a:extLst>
              </a:tr>
              <a:tr h="454583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AUTHOR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615" marR="58615" marT="39077" marB="39077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Attribution details for contributors to the project or documentation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615" marR="58615" marT="39077" marB="39077" anchor="ctr"/>
                </a:tc>
                <a:extLst>
                  <a:ext uri="{0D108BD9-81ED-4DB2-BD59-A6C34878D82A}">
                    <a16:rowId xmlns:a16="http://schemas.microsoft.com/office/drawing/2014/main" val="3191297085"/>
                  </a:ext>
                </a:extLst>
              </a:tr>
            </a:tbl>
          </a:graphicData>
        </a:graphic>
      </p:graphicFrame>
      <p:sp>
        <p:nvSpPr>
          <p:cNvPr id="20" name="Rectangle 9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1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642BA109-AA43-3358-68E8-2AA929E9F7B4}"/>
              </a:ext>
            </a:extLst>
          </p:cNvPr>
          <p:cNvSpPr txBox="1"/>
          <p:nvPr/>
        </p:nvSpPr>
        <p:spPr>
          <a:xfrm>
            <a:off x="9424758" y="3810585"/>
            <a:ext cx="240914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Note: Headings follow a consistent order across manuals, though headings that do not apply to a specific topic are omitted.</a:t>
            </a:r>
          </a:p>
        </p:txBody>
      </p:sp>
      <p:pic>
        <p:nvPicPr>
          <p:cNvPr id="7" name="Grafik 6" descr="Yapışkan Not Kağıdı ana hat">
            <a:extLst>
              <a:ext uri="{FF2B5EF4-FFF2-40B4-BE49-F238E27FC236}">
                <a16:creationId xmlns:a16="http://schemas.microsoft.com/office/drawing/2014/main" id="{5B2421B6-C7B5-67A4-4C7B-81514CCD73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33300" y="3810585"/>
            <a:ext cx="456774" cy="456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264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DBCC0CC-CCF2-5843-41CE-269F54223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Navigation Controls &amp; Pattern Searching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İçerik Yer Tutucusu 2">
                <a:extLst>
                  <a:ext uri="{FF2B5EF4-FFF2-40B4-BE49-F238E27FC236}">
                    <a16:creationId xmlns:a16="http://schemas.microsoft.com/office/drawing/2014/main" id="{8D7AD9A4-F08E-386D-C0DB-80DC28A83E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93426" y="2067966"/>
                <a:ext cx="5067925" cy="4110480"/>
              </a:xfrm>
            </p:spPr>
            <p:txBody>
              <a:bodyPr>
                <a:normAutofit fontScale="70000" lnSpcReduction="20000"/>
              </a:bodyPr>
              <a:lstStyle/>
              <a:p>
                <a:pPr marL="0" marR="0" lvl="0" indent="0" algn="just">
                  <a:buNone/>
                </a:pPr>
                <a:r>
                  <a:rPr lang="en-US" b="1" dirty="0">
                    <a:effectLst/>
                    <a:latin typeface="Google Sans Text"/>
                  </a:rPr>
                  <a:t>Full Screen:</a:t>
                </a:r>
                <a:endParaRPr lang="en-US" dirty="0">
                  <a:effectLst/>
                  <a:latin typeface="Google Sans Text"/>
                </a:endParaRPr>
              </a:p>
              <a:p>
                <a:pPr marL="0" marR="0" lvl="1" indent="0" algn="just">
                  <a:buNone/>
                </a:pPr>
                <a:r>
                  <a:rPr lang="en-US" b="1" dirty="0">
                    <a:effectLst/>
                    <a:latin typeface="Google Sans Text"/>
                  </a:rPr>
                  <a:t>Spacebar</a:t>
                </a:r>
                <a:r>
                  <a:rPr lang="en-US" dirty="0">
                    <a:effectLst/>
                    <a:latin typeface="Google Sans Text"/>
                  </a:rPr>
                  <a:t> / </a:t>
                </a:r>
                <a:r>
                  <a:rPr lang="en-US" b="1" dirty="0" err="1">
                    <a:effectLst/>
                    <a:latin typeface="Google Sans Text"/>
                  </a:rPr>
                  <a:t>PageDown</a:t>
                </a:r>
                <a:r>
                  <a:rPr lang="en-US" b="1" dirty="0">
                    <a:effectLst/>
                    <a:latin typeface="Google Sans Text"/>
                  </a:rPr>
                  <a:t>:</a:t>
                </a:r>
                <a:r>
                  <a:rPr lang="en-US" dirty="0">
                    <a:effectLst/>
                    <a:latin typeface="Google Sans Text"/>
                  </a:rPr>
                  <a:t> Scroll forward (down) one full screen.</a:t>
                </a:r>
              </a:p>
              <a:p>
                <a:pPr marL="0" marR="0" lvl="1" indent="0" algn="just">
                  <a:buNone/>
                </a:pPr>
                <a:r>
                  <a:rPr lang="en-US" b="1" dirty="0" err="1">
                    <a:effectLst/>
                    <a:latin typeface="Google Sans Text"/>
                  </a:rPr>
                  <a:t>PageUp</a:t>
                </a:r>
                <a:r>
                  <a:rPr lang="en-US" b="1" dirty="0">
                    <a:effectLst/>
                    <a:latin typeface="Google Sans Text"/>
                  </a:rPr>
                  <a:t>:</a:t>
                </a:r>
                <a:r>
                  <a:rPr lang="en-US" dirty="0">
                    <a:effectLst/>
                    <a:latin typeface="Google Sans Text"/>
                  </a:rPr>
                  <a:t> Scroll backward (up) one full screen.</a:t>
                </a:r>
              </a:p>
              <a:p>
                <a:pPr marL="0" marR="0" lvl="0" indent="0" algn="just">
                  <a:buNone/>
                </a:pPr>
                <a:r>
                  <a:rPr lang="en-US" b="1" dirty="0">
                    <a:effectLst/>
                    <a:latin typeface="Google Sans Text"/>
                  </a:rPr>
                  <a:t>Half Screen:</a:t>
                </a:r>
                <a:endParaRPr lang="en-US" dirty="0">
                  <a:effectLst/>
                  <a:latin typeface="Google Sans Text"/>
                </a:endParaRPr>
              </a:p>
              <a:p>
                <a:pPr marL="0" marR="0" lvl="1" indent="0" algn="just">
                  <a:buNone/>
                </a:pPr>
                <a:r>
                  <a:rPr lang="en-US" b="1" dirty="0">
                    <a:effectLst/>
                    <a:latin typeface="Google Sans Text"/>
                  </a:rPr>
                  <a:t>d:</a:t>
                </a:r>
                <a:r>
                  <a:rPr lang="en-US" dirty="0">
                    <a:effectLst/>
                    <a:latin typeface="Google Sans Text"/>
                  </a:rPr>
                  <a:t> Scroll forward one half-screen.</a:t>
                </a:r>
              </a:p>
              <a:p>
                <a:pPr marL="0" marR="0" lvl="1" indent="0" algn="just">
                  <a:buNone/>
                </a:pPr>
                <a:r>
                  <a:rPr lang="en-US" b="1" dirty="0">
                    <a:effectLst/>
                    <a:latin typeface="Google Sans Text"/>
                  </a:rPr>
                  <a:t>u:</a:t>
                </a:r>
                <a:r>
                  <a:rPr lang="en-US" dirty="0">
                    <a:effectLst/>
                    <a:latin typeface="Google Sans Text"/>
                  </a:rPr>
                  <a:t> Scroll backward one half-screen.</a:t>
                </a:r>
              </a:p>
              <a:p>
                <a:pPr marL="0" marR="0" lvl="0" indent="0" algn="just">
                  <a:buNone/>
                </a:pPr>
                <a:r>
                  <a:rPr lang="en-US" b="1" dirty="0">
                    <a:effectLst/>
                    <a:latin typeface="Google Sans Text"/>
                  </a:rPr>
                  <a:t>Line by Line:</a:t>
                </a:r>
                <a:endParaRPr lang="en-US" dirty="0">
                  <a:effectLst/>
                  <a:latin typeface="Google Sans Text"/>
                </a:endParaRPr>
              </a:p>
              <a:p>
                <a:pPr marL="0" marR="0" lvl="1" indent="0" algn="just">
                  <a:buNone/>
                </a:pPr>
                <a:r>
                  <a:rPr lang="en-US" b="1" dirty="0" err="1">
                    <a:effectLst/>
                    <a:latin typeface="Google Sans Text"/>
                  </a:rPr>
                  <a:t>DownArrow</a:t>
                </a:r>
                <a:r>
                  <a:rPr lang="en-US" b="1" dirty="0">
                    <a:effectLst/>
                    <a:latin typeface="Google Sans Text"/>
                  </a:rPr>
                  <a:t> (</a:t>
                </a:r>
                <a14:m>
                  <m:oMath xmlns:m="http://schemas.openxmlformats.org/officeDocument/2006/math">
                    <m:r>
                      <a:rPr lang="en-US" smtClean="0">
                        <a:latin typeface="Cambria Math" panose="02040503050406030204" pitchFamily="18" charset="0"/>
                      </a:rPr>
                      <m:t>↓</m:t>
                    </m:r>
                  </m:oMath>
                </a14:m>
                <a:r>
                  <a:rPr lang="en-US" b="1" dirty="0">
                    <a:effectLst/>
                    <a:latin typeface="Google Sans Text"/>
                  </a:rPr>
                  <a:t>):</a:t>
                </a:r>
                <a:r>
                  <a:rPr lang="en-US" dirty="0">
                    <a:effectLst/>
                    <a:latin typeface="Google Sans Text"/>
                  </a:rPr>
                  <a:t> Scroll down one line.</a:t>
                </a:r>
              </a:p>
              <a:p>
                <a:pPr marL="0" marR="0" lvl="1" indent="0" algn="just">
                  <a:buNone/>
                </a:pPr>
                <a:r>
                  <a:rPr lang="en-US" b="1" dirty="0" err="1">
                    <a:effectLst/>
                    <a:latin typeface="Google Sans Text"/>
                  </a:rPr>
                  <a:t>UpArrow</a:t>
                </a:r>
                <a:r>
                  <a:rPr lang="en-US" b="1" dirty="0">
                    <a:effectLst/>
                    <a:latin typeface="Google Sans Text"/>
                  </a:rPr>
                  <a:t> (</a:t>
                </a:r>
                <a14:m>
                  <m:oMath xmlns:m="http://schemas.openxmlformats.org/officeDocument/2006/math">
                    <m:r>
                      <a:rPr lang="en-US" smtClean="0">
                        <a:latin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lang="en-US" b="1" dirty="0">
                    <a:effectLst/>
                    <a:latin typeface="Google Sans Text"/>
                  </a:rPr>
                  <a:t>):</a:t>
                </a:r>
                <a:r>
                  <a:rPr lang="en-US" dirty="0">
                    <a:effectLst/>
                    <a:latin typeface="Google Sans Text"/>
                  </a:rPr>
                  <a:t> Scroll up one line.</a:t>
                </a:r>
              </a:p>
              <a:p>
                <a:pPr marL="0" marR="0" lvl="0" indent="0" algn="just">
                  <a:buNone/>
                </a:pPr>
                <a:r>
                  <a:rPr lang="en-US" b="1" dirty="0">
                    <a:effectLst/>
                    <a:latin typeface="Google Sans Text"/>
                  </a:rPr>
                  <a:t>Page Extremes &amp; Exit:</a:t>
                </a:r>
                <a:endParaRPr lang="en-US" dirty="0">
                  <a:effectLst/>
                  <a:latin typeface="Google Sans Text"/>
                </a:endParaRPr>
              </a:p>
              <a:p>
                <a:pPr marL="0" marR="0" lvl="1" indent="0" algn="just">
                  <a:buNone/>
                </a:pPr>
                <a:r>
                  <a:rPr lang="en-US" b="1" dirty="0">
                    <a:effectLst/>
                    <a:latin typeface="Google Sans Text"/>
                  </a:rPr>
                  <a:t>g:</a:t>
                </a:r>
                <a:r>
                  <a:rPr lang="en-US" dirty="0">
                    <a:effectLst/>
                    <a:latin typeface="Google Sans Text"/>
                  </a:rPr>
                  <a:t> Jump directly to the start of the man page.</a:t>
                </a:r>
              </a:p>
              <a:p>
                <a:pPr marL="0" marR="0" lvl="1" indent="0" algn="just">
                  <a:buNone/>
                </a:pPr>
                <a:r>
                  <a:rPr lang="en-US" b="1" dirty="0">
                    <a:effectLst/>
                    <a:latin typeface="Google Sans Text"/>
                  </a:rPr>
                  <a:t>Shift + G:</a:t>
                </a:r>
                <a:r>
                  <a:rPr lang="en-US" dirty="0">
                    <a:effectLst/>
                    <a:latin typeface="Google Sans Text"/>
                  </a:rPr>
                  <a:t> Jump directly to the end of the man page.</a:t>
                </a:r>
              </a:p>
              <a:p>
                <a:pPr marL="0" marR="0" lvl="1" indent="0" algn="just">
                  <a:buNone/>
                </a:pPr>
                <a:r>
                  <a:rPr lang="en-US" b="1" dirty="0">
                    <a:effectLst/>
                    <a:latin typeface="Google Sans Text"/>
                  </a:rPr>
                  <a:t>q:</a:t>
                </a:r>
                <a:r>
                  <a:rPr lang="en-US" dirty="0">
                    <a:effectLst/>
                    <a:latin typeface="Google Sans Text"/>
                  </a:rPr>
                  <a:t> Exit the man page and return to the shell prompt.</a:t>
                </a:r>
              </a:p>
              <a:p>
                <a:pPr algn="just"/>
                <a:endParaRPr lang="en-US" dirty="0"/>
              </a:p>
            </p:txBody>
          </p:sp>
        </mc:Choice>
        <mc:Fallback xmlns="">
          <p:sp>
            <p:nvSpPr>
              <p:cNvPr id="3" name="İçerik Yer Tutucusu 2">
                <a:extLst>
                  <a:ext uri="{FF2B5EF4-FFF2-40B4-BE49-F238E27FC236}">
                    <a16:creationId xmlns:a16="http://schemas.microsoft.com/office/drawing/2014/main" id="{8D7AD9A4-F08E-386D-C0DB-80DC28A83E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3426" y="2067966"/>
                <a:ext cx="5067925" cy="4110480"/>
              </a:xfrm>
              <a:blipFill>
                <a:blip r:embed="rId2"/>
                <a:stretch>
                  <a:fillRect l="-1324" t="-2667" r="-7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İçerik Yer Tutucusu 2">
            <a:extLst>
              <a:ext uri="{FF2B5EF4-FFF2-40B4-BE49-F238E27FC236}">
                <a16:creationId xmlns:a16="http://schemas.microsoft.com/office/drawing/2014/main" id="{C72249C1-2C73-49C0-6EF6-CFB3CCCBE96D}"/>
              </a:ext>
            </a:extLst>
          </p:cNvPr>
          <p:cNvSpPr txBox="1">
            <a:spLocks/>
          </p:cNvSpPr>
          <p:nvPr/>
        </p:nvSpPr>
        <p:spPr>
          <a:xfrm>
            <a:off x="6096000" y="2067966"/>
            <a:ext cx="5067925" cy="4110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>
              <a:buNone/>
            </a:pPr>
            <a:r>
              <a:rPr lang="en-US" sz="2000" b="1"/>
              <a:t>Search Execution:</a:t>
            </a:r>
            <a:endParaRPr lang="tr-TR" sz="2000"/>
          </a:p>
          <a:p>
            <a:pPr marL="0" lvl="0" indent="0" algn="just">
              <a:buNone/>
            </a:pPr>
            <a:r>
              <a:rPr lang="en-US" sz="1700" b="1"/>
              <a:t>/string:</a:t>
            </a:r>
            <a:r>
              <a:rPr lang="en-US" sz="1700"/>
              <a:t> Initiates a forward search for the specified pattern.</a:t>
            </a:r>
            <a:r>
              <a:rPr lang="tr-TR" sz="1700"/>
              <a:t>                                                                                                   </a:t>
            </a:r>
            <a:r>
              <a:rPr lang="en-US" sz="1700" b="1"/>
              <a:t>n:</a:t>
            </a:r>
            <a:r>
              <a:rPr lang="en-US" sz="1700"/>
              <a:t> Advances to the next search match forward.</a:t>
            </a:r>
            <a:r>
              <a:rPr lang="tr-TR" sz="1700"/>
              <a:t>         </a:t>
            </a:r>
            <a:r>
              <a:rPr lang="en-US" sz="1700" b="1"/>
              <a:t>Shift + N:</a:t>
            </a:r>
            <a:r>
              <a:rPr lang="en-US" sz="1700"/>
              <a:t> Repeats the search backward toward the top.</a:t>
            </a:r>
          </a:p>
          <a:p>
            <a:pPr marL="0" lvl="0" indent="0" algn="just">
              <a:buNone/>
            </a:pPr>
            <a:r>
              <a:rPr lang="en-US" sz="2000" b="1"/>
              <a:t>Pattern Matching Caveat:</a:t>
            </a:r>
            <a:endParaRPr lang="tr-TR" sz="2000" b="1"/>
          </a:p>
          <a:p>
            <a:pPr marL="0" lvl="0" indent="0" algn="just">
              <a:buNone/>
            </a:pPr>
            <a:r>
              <a:rPr lang="en-US" sz="1700"/>
              <a:t>Searches support </a:t>
            </a:r>
            <a:r>
              <a:rPr lang="en-US" sz="1700" b="1"/>
              <a:t>regular expressions</a:t>
            </a:r>
            <a:r>
              <a:rPr lang="en-US" sz="1700"/>
              <a:t> with metacharacters ($, *, ., ^).</a:t>
            </a:r>
            <a:r>
              <a:rPr lang="tr-TR" sz="1700"/>
              <a:t>                                                     </a:t>
            </a:r>
            <a:r>
              <a:rPr lang="en-US" sz="1700"/>
              <a:t>Literal strings containing these symbols (e.g., make $$$) can yield unexpected results.</a:t>
            </a:r>
            <a:r>
              <a:rPr lang="tr-TR" sz="1700"/>
              <a:t>                   </a:t>
            </a:r>
            <a:r>
              <a:rPr lang="en-US" sz="1700"/>
              <a:t>Reference </a:t>
            </a:r>
            <a:r>
              <a:rPr lang="en-US" sz="1700" b="1"/>
              <a:t>regex(7)</a:t>
            </a:r>
            <a:r>
              <a:rPr lang="en-US" sz="1700"/>
              <a:t> for full pattern syntax and usage rules.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4189985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60C28F8-1002-66C2-1B3C-75D6D2CE0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Keyword Search Mechanisms: Titles, Summaries &amp; Descriptions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15CFF6F-8058-4621-1673-913BB4F712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962400" cy="1969135"/>
          </a:xfrm>
        </p:spPr>
        <p:txBody>
          <a:bodyPr>
            <a:normAutofit fontScale="70000" lnSpcReduction="20000"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Target Scope:</a:t>
            </a:r>
            <a:r>
              <a:rPr lang="en-US" dirty="0"/>
              <a:t> Searches strictly within manual page titles.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Equivalent Command:</a:t>
            </a:r>
            <a:r>
              <a:rPr lang="en-US" dirty="0"/>
              <a:t> </a:t>
            </a:r>
            <a:r>
              <a:rPr lang="en-US" dirty="0" err="1">
                <a:latin typeface="Courier New" panose="02070309020205020404" pitchFamily="49" charset="0"/>
              </a:rPr>
              <a:t>whatis</a:t>
            </a:r>
            <a:endParaRPr lang="en-US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Output Format:</a:t>
            </a:r>
            <a:r>
              <a:rPr lang="en-US" dirty="0"/>
              <a:t> Displays a one-line summary for each matching topic:</a:t>
            </a:r>
          </a:p>
          <a:p>
            <a:endParaRPr lang="en-US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47272E75-30F3-F529-DFB3-A010BBB79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2" y="4142408"/>
            <a:ext cx="5554980" cy="2161208"/>
          </a:xfrm>
          <a:prstGeom prst="rect">
            <a:avLst/>
          </a:prstGeom>
        </p:spPr>
      </p:pic>
      <p:sp>
        <p:nvSpPr>
          <p:cNvPr id="6" name="İçerik Yer Tutucusu 2">
            <a:extLst>
              <a:ext uri="{FF2B5EF4-FFF2-40B4-BE49-F238E27FC236}">
                <a16:creationId xmlns:a16="http://schemas.microsoft.com/office/drawing/2014/main" id="{56765B2A-E588-394E-70CB-17005FA08269}"/>
              </a:ext>
            </a:extLst>
          </p:cNvPr>
          <p:cNvSpPr txBox="1">
            <a:spLocks/>
          </p:cNvSpPr>
          <p:nvPr/>
        </p:nvSpPr>
        <p:spPr>
          <a:xfrm>
            <a:off x="7391400" y="1825624"/>
            <a:ext cx="3962400" cy="1969135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b="1" dirty="0"/>
              <a:t>Target Scope:</a:t>
            </a:r>
            <a:r>
              <a:rPr lang="en-US" dirty="0"/>
              <a:t> Searches both page titles and summary descriptions.</a:t>
            </a:r>
          </a:p>
          <a:p>
            <a:pPr lvl="0"/>
            <a:r>
              <a:rPr lang="en-US" b="1" dirty="0"/>
              <a:t>Equivalent Command:</a:t>
            </a:r>
            <a:r>
              <a:rPr lang="en-US" dirty="0"/>
              <a:t> apropos</a:t>
            </a:r>
          </a:p>
          <a:p>
            <a:pPr lvl="0"/>
            <a:r>
              <a:rPr lang="en-US" b="1" dirty="0"/>
              <a:t>Pattern Matching:</a:t>
            </a:r>
            <a:r>
              <a:rPr lang="en-US" dirty="0"/>
              <a:t> Keywords are processed as </a:t>
            </a:r>
            <a:r>
              <a:rPr lang="en-US" b="1" dirty="0"/>
              <a:t>regular expressions</a:t>
            </a:r>
            <a:r>
              <a:rPr lang="en-US" dirty="0"/>
              <a:t>, locating topics even without knowing the exact command name:</a:t>
            </a:r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12870C0E-750C-832C-CD5A-0AA14A38A6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8898" y="4142408"/>
            <a:ext cx="5554980" cy="216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3181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6375FE48-286E-7655-0B86-F5CA302BF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Full-Text Page Search &amp; Search Indexing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6FD3275-CC1B-A2D9-45AE-DEB8EDA603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3561" y="2101245"/>
            <a:ext cx="4736439" cy="1327756"/>
          </a:xfrm>
        </p:spPr>
        <p:txBody>
          <a:bodyPr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2000" b="1" dirty="0"/>
              <a:t>Interactive Full-Text Page Browsing (</a:t>
            </a:r>
            <a:r>
              <a:rPr lang="en-US" b="1" dirty="0"/>
              <a:t>man -K</a:t>
            </a:r>
            <a:r>
              <a:rPr lang="en-US" sz="2000" b="1" dirty="0"/>
              <a:t>):</a:t>
            </a:r>
            <a:endParaRPr lang="en-US" sz="2000" dirty="0"/>
          </a:p>
          <a:p>
            <a:pPr marL="0" lvl="0" indent="0">
              <a:buNone/>
            </a:pPr>
            <a:r>
              <a:rPr lang="en-US" sz="2000" dirty="0"/>
              <a:t>Displays matching pages sequentially; pressing </a:t>
            </a:r>
            <a:r>
              <a:rPr lang="en-US" sz="2000" b="1" dirty="0"/>
              <a:t>Q</a:t>
            </a:r>
            <a:r>
              <a:rPr lang="en-US" sz="2000" dirty="0"/>
              <a:t> exits the current document to display the next match.</a:t>
            </a:r>
          </a:p>
          <a:p>
            <a:pPr marL="0" lvl="0" indent="0">
              <a:buNone/>
            </a:pPr>
            <a:r>
              <a:rPr lang="en-US" sz="2000" b="1" dirty="0"/>
              <a:t>Interactive Controls:</a:t>
            </a:r>
            <a:r>
              <a:rPr lang="en-US" sz="2000" dirty="0"/>
              <a:t> View (</a:t>
            </a:r>
            <a:r>
              <a:rPr lang="en-US" dirty="0"/>
              <a:t>Enter/Return</a:t>
            </a:r>
            <a:r>
              <a:rPr lang="en-US" sz="2000" dirty="0"/>
              <a:t>), Skip (</a:t>
            </a:r>
            <a:r>
              <a:rPr lang="en-US" dirty="0"/>
              <a:t>Ctrl + D</a:t>
            </a:r>
            <a:r>
              <a:rPr lang="en-US" sz="2000" dirty="0"/>
              <a:t>), or Quit (</a:t>
            </a:r>
            <a:r>
              <a:rPr lang="en-US" dirty="0"/>
              <a:t>Ctrl + C</a:t>
            </a:r>
            <a:r>
              <a:rPr lang="en-US" sz="2000" dirty="0"/>
              <a:t>):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33B73511-9E03-E490-2F31-659FA602FEDA}"/>
              </a:ext>
            </a:extLst>
          </p:cNvPr>
          <p:cNvSpPr txBox="1"/>
          <p:nvPr/>
        </p:nvSpPr>
        <p:spPr>
          <a:xfrm>
            <a:off x="227384" y="1916579"/>
            <a:ext cx="6092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b="1" dirty="0"/>
              <a:t>K</a:t>
            </a:r>
            <a:r>
              <a:rPr lang="en-US" b="1" dirty="0" err="1"/>
              <a:t>eyword</a:t>
            </a:r>
            <a:r>
              <a:rPr lang="en-US" b="1" dirty="0"/>
              <a:t> Search Capabilities Overview:</a:t>
            </a:r>
          </a:p>
        </p:txBody>
      </p:sp>
      <p:graphicFrame>
        <p:nvGraphicFramePr>
          <p:cNvPr id="9" name="Tablo 8">
            <a:extLst>
              <a:ext uri="{FF2B5EF4-FFF2-40B4-BE49-F238E27FC236}">
                <a16:creationId xmlns:a16="http://schemas.microsoft.com/office/drawing/2014/main" id="{95C21C8B-1637-6411-C535-EC4FA3BF7C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5393218"/>
              </p:ext>
            </p:extLst>
          </p:nvPr>
        </p:nvGraphicFramePr>
        <p:xfrm>
          <a:off x="227384" y="2491865"/>
          <a:ext cx="6294120" cy="3931920"/>
        </p:xfrm>
        <a:graphic>
          <a:graphicData uri="http://schemas.openxmlformats.org/drawingml/2006/table">
            <a:tbl>
              <a:tblPr/>
              <a:tblGrid>
                <a:gridCol w="1573530">
                  <a:extLst>
                    <a:ext uri="{9D8B030D-6E8A-4147-A177-3AD203B41FA5}">
                      <a16:colId xmlns:a16="http://schemas.microsoft.com/office/drawing/2014/main" val="2502383266"/>
                    </a:ext>
                  </a:extLst>
                </a:gridCol>
                <a:gridCol w="1573530">
                  <a:extLst>
                    <a:ext uri="{9D8B030D-6E8A-4147-A177-3AD203B41FA5}">
                      <a16:colId xmlns:a16="http://schemas.microsoft.com/office/drawing/2014/main" val="3682159074"/>
                    </a:ext>
                  </a:extLst>
                </a:gridCol>
                <a:gridCol w="1573530">
                  <a:extLst>
                    <a:ext uri="{9D8B030D-6E8A-4147-A177-3AD203B41FA5}">
                      <a16:colId xmlns:a16="http://schemas.microsoft.com/office/drawing/2014/main" val="3952542346"/>
                    </a:ext>
                  </a:extLst>
                </a:gridCol>
                <a:gridCol w="1573530">
                  <a:extLst>
                    <a:ext uri="{9D8B030D-6E8A-4147-A177-3AD203B41FA5}">
                      <a16:colId xmlns:a16="http://schemas.microsoft.com/office/drawing/2014/main" val="3093284406"/>
                    </a:ext>
                  </a:extLst>
                </a:gridCol>
              </a:tblGrid>
              <a:tr h="377519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Command Flag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Equivalent Utility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Search Scope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System Resource Usage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1938936"/>
                  </a:ext>
                </a:extLst>
              </a:tr>
              <a:tr h="377519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2000" b="0" i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-f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2000" b="0" i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whatis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Titles only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Minimal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0587559"/>
                  </a:ext>
                </a:extLst>
              </a:tr>
              <a:tr h="620209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2000" b="0" i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-k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2000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apropos</a:t>
                      </a:r>
                      <a:endParaRPr lang="en-US" sz="2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Titles and descriptions (Regex)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Moderate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1298973"/>
                  </a:ext>
                </a:extLst>
              </a:tr>
              <a:tr h="620209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2000" b="0" i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-K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2000" i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(None)</a:t>
                      </a:r>
                      <a:endParaRPr lang="en-US" sz="2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Full text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of entire manual pages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High (consumes more resources and time)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999629"/>
                  </a:ext>
                </a:extLst>
              </a:tr>
            </a:tbl>
          </a:graphicData>
        </a:graphic>
      </p:graphicFrame>
      <p:pic>
        <p:nvPicPr>
          <p:cNvPr id="13" name="Resim 12">
            <a:extLst>
              <a:ext uri="{FF2B5EF4-FFF2-40B4-BE49-F238E27FC236}">
                <a16:creationId xmlns:a16="http://schemas.microsoft.com/office/drawing/2014/main" id="{61743D6D-18E1-F280-F081-A82F9257B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236" y="3429000"/>
            <a:ext cx="5326380" cy="1619422"/>
          </a:xfrm>
          <a:prstGeom prst="rect">
            <a:avLst/>
          </a:prstGeom>
        </p:spPr>
      </p:pic>
      <p:sp>
        <p:nvSpPr>
          <p:cNvPr id="15" name="İçerik Yer Tutucusu 2">
            <a:extLst>
              <a:ext uri="{FF2B5EF4-FFF2-40B4-BE49-F238E27FC236}">
                <a16:creationId xmlns:a16="http://schemas.microsoft.com/office/drawing/2014/main" id="{44E7F7AD-6B88-8ADF-49C0-F559AEA339A7}"/>
              </a:ext>
            </a:extLst>
          </p:cNvPr>
          <p:cNvSpPr txBox="1">
            <a:spLocks/>
          </p:cNvSpPr>
          <p:nvPr/>
        </p:nvSpPr>
        <p:spPr>
          <a:xfrm>
            <a:off x="6693561" y="5289333"/>
            <a:ext cx="4736439" cy="13277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/>
              <a:t>Underlying Search Index Architecture:</a:t>
            </a:r>
            <a:endParaRPr lang="en-US" sz="1400" dirty="0"/>
          </a:p>
          <a:p>
            <a:pPr marL="0" lvl="0" indent="0">
              <a:buNone/>
            </a:pPr>
            <a:r>
              <a:rPr lang="en-US" sz="1400" dirty="0"/>
              <a:t>Keyword searches rely on an index database generated by the </a:t>
            </a:r>
            <a:r>
              <a:rPr lang="en-US" sz="1400" b="1" dirty="0" err="1"/>
              <a:t>mandb</a:t>
            </a:r>
            <a:r>
              <a:rPr lang="en-US" sz="1400" b="1" dirty="0"/>
              <a:t>(8)</a:t>
            </a:r>
            <a:r>
              <a:rPr lang="en-US" sz="1400" dirty="0"/>
              <a:t> command (must be executed as root).</a:t>
            </a:r>
          </a:p>
          <a:p>
            <a:pPr marL="0" lvl="0" indent="0">
              <a:buNone/>
            </a:pPr>
            <a:r>
              <a:rPr lang="en-US" sz="1400" dirty="0"/>
              <a:t>Handled automatically by the </a:t>
            </a:r>
            <a:r>
              <a:rPr lang="en-US" sz="1400" b="1" dirty="0"/>
              <a:t>man-</a:t>
            </a:r>
            <a:r>
              <a:rPr lang="en-US" sz="1400" b="1" dirty="0" err="1"/>
              <a:t>db</a:t>
            </a:r>
            <a:r>
              <a:rPr lang="en-US" sz="1400" b="1" dirty="0"/>
              <a:t>-cache-update</a:t>
            </a:r>
            <a:r>
              <a:rPr lang="en-US" sz="1400" dirty="0"/>
              <a:t> service whenever a package containing man pages is installed.</a:t>
            </a:r>
          </a:p>
        </p:txBody>
      </p:sp>
    </p:spTree>
    <p:extLst>
      <p:ext uri="{BB962C8B-B14F-4D97-AF65-F5344CB8AC3E}">
        <p14:creationId xmlns:p14="http://schemas.microsoft.com/office/powerpoint/2010/main" val="3052068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151BC91-E63D-EC7A-D4E1-84D3301B0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Guided Exercise: Manual Pages Overview &amp; Setup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C088406-405E-827D-A135-3146862A7B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55497"/>
            <a:ext cx="3943662" cy="3510873"/>
          </a:xfrm>
        </p:spPr>
        <p:txBody>
          <a:bodyPr>
            <a:normAutofit fontScale="85000" lnSpcReduction="20000"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Exercise Goal:</a:t>
            </a:r>
            <a:r>
              <a:rPr lang="en-US" dirty="0"/>
              <a:t> Find information in local Linux system manual pages.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Core Outcome:</a:t>
            </a:r>
            <a:r>
              <a:rPr lang="en-US" dirty="0"/>
              <a:t> Search and browse the Linux manual pages to locate useful operational information.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Environment Roles: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User:</a:t>
            </a:r>
            <a:r>
              <a:rPr lang="en-US" dirty="0"/>
              <a:t> </a:t>
            </a:r>
            <a:r>
              <a:rPr lang="en-US" dirty="0">
                <a:latin typeface="Courier New" panose="02070309020205020404" pitchFamily="49" charset="0"/>
              </a:rPr>
              <a:t>student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Host:</a:t>
            </a:r>
            <a:r>
              <a:rPr lang="en-US" dirty="0"/>
              <a:t> </a:t>
            </a:r>
            <a:r>
              <a:rPr lang="en-US" dirty="0">
                <a:latin typeface="Courier New" panose="02070309020205020404" pitchFamily="49" charset="0"/>
              </a:rPr>
              <a:t>workstation</a:t>
            </a:r>
            <a:endParaRPr lang="en-US" dirty="0"/>
          </a:p>
          <a:p>
            <a:endParaRPr lang="en-US" dirty="0"/>
          </a:p>
        </p:txBody>
      </p:sp>
      <p:sp>
        <p:nvSpPr>
          <p:cNvPr id="4" name="İçerik Yer Tutucusu 2">
            <a:extLst>
              <a:ext uri="{FF2B5EF4-FFF2-40B4-BE49-F238E27FC236}">
                <a16:creationId xmlns:a16="http://schemas.microsoft.com/office/drawing/2014/main" id="{16AF251E-F5E3-E48B-00E6-602A1F925D88}"/>
              </a:ext>
            </a:extLst>
          </p:cNvPr>
          <p:cNvSpPr txBox="1">
            <a:spLocks/>
          </p:cNvSpPr>
          <p:nvPr/>
        </p:nvSpPr>
        <p:spPr>
          <a:xfrm>
            <a:off x="6342088" y="1997490"/>
            <a:ext cx="3943662" cy="3510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sz="2400" dirty="0"/>
              <a:t>Run the startup script on the workstation machine to prepare the lab environment and ensure all resources are available:</a:t>
            </a:r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19A99EF6-B3C6-5CF8-DCBC-AF3019D3B2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40" t="15402" r="5573" b="14427"/>
          <a:stretch>
            <a:fillRect/>
          </a:stretch>
        </p:blipFill>
        <p:spPr>
          <a:xfrm>
            <a:off x="6342088" y="4509978"/>
            <a:ext cx="3943662" cy="976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263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3F3BDBC4-7975-7EA0-6CB0-2D8D82AA6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US" dirty="0"/>
              <a:t>Section Distinction &amp; Command Behavior Inspection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C4FA567-0629-9684-99CA-43269ADA76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1900" b="1" dirty="0">
                <a:latin typeface="Courier New" panose="02070309020205020404" pitchFamily="49" charset="0"/>
              </a:rPr>
              <a:t>man </a:t>
            </a:r>
            <a:r>
              <a:rPr lang="en-US" sz="1900" b="1" dirty="0" err="1">
                <a:latin typeface="Courier New" panose="02070309020205020404" pitchFamily="49" charset="0"/>
              </a:rPr>
              <a:t>man</a:t>
            </a:r>
            <a:r>
              <a:rPr lang="en-US" sz="1900" b="1" dirty="0"/>
              <a:t>:</a:t>
            </a:r>
            <a:r>
              <a:rPr lang="en-US" sz="1900" dirty="0"/>
              <a:t> Displays section </a:t>
            </a:r>
            <a:r>
              <a:rPr lang="en-US" sz="1900" dirty="0">
                <a:latin typeface="Courier New" panose="02070309020205020404" pitchFamily="49" charset="0"/>
              </a:rPr>
              <a:t>(1)</a:t>
            </a:r>
            <a:r>
              <a:rPr lang="en-US" sz="1900" dirty="0"/>
              <a:t> header, confirming it documents the user command interface.</a:t>
            </a:r>
          </a:p>
          <a:p>
            <a:pPr marL="0" lvl="0" indent="0">
              <a:buNone/>
            </a:pPr>
            <a:r>
              <a:rPr lang="en-US" sz="1900" b="1" dirty="0">
                <a:latin typeface="Courier New" panose="02070309020205020404" pitchFamily="49" charset="0"/>
              </a:rPr>
              <a:t>man passwd</a:t>
            </a:r>
            <a:r>
              <a:rPr lang="en-US" sz="1900" b="1" dirty="0"/>
              <a:t> (Section 1):</a:t>
            </a:r>
            <a:r>
              <a:rPr lang="en-US" sz="1900" dirty="0"/>
              <a:t> Explains how standard users update their own password and how root modifies any account.</a:t>
            </a:r>
          </a:p>
          <a:p>
            <a:pPr marL="0" lvl="0" indent="0">
              <a:buNone/>
            </a:pPr>
            <a:r>
              <a:rPr lang="en-US" sz="1900" b="1" dirty="0">
                <a:latin typeface="Courier New" panose="02070309020205020404" pitchFamily="49" charset="0"/>
              </a:rPr>
              <a:t>man 5 passwd</a:t>
            </a:r>
            <a:r>
              <a:rPr lang="en-US" sz="1900" b="1" dirty="0"/>
              <a:t> (Section 5):</a:t>
            </a:r>
            <a:r>
              <a:rPr lang="en-US" sz="1900" dirty="0"/>
              <a:t> Documents the </a:t>
            </a:r>
            <a:r>
              <a:rPr lang="en-US" sz="1900" dirty="0">
                <a:latin typeface="Courier New" panose="02070309020205020404" pitchFamily="49" charset="0"/>
              </a:rPr>
              <a:t>/</a:t>
            </a:r>
            <a:r>
              <a:rPr lang="en-US" sz="1900" dirty="0" err="1">
                <a:latin typeface="Courier New" panose="02070309020205020404" pitchFamily="49" charset="0"/>
              </a:rPr>
              <a:t>etc</a:t>
            </a:r>
            <a:r>
              <a:rPr lang="en-US" sz="1900" dirty="0">
                <a:latin typeface="Courier New" panose="02070309020205020404" pitchFamily="49" charset="0"/>
              </a:rPr>
              <a:t>/passwd</a:t>
            </a:r>
            <a:r>
              <a:rPr lang="en-US" sz="1900" dirty="0"/>
              <a:t> file format (world-readable user map; write-restricted to superuser).</a:t>
            </a:r>
          </a:p>
          <a:p>
            <a:pPr marL="0" lvl="0" indent="0">
              <a:buNone/>
            </a:pPr>
            <a:r>
              <a:rPr lang="en-US" sz="1900" i="1" dirty="0"/>
              <a:t>Navigation Note:</a:t>
            </a:r>
            <a:r>
              <a:rPr lang="en-US" sz="1900" dirty="0"/>
              <a:t> Press </a:t>
            </a:r>
            <a:r>
              <a:rPr lang="en-US" sz="1900" b="1" dirty="0"/>
              <a:t>Q</a:t>
            </a:r>
            <a:r>
              <a:rPr lang="en-US" sz="1900" dirty="0"/>
              <a:t> to exit active manual pages.</a:t>
            </a:r>
          </a:p>
          <a:p>
            <a:pPr marL="0" indent="0">
              <a:buNone/>
            </a:pPr>
            <a:endParaRPr lang="en-US" sz="1900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ECE1E59E-B05A-56F8-9C80-CA84CDDB10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9747" y="1766386"/>
            <a:ext cx="4788505" cy="1795688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6FCC376A-A52A-183E-392E-274346602CB6}"/>
              </a:ext>
            </a:extLst>
          </p:cNvPr>
          <p:cNvSpPr txBox="1"/>
          <p:nvPr/>
        </p:nvSpPr>
        <p:spPr>
          <a:xfrm>
            <a:off x="6419537" y="3919002"/>
            <a:ext cx="544892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b="1" dirty="0"/>
              <a:t>Default Target:</a:t>
            </a:r>
            <a:r>
              <a:rPr lang="en-US" dirty="0"/>
              <a:t> Omitting the user argument defaults to running an interactive shell as </a:t>
            </a:r>
            <a:r>
              <a:rPr lang="en-US" b="1" dirty="0"/>
              <a:t>root</a:t>
            </a:r>
            <a:r>
              <a:rPr lang="en-US" dirty="0"/>
              <a:t>.</a:t>
            </a:r>
          </a:p>
          <a:p>
            <a:pPr lvl="0"/>
            <a:r>
              <a:rPr lang="en-US" b="1" dirty="0"/>
              <a:t>Single Dash (</a:t>
            </a:r>
            <a:r>
              <a:rPr lang="en-US" b="1" dirty="0">
                <a:latin typeface="Courier New" panose="02070309020205020404" pitchFamily="49" charset="0"/>
              </a:rPr>
              <a:t>-</a:t>
            </a:r>
            <a:r>
              <a:rPr lang="en-US" b="1" dirty="0"/>
              <a:t>):</a:t>
            </a:r>
            <a:r>
              <a:rPr lang="en-US" dirty="0"/>
              <a:t> Spawns a full </a:t>
            </a:r>
            <a:r>
              <a:rPr lang="en-US" b="1" dirty="0"/>
              <a:t>login shell</a:t>
            </a:r>
            <a:r>
              <a:rPr lang="en-US" dirty="0"/>
              <a:t> simulating a real login environment (omitting </a:t>
            </a:r>
            <a:r>
              <a:rPr lang="en-US" dirty="0">
                <a:latin typeface="Courier New" panose="02070309020205020404" pitchFamily="49" charset="0"/>
              </a:rPr>
              <a:t>-</a:t>
            </a:r>
            <a:r>
              <a:rPr lang="en-US" dirty="0"/>
              <a:t> creates a non-login child shell inheriting current user environment).</a:t>
            </a:r>
          </a:p>
        </p:txBody>
      </p:sp>
    </p:spTree>
    <p:extLst>
      <p:ext uri="{BB962C8B-B14F-4D97-AF65-F5344CB8AC3E}">
        <p14:creationId xmlns:p14="http://schemas.microsoft.com/office/powerpoint/2010/main" val="34787920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0A1B610-6466-A3E0-E563-32DD205BC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54833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Keyword Discovery &amp; Title Lookups</a:t>
            </a:r>
          </a:p>
        </p:txBody>
      </p:sp>
      <p:graphicFrame>
        <p:nvGraphicFramePr>
          <p:cNvPr id="4" name="İçerik Yer Tutucusu 3">
            <a:extLst>
              <a:ext uri="{FF2B5EF4-FFF2-40B4-BE49-F238E27FC236}">
                <a16:creationId xmlns:a16="http://schemas.microsoft.com/office/drawing/2014/main" id="{CD42DD37-A432-8E1B-6546-D533F3150D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7097520"/>
              </p:ext>
            </p:extLst>
          </p:nvPr>
        </p:nvGraphicFramePr>
        <p:xfrm>
          <a:off x="0" y="788870"/>
          <a:ext cx="12192000" cy="60691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25581097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1676591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808389817"/>
                    </a:ext>
                  </a:extLst>
                </a:gridCol>
              </a:tblGrid>
              <a:tr h="206536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Objective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0833" marR="50833" marT="33889" marB="33889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Command Executed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0833" marR="50833" marT="33889" marB="33889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Key Matches &amp; Discoveries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0833" marR="50833" marT="33889" marB="33889" anchor="ctr"/>
                </a:tc>
                <a:extLst>
                  <a:ext uri="{0D108BD9-81ED-4DB2-BD59-A6C34878D82A}">
                    <a16:rowId xmlns:a16="http://schemas.microsoft.com/office/drawing/2014/main" val="3632790468"/>
                  </a:ext>
                </a:extLst>
              </a:tr>
              <a:tr h="2115259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Inspect ZIP Archive Details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0833" marR="50833" marT="33889" marB="33889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$ man -k zip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0833" marR="50833" marT="33889" marB="33889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zipinfo (1): Lists detailed info about ZIP archives</a:t>
                      </a:r>
                    </a:p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br>
                        <a:rPr lang="en-US" sz="1200">
                          <a:effectLst/>
                        </a:rPr>
                      </a:br>
                      <a:endParaRPr lang="en-US" sz="1200">
                        <a:effectLst/>
                      </a:endParaRPr>
                    </a:p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zipnote (1): Edits comments/renames files</a:t>
                      </a:r>
                    </a:p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br>
                        <a:rPr lang="en-US" sz="1200">
                          <a:effectLst/>
                        </a:rPr>
                      </a:br>
                      <a:endParaRPr lang="en-US" sz="1200">
                        <a:effectLst/>
                      </a:endParaRPr>
                    </a:p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zipsplit (1): Splits archive files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0833" marR="50833" marT="33889" marB="33889" anchor="ctr"/>
                </a:tc>
                <a:extLst>
                  <a:ext uri="{0D108BD9-81ED-4DB2-BD59-A6C34878D82A}">
                    <a16:rowId xmlns:a16="http://schemas.microsoft.com/office/drawing/2014/main" val="1002199551"/>
                  </a:ext>
                </a:extLst>
              </a:tr>
              <a:tr h="1311586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Find Kernel Boot Parameters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0833" marR="50833" marT="33889" marB="33889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$ man -k boot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0833" marR="50833" marT="33889" marB="33889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bootparam (7): Introduces boot time parameters for the Linux kernel</a:t>
                      </a:r>
                    </a:p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br>
                        <a:rPr lang="en-US" sz="1200">
                          <a:effectLst/>
                        </a:rPr>
                      </a:br>
                      <a:endParaRPr lang="en-US" sz="1200">
                        <a:effectLst/>
                      </a:endParaRPr>
                    </a:p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bootctl (1): Controls EFI firmware boot settings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0833" marR="50833" marT="33889" marB="33889" anchor="ctr"/>
                </a:tc>
                <a:extLst>
                  <a:ext uri="{0D108BD9-81ED-4DB2-BD59-A6C34878D82A}">
                    <a16:rowId xmlns:a16="http://schemas.microsoft.com/office/drawing/2014/main" val="4145923100"/>
                  </a:ext>
                </a:extLst>
              </a:tr>
              <a:tr h="1160898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Tune ext4 File Systems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0833" marR="50833" marT="33889" marB="33889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$ man -k ext4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0833" marR="50833" marT="33889" marB="33889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tune2fs (8): Adjusts tunable file system parameters</a:t>
                      </a:r>
                    </a:p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br>
                        <a:rPr lang="en-US" sz="1200">
                          <a:effectLst/>
                        </a:rPr>
                      </a:br>
                      <a:endParaRPr lang="en-US" sz="1200">
                        <a:effectLst/>
                      </a:endParaRPr>
                    </a:p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resize2fs (8): Resizes ext2/ext3/ext4 file systems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0833" marR="50833" marT="33889" marB="33889" anchor="ctr"/>
                </a:tc>
                <a:extLst>
                  <a:ext uri="{0D108BD9-81ED-4DB2-BD59-A6C34878D82A}">
                    <a16:rowId xmlns:a16="http://schemas.microsoft.com/office/drawing/2014/main" val="2274423363"/>
                  </a:ext>
                </a:extLst>
              </a:tr>
              <a:tr h="206536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Single-Line Title Lookup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0833" marR="50833" marT="33889" marB="33889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$ man -f w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0833" marR="50833" marT="33889" marB="33889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w (1): Shows who is logged on and what they are doing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0833" marR="50833" marT="33889" marB="33889" anchor="ctr"/>
                </a:tc>
                <a:extLst>
                  <a:ext uri="{0D108BD9-81ED-4DB2-BD59-A6C34878D82A}">
                    <a16:rowId xmlns:a16="http://schemas.microsoft.com/office/drawing/2014/main" val="2383242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82372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EB4BD20-DF81-2122-BEE3-ACE0ECE9C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Applied Man Page Research &amp; Lab Teardown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İçerik Yer Tutucusu 2">
                <a:extLst>
                  <a:ext uri="{FF2B5EF4-FFF2-40B4-BE49-F238E27FC236}">
                    <a16:creationId xmlns:a16="http://schemas.microsoft.com/office/drawing/2014/main" id="{1715C43E-D142-B2FE-D61A-6EA59E29A9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93924"/>
                <a:ext cx="10344462" cy="1603375"/>
              </a:xfrm>
            </p:spPr>
            <p:txBody>
              <a:bodyPr>
                <a:normAutofit fontScale="62500" lnSpcReduction="20000"/>
              </a:bodyPr>
              <a:lstStyle/>
              <a:p>
                <a:pPr marL="0" marR="0">
                  <a:buNone/>
                </a:pPr>
                <a:r>
                  <a:rPr lang="en-US" b="1" dirty="0">
                    <a:effectLst/>
                    <a:latin typeface="Google Sans Text"/>
                  </a:rPr>
                  <a:t>Locating and Applying Options in Vim (vi):</a:t>
                </a:r>
                <a:endParaRPr lang="en-US" dirty="0">
                  <a:effectLst/>
                  <a:latin typeface="Google Sans Text"/>
                </a:endParaRPr>
              </a:p>
              <a:p>
                <a:pPr marL="0" marR="0" lvl="0" indent="-342900">
                  <a:buFont typeface="+mj-lt"/>
                  <a:buAutoNum type="arabicPeriod"/>
                </a:pPr>
                <a:r>
                  <a:rPr lang="en-US" b="1" dirty="0">
                    <a:effectLst/>
                    <a:latin typeface="Google Sans Text"/>
                  </a:rPr>
                  <a:t>Search Option in Manual:</a:t>
                </a:r>
                <a:endParaRPr lang="en-US" dirty="0">
                  <a:effectLst/>
                  <a:latin typeface="Google Sans Text"/>
                </a:endParaRPr>
              </a:p>
              <a:p>
                <a:pPr marL="342900" lvl="1" indent="-342900"/>
                <a:r>
                  <a:rPr lang="en-US" dirty="0">
                    <a:effectLst/>
                    <a:latin typeface="Google Sans Text"/>
                  </a:rPr>
                  <a:t>Run $ man vi </a:t>
                </a:r>
                <a14:m>
                  <m:oMath xmlns:m="http://schemas.openxmlformats.org/officeDocument/2006/math">
                    <m:r>
                      <a:rPr lang="en-US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>
                    <a:effectLst/>
                    <a:latin typeface="Google Sans Text"/>
                  </a:rPr>
                  <a:t>inspect OPTIONS section.</a:t>
                </a:r>
              </a:p>
              <a:p>
                <a:pPr marL="342900" lvl="1" indent="-342900"/>
                <a:r>
                  <a:rPr lang="en-US" b="1" dirty="0">
                    <a:effectLst/>
                    <a:latin typeface="Google Sans Text"/>
                  </a:rPr>
                  <a:t>+[num] Option:</a:t>
                </a:r>
                <a:r>
                  <a:rPr lang="en-US" dirty="0">
                    <a:effectLst/>
                    <a:latin typeface="Google Sans Text"/>
                  </a:rPr>
                  <a:t> Positions cursor directly on line number num upon opening.</a:t>
                </a:r>
              </a:p>
              <a:p>
                <a:pPr marL="0" marR="0" lvl="0" indent="-342900">
                  <a:buFont typeface="+mj-lt"/>
                  <a:buAutoNum type="arabicPeriod"/>
                </a:pPr>
                <a:r>
                  <a:rPr lang="en-US" b="1" dirty="0">
                    <a:effectLst/>
                    <a:latin typeface="Google Sans Text"/>
                  </a:rPr>
                  <a:t>Execute Targeted Open:</a:t>
                </a:r>
                <a:endParaRPr lang="en-US" dirty="0">
                  <a:effectLst/>
                  <a:latin typeface="Google Sans Text"/>
                </a:endParaRPr>
              </a:p>
              <a:p>
                <a:pPr marL="342900" lvl="1" indent="-342900"/>
                <a:r>
                  <a:rPr lang="en-US" dirty="0">
                    <a:effectLst/>
                    <a:latin typeface="Google Sans Text"/>
                  </a:rPr>
                  <a:t>Run $ vi +2 manual to open the file with the cursor placed directly on the second line: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İçerik Yer Tutucusu 2">
                <a:extLst>
                  <a:ext uri="{FF2B5EF4-FFF2-40B4-BE49-F238E27FC236}">
                    <a16:creationId xmlns:a16="http://schemas.microsoft.com/office/drawing/2014/main" id="{1715C43E-D142-B2FE-D61A-6EA59E29A9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93924"/>
                <a:ext cx="10344462" cy="1603375"/>
              </a:xfrm>
              <a:blipFill>
                <a:blip r:embed="rId2"/>
                <a:stretch>
                  <a:fillRect l="-531" t="-6084" b="-4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Resim 4">
            <a:extLst>
              <a:ext uri="{FF2B5EF4-FFF2-40B4-BE49-F238E27FC236}">
                <a16:creationId xmlns:a16="http://schemas.microsoft.com/office/drawing/2014/main" id="{7A1A57CF-186A-4B53-5088-6FC5B17D34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4141" y="3094577"/>
            <a:ext cx="5763718" cy="1331521"/>
          </a:xfrm>
          <a:prstGeom prst="rect">
            <a:avLst/>
          </a:prstGeom>
        </p:spPr>
      </p:pic>
      <p:sp>
        <p:nvSpPr>
          <p:cNvPr id="6" name="İçerik Yer Tutucusu 2">
            <a:extLst>
              <a:ext uri="{FF2B5EF4-FFF2-40B4-BE49-F238E27FC236}">
                <a16:creationId xmlns:a16="http://schemas.microsoft.com/office/drawing/2014/main" id="{AF657028-0182-AC60-B22F-C52EE1567D65}"/>
              </a:ext>
            </a:extLst>
          </p:cNvPr>
          <p:cNvSpPr txBox="1">
            <a:spLocks/>
          </p:cNvSpPr>
          <p:nvPr/>
        </p:nvSpPr>
        <p:spPr>
          <a:xfrm>
            <a:off x="719528" y="4426098"/>
            <a:ext cx="10837888" cy="2304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tr-TR" sz="1800" b="1" dirty="0">
                <a:latin typeface="Google Sans Text"/>
              </a:rPr>
              <a:t>1.   </a:t>
            </a:r>
            <a:r>
              <a:rPr lang="en-US" sz="1800" b="1" dirty="0">
                <a:latin typeface="Google Sans Text"/>
              </a:rPr>
              <a:t>Exit Editor:</a:t>
            </a:r>
            <a:r>
              <a:rPr lang="en-US" sz="1800" dirty="0">
                <a:latin typeface="Google Sans Text"/>
              </a:rPr>
              <a:t> Type :q and press Enter.</a:t>
            </a:r>
          </a:p>
          <a:p>
            <a:pPr marL="0" indent="0">
              <a:buNone/>
            </a:pPr>
            <a:r>
              <a:rPr lang="en-US" sz="1500" b="1" dirty="0">
                <a:latin typeface="Google Sans Text"/>
              </a:rPr>
              <a:t>Lab Completion:</a:t>
            </a:r>
            <a:endParaRPr lang="en-US" sz="1500" dirty="0">
              <a:latin typeface="Google Sans Text"/>
            </a:endParaRPr>
          </a:p>
          <a:p>
            <a:pPr lvl="0"/>
            <a:r>
              <a:rPr lang="en-US" sz="1500" dirty="0">
                <a:latin typeface="Google Sans Text"/>
              </a:rPr>
              <a:t>Clean up environment resources to prevent conflicts in subsequent exercises:</a:t>
            </a:r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1E33C31A-5E26-1720-02F1-C03678C1A5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5075" y="5490090"/>
            <a:ext cx="4886793" cy="1240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9886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74C70DC-89E9-7DAC-481B-6FA263A80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94167" cy="1325563"/>
          </a:xfrm>
        </p:spPr>
        <p:txBody>
          <a:bodyPr/>
          <a:lstStyle/>
          <a:p>
            <a:r>
              <a:rPr lang="en-US" dirty="0"/>
              <a:t>Lab Overview: Help from Local Documentation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8578F13-F39E-ED4A-B8A9-9B89A6D53A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093564" cy="4667250"/>
          </a:xfrm>
        </p:spPr>
        <p:txBody>
          <a:bodyPr>
            <a:normAutofit fontScale="85000" lnSpcReduction="20000"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Primary Objective:</a:t>
            </a:r>
            <a:r>
              <a:rPr lang="en-US" dirty="0"/>
              <a:t> Get information from local documentation to help run commands and complete tasks.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Core Outcomes: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Locate relevant information for commands by searching man pages.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Explore options for common system administration commands.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Core Task:</a:t>
            </a:r>
            <a:r>
              <a:rPr lang="en-US" dirty="0"/>
              <a:t> Create </a:t>
            </a:r>
            <a:r>
              <a:rPr lang="en-US" dirty="0">
                <a:latin typeface="Courier New" panose="02070309020205020404" pitchFamily="49" charset="0"/>
              </a:rPr>
              <a:t>my_task.txt</a:t>
            </a:r>
            <a:r>
              <a:rPr lang="en-US" dirty="0"/>
              <a:t> and append specific command outputs at each step.</a:t>
            </a:r>
          </a:p>
          <a:p>
            <a:endParaRPr lang="en-US" dirty="0"/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259D0CDF-7241-67C0-392A-8BE5ACCBE4E1}"/>
              </a:ext>
            </a:extLst>
          </p:cNvPr>
          <p:cNvSpPr txBox="1"/>
          <p:nvPr/>
        </p:nvSpPr>
        <p:spPr>
          <a:xfrm>
            <a:off x="6235282" y="1731936"/>
            <a:ext cx="60935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Initialization:</a:t>
            </a:r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DDD0F857-FC33-59CF-7624-4DBD7EAC9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5281" y="2101268"/>
            <a:ext cx="4647577" cy="1179769"/>
          </a:xfrm>
          <a:prstGeom prst="rect">
            <a:avLst/>
          </a:prstGeom>
        </p:spPr>
      </p:pic>
      <p:sp>
        <p:nvSpPr>
          <p:cNvPr id="9" name="Metin kutusu 8">
            <a:extLst>
              <a:ext uri="{FF2B5EF4-FFF2-40B4-BE49-F238E27FC236}">
                <a16:creationId xmlns:a16="http://schemas.microsoft.com/office/drawing/2014/main" id="{A9699D9D-D259-8CBD-1887-276561D772C1}"/>
              </a:ext>
            </a:extLst>
          </p:cNvPr>
          <p:cNvSpPr txBox="1"/>
          <p:nvPr/>
        </p:nvSpPr>
        <p:spPr>
          <a:xfrm>
            <a:off x="6235282" y="3717597"/>
            <a:ext cx="496923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Output Redirection (</a:t>
            </a:r>
            <a:r>
              <a:rPr lang="en-US" sz="2000" b="1" dirty="0">
                <a:latin typeface="Courier New" panose="02070309020205020404" pitchFamily="49" charset="0"/>
              </a:rPr>
              <a:t>&gt;&gt;</a:t>
            </a:r>
            <a:r>
              <a:rPr lang="en-US" sz="2000" b="1" dirty="0"/>
              <a:t>):</a:t>
            </a:r>
            <a:endParaRPr lang="en-US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Two greater-than symbols (</a:t>
            </a:r>
            <a:r>
              <a:rPr lang="en-US" sz="2000" dirty="0">
                <a:latin typeface="Courier New" panose="02070309020205020404" pitchFamily="49" charset="0"/>
              </a:rPr>
              <a:t>&gt;&gt;</a:t>
            </a:r>
            <a:r>
              <a:rPr lang="en-US" sz="2000" dirty="0"/>
              <a:t>) append standard output to a target file.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i="1" dirty="0">
                <a:effectLst/>
              </a:rPr>
              <a:t>Example Demonstration:</a:t>
            </a:r>
            <a:endParaRPr lang="en-US" sz="2000" dirty="0">
              <a:effectLst/>
            </a:endParaRPr>
          </a:p>
        </p:txBody>
      </p:sp>
      <p:pic>
        <p:nvPicPr>
          <p:cNvPr id="11" name="Resim 10">
            <a:extLst>
              <a:ext uri="{FF2B5EF4-FFF2-40B4-BE49-F238E27FC236}">
                <a16:creationId xmlns:a16="http://schemas.microsoft.com/office/drawing/2014/main" id="{E622BB7A-ADE9-1BA1-852B-87686770CB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6650" y="5041036"/>
            <a:ext cx="4364837" cy="1200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2847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037ED1DB-24FF-5AF3-0669-8F72C50F0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en-US" sz="3000"/>
              <a:t>Researching &amp; Appending Machine FQDNs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F2E22A7-AD28-6289-4A2F-178C6310A9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463040"/>
          </a:xfrm>
        </p:spPr>
        <p:txBody>
          <a:bodyPr anchor="ctr">
            <a:normAutofit/>
          </a:bodyPr>
          <a:lstStyle/>
          <a:p>
            <a:pPr>
              <a:buNone/>
            </a:pPr>
            <a:r>
              <a:rPr lang="en-US" sz="2200" b="1" dirty="0"/>
              <a:t>1. Locate the Manual Page:</a:t>
            </a:r>
            <a:endParaRPr lang="en-US" sz="22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200" dirty="0"/>
              <a:t>Query the keyword index to identify the command's section:</a:t>
            </a:r>
          </a:p>
          <a:p>
            <a:endParaRPr lang="en-US" sz="2200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62B221DB-8391-6DE0-DE0E-B8894E04AF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6" y="1234440"/>
            <a:ext cx="4572002" cy="1463040"/>
          </a:xfrm>
          <a:prstGeom prst="rect">
            <a:avLst/>
          </a:prstGeom>
        </p:spPr>
      </p:pic>
      <p:sp>
        <p:nvSpPr>
          <p:cNvPr id="6" name="İçerik Yer Tutucusu 2">
            <a:extLst>
              <a:ext uri="{FF2B5EF4-FFF2-40B4-BE49-F238E27FC236}">
                <a16:creationId xmlns:a16="http://schemas.microsoft.com/office/drawing/2014/main" id="{AABE6CA9-01EE-7E6C-0421-0C54BF433234}"/>
              </a:ext>
            </a:extLst>
          </p:cNvPr>
          <p:cNvSpPr txBox="1">
            <a:spLocks/>
          </p:cNvSpPr>
          <p:nvPr/>
        </p:nvSpPr>
        <p:spPr>
          <a:xfrm>
            <a:off x="389346" y="3360420"/>
            <a:ext cx="10543228" cy="14630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b="1" dirty="0"/>
              <a:t>2. Discover the Option in man hostname:</a:t>
            </a:r>
            <a:endParaRPr lang="en-US" sz="2200" dirty="0"/>
          </a:p>
          <a:p>
            <a:pPr lvl="0"/>
            <a:r>
              <a:rPr lang="en-US" sz="2200" dirty="0"/>
              <a:t>Open man hostname and inspect the OPTIONS section (press </a:t>
            </a:r>
            <a:r>
              <a:rPr lang="en-US" sz="2200" b="1" dirty="0"/>
              <a:t>Q</a:t>
            </a:r>
            <a:r>
              <a:rPr lang="en-US" sz="2200" dirty="0"/>
              <a:t> to exit):</a:t>
            </a:r>
          </a:p>
          <a:p>
            <a:pPr lvl="1"/>
            <a:r>
              <a:rPr lang="en-US" sz="2200" b="1" dirty="0"/>
              <a:t>-A, --all-</a:t>
            </a:r>
            <a:r>
              <a:rPr lang="en-US" sz="2200" b="1" dirty="0" err="1"/>
              <a:t>fqdns</a:t>
            </a:r>
            <a:r>
              <a:rPr lang="en-US" sz="2200" b="1" dirty="0"/>
              <a:t>:</a:t>
            </a:r>
            <a:r>
              <a:rPr lang="en-US" sz="2200" dirty="0"/>
              <a:t> Displays all FQDNs of the machine by enumerating all configured network addresses on all interfaces and translating them to DNS domain names.</a:t>
            </a:r>
            <a:endParaRPr lang="tr-TR" sz="2200" dirty="0"/>
          </a:p>
          <a:p>
            <a:pPr marL="0" indent="0">
              <a:buNone/>
            </a:pPr>
            <a:r>
              <a:rPr lang="en-US" sz="2200" b="1" dirty="0"/>
              <a:t>3. Execute, Redirect &amp; Verify:</a:t>
            </a:r>
            <a:endParaRPr lang="en-US" sz="2200" dirty="0"/>
          </a:p>
          <a:p>
            <a:pPr lvl="0"/>
            <a:r>
              <a:rPr lang="en-US" sz="2200" dirty="0"/>
              <a:t>Run the command with -A, append output to my_task.txt, and check contents with cat:</a:t>
            </a:r>
          </a:p>
          <a:p>
            <a:pPr lvl="1"/>
            <a:endParaRPr lang="en-US" sz="2200" dirty="0"/>
          </a:p>
        </p:txBody>
      </p:sp>
      <p:pic>
        <p:nvPicPr>
          <p:cNvPr id="17" name="Resim 16">
            <a:extLst>
              <a:ext uri="{FF2B5EF4-FFF2-40B4-BE49-F238E27FC236}">
                <a16:creationId xmlns:a16="http://schemas.microsoft.com/office/drawing/2014/main" id="{74E61D53-29EF-CF07-93EF-D1A8EBCDF4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6546" y="4961744"/>
            <a:ext cx="5194073" cy="165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6533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1E2C4F9C-7D09-AA63-7EFB-DF64D225B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3700">
                <a:solidFill>
                  <a:srgbClr val="FFFFFF"/>
                </a:solidFill>
              </a:rPr>
              <a:t>Calculating Epoch Time with the </a:t>
            </a:r>
            <a:r>
              <a:rPr lang="en-US" sz="3700">
                <a:solidFill>
                  <a:srgbClr val="FFFFFF"/>
                </a:solidFill>
                <a:latin typeface="Courier New" panose="02070309020205020404" pitchFamily="49" charset="0"/>
              </a:rPr>
              <a:t>date</a:t>
            </a:r>
            <a:r>
              <a:rPr lang="en-US" sz="3700">
                <a:solidFill>
                  <a:srgbClr val="FFFFFF"/>
                </a:solidFill>
              </a:rPr>
              <a:t> Command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96A1C27-67D6-F558-EA3C-1A029D5E59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54" y="1746748"/>
            <a:ext cx="4062961" cy="4352426"/>
          </a:xfrm>
        </p:spPr>
        <p:txBody>
          <a:bodyPr anchor="ctr">
            <a:normAutofit fontScale="92500" lnSpcReduction="10000"/>
          </a:bodyPr>
          <a:lstStyle/>
          <a:p>
            <a:pPr marL="0" lvl="0" indent="0">
              <a:buNone/>
            </a:pPr>
            <a:r>
              <a:rPr lang="en-US" sz="2000" b="1" dirty="0"/>
              <a:t>Epoch Time Definition:</a:t>
            </a:r>
            <a:r>
              <a:rPr lang="en-US" sz="2000" dirty="0"/>
              <a:t> Represents the number of elapsed seconds since </a:t>
            </a:r>
            <a:r>
              <a:rPr lang="en-US" sz="2000" dirty="0">
                <a:latin typeface="Courier New" panose="02070309020205020404" pitchFamily="49" charset="0"/>
              </a:rPr>
              <a:t>00:00:00 UTC on January 1, 1970</a:t>
            </a:r>
            <a:r>
              <a:rPr lang="en-US" sz="2000" dirty="0"/>
              <a:t> on Linux systems.</a:t>
            </a:r>
          </a:p>
          <a:p>
            <a:pPr marL="0" lvl="0" indent="0">
              <a:buNone/>
            </a:pPr>
            <a:r>
              <a:rPr lang="en-US" sz="2000" b="1" dirty="0"/>
              <a:t>Relevant Flags in </a:t>
            </a:r>
            <a:r>
              <a:rPr lang="en-US" sz="2000" b="1" dirty="0">
                <a:latin typeface="Courier New" panose="02070309020205020404" pitchFamily="49" charset="0"/>
              </a:rPr>
              <a:t>man date</a:t>
            </a:r>
            <a:r>
              <a:rPr lang="en-US" sz="2000" b="1" dirty="0"/>
              <a:t>:</a:t>
            </a:r>
            <a:endParaRPr lang="en-US" sz="2000" dirty="0"/>
          </a:p>
          <a:p>
            <a:pPr lvl="1"/>
            <a:r>
              <a:rPr lang="en-US" sz="2000" b="1" dirty="0">
                <a:latin typeface="Courier New" panose="02070309020205020404" pitchFamily="49" charset="0"/>
              </a:rPr>
              <a:t>-d, --date=STRING</a:t>
            </a:r>
            <a:r>
              <a:rPr lang="en-US" sz="2000" b="1" dirty="0"/>
              <a:t>:</a:t>
            </a:r>
            <a:r>
              <a:rPr lang="en-US" sz="2000" dirty="0"/>
              <a:t> Displays the time described by </a:t>
            </a:r>
            <a:r>
              <a:rPr lang="en-US" sz="2000" dirty="0">
                <a:latin typeface="Courier New" panose="02070309020205020404" pitchFamily="49" charset="0"/>
              </a:rPr>
              <a:t>STRING</a:t>
            </a:r>
            <a:r>
              <a:rPr lang="en-US" sz="2000" dirty="0"/>
              <a:t> instead of the current time (</a:t>
            </a:r>
            <a:r>
              <a:rPr lang="en-US" sz="2000" dirty="0">
                <a:latin typeface="Courier New" panose="02070309020205020404" pitchFamily="49" charset="0"/>
              </a:rPr>
              <a:t>now</a:t>
            </a:r>
            <a:r>
              <a:rPr lang="en-US" sz="2000" dirty="0"/>
              <a:t>).</a:t>
            </a:r>
          </a:p>
          <a:p>
            <a:pPr lvl="1"/>
            <a:r>
              <a:rPr lang="en-US" sz="2000" b="1" dirty="0">
                <a:latin typeface="Courier New" panose="02070309020205020404" pitchFamily="49" charset="0"/>
              </a:rPr>
              <a:t>+%s</a:t>
            </a:r>
            <a:r>
              <a:rPr lang="en-US" sz="2000" b="1" dirty="0"/>
              <a:t> Format String:</a:t>
            </a:r>
            <a:r>
              <a:rPr lang="en-US" sz="2000" dirty="0"/>
              <a:t> Outputs the exact number of seconds since the Epoch.</a:t>
            </a:r>
          </a:p>
          <a:p>
            <a:pPr marL="0" lvl="0" indent="0">
              <a:buNone/>
            </a:pPr>
            <a:r>
              <a:rPr lang="en-US" sz="2000" i="1" dirty="0"/>
              <a:t>Navigation Note:</a:t>
            </a:r>
            <a:r>
              <a:rPr lang="en-US" sz="2000" dirty="0"/>
              <a:t> Press </a:t>
            </a:r>
            <a:r>
              <a:rPr lang="en-US" sz="2000" b="1" dirty="0"/>
              <a:t>Q</a:t>
            </a:r>
            <a:r>
              <a:rPr lang="en-US" sz="2000" dirty="0"/>
              <a:t> to exit the manual viewer.</a:t>
            </a:r>
          </a:p>
          <a:p>
            <a:endParaRPr lang="en-US" sz="2000" dirty="0"/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37874465-1CD6-69F4-7A7F-CDE4DE79ABD1}"/>
              </a:ext>
            </a:extLst>
          </p:cNvPr>
          <p:cNvSpPr txBox="1"/>
          <p:nvPr/>
        </p:nvSpPr>
        <p:spPr>
          <a:xfrm>
            <a:off x="5198465" y="1736457"/>
            <a:ext cx="705911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Calculate &amp; Append to File:</a:t>
            </a:r>
            <a:endParaRPr lang="en-US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Calculate elapsed seconds up to </a:t>
            </a:r>
            <a:r>
              <a:rPr lang="en-US" dirty="0">
                <a:latin typeface="Courier New" panose="02070309020205020404" pitchFamily="49" charset="0"/>
              </a:rPr>
              <a:t>Jan 1 2025</a:t>
            </a:r>
            <a:r>
              <a:rPr lang="en-US" dirty="0"/>
              <a:t> and append the result using </a:t>
            </a:r>
            <a:r>
              <a:rPr lang="en-US" dirty="0">
                <a:latin typeface="Courier New" panose="02070309020205020404" pitchFamily="49" charset="0"/>
              </a:rPr>
              <a:t>&gt;&gt;</a:t>
            </a:r>
            <a:r>
              <a:rPr lang="en-US" dirty="0"/>
              <a:t>:</a:t>
            </a:r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46C277BA-5912-6A5E-AE0A-9578BDE09C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7279" y="2612232"/>
            <a:ext cx="5023580" cy="1049229"/>
          </a:xfrm>
          <a:prstGeom prst="rect">
            <a:avLst/>
          </a:prstGeom>
        </p:spPr>
      </p:pic>
      <p:sp>
        <p:nvSpPr>
          <p:cNvPr id="18" name="Metin kutusu 17">
            <a:extLst>
              <a:ext uri="{FF2B5EF4-FFF2-40B4-BE49-F238E27FC236}">
                <a16:creationId xmlns:a16="http://schemas.microsoft.com/office/drawing/2014/main" id="{92A59DB1-0733-53C2-65F4-85C567520EAB}"/>
              </a:ext>
            </a:extLst>
          </p:cNvPr>
          <p:cNvSpPr txBox="1"/>
          <p:nvPr/>
        </p:nvSpPr>
        <p:spPr>
          <a:xfrm>
            <a:off x="5198465" y="3613905"/>
            <a:ext cx="6093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b="1" dirty="0"/>
              <a:t>Verify File Contents:</a:t>
            </a:r>
            <a:endParaRPr lang="en-US" dirty="0"/>
          </a:p>
        </p:txBody>
      </p:sp>
      <p:pic>
        <p:nvPicPr>
          <p:cNvPr id="23" name="Resim 22">
            <a:extLst>
              <a:ext uri="{FF2B5EF4-FFF2-40B4-BE49-F238E27FC236}">
                <a16:creationId xmlns:a16="http://schemas.microsoft.com/office/drawing/2014/main" id="{1F2C278A-393A-8042-0B88-9F7DB0F9F1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7279" y="3798571"/>
            <a:ext cx="4151652" cy="1325335"/>
          </a:xfrm>
          <a:prstGeom prst="rect">
            <a:avLst/>
          </a:prstGeom>
        </p:spPr>
      </p:pic>
      <p:sp>
        <p:nvSpPr>
          <p:cNvPr id="25" name="Metin kutusu 24">
            <a:extLst>
              <a:ext uri="{FF2B5EF4-FFF2-40B4-BE49-F238E27FC236}">
                <a16:creationId xmlns:a16="http://schemas.microsoft.com/office/drawing/2014/main" id="{FDE52DFB-5078-9BB2-7CA7-F62F21E51398}"/>
              </a:ext>
            </a:extLst>
          </p:cNvPr>
          <p:cNvSpPr txBox="1"/>
          <p:nvPr/>
        </p:nvSpPr>
        <p:spPr>
          <a:xfrm>
            <a:off x="5198465" y="5067623"/>
            <a:ext cx="60935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Reverse Date Verification:</a:t>
            </a:r>
            <a:endParaRPr lang="en-US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Validate the generated timestamp by converting the Epoch seconds back to a date string:</a:t>
            </a:r>
          </a:p>
        </p:txBody>
      </p:sp>
      <p:pic>
        <p:nvPicPr>
          <p:cNvPr id="29" name="Resim 28">
            <a:extLst>
              <a:ext uri="{FF2B5EF4-FFF2-40B4-BE49-F238E27FC236}">
                <a16:creationId xmlns:a16="http://schemas.microsoft.com/office/drawing/2014/main" id="{7594B8C4-A728-44F2-DDCD-64B52D3F3C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2881" y="5913312"/>
            <a:ext cx="3717561" cy="1022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3318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BB9926CC-609E-F6D2-8408-EE6365DCC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6791" y="494744"/>
            <a:ext cx="8216828" cy="709537"/>
          </a:xfrm>
        </p:spPr>
        <p:txBody>
          <a:bodyPr>
            <a:normAutofit fontScale="90000"/>
          </a:bodyPr>
          <a:lstStyle/>
          <a:p>
            <a:r>
              <a:rPr lang="en-US" dirty="0"/>
              <a:t>Identifying the </a:t>
            </a:r>
            <a:r>
              <a:rPr lang="en-US" dirty="0" err="1"/>
              <a:t>SELinux</a:t>
            </a:r>
            <a:r>
              <a:rPr lang="en-US" dirty="0"/>
              <a:t> Operating Mode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2623F39-282F-7DA3-D9D0-DB5F51DAA2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128" y="1470113"/>
            <a:ext cx="4958966" cy="2337389"/>
          </a:xfrm>
        </p:spPr>
        <p:txBody>
          <a:bodyPr>
            <a:norm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Search Objective:</a:t>
            </a:r>
            <a:r>
              <a:rPr lang="en-US" sz="2000" dirty="0"/>
              <a:t> Identify the command responsible for displaying the machine's active </a:t>
            </a:r>
            <a:r>
              <a:rPr lang="en-US" sz="2000" dirty="0" err="1"/>
              <a:t>SELinux</a:t>
            </a:r>
            <a:r>
              <a:rPr lang="en-US" sz="2000" dirty="0"/>
              <a:t> operating mode.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Keyword Discovery:</a:t>
            </a: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</a:rPr>
              <a:t>Query the manual index with </a:t>
            </a:r>
            <a:r>
              <a:rPr lang="en-US" sz="2000" dirty="0">
                <a:effectLst/>
                <a:latin typeface="Courier New" panose="02070309020205020404" pitchFamily="49" charset="0"/>
              </a:rPr>
              <a:t>man -k </a:t>
            </a:r>
            <a:r>
              <a:rPr lang="en-US" sz="2000" dirty="0" err="1">
                <a:effectLst/>
                <a:latin typeface="Courier New" panose="02070309020205020404" pitchFamily="49" charset="0"/>
              </a:rPr>
              <a:t>selinux</a:t>
            </a:r>
            <a:r>
              <a:rPr lang="en-US" sz="2000" dirty="0">
                <a:effectLst/>
              </a:rPr>
              <a:t>:</a:t>
            </a:r>
          </a:p>
          <a:p>
            <a:endParaRPr lang="en-US" sz="2000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F857C42D-E5D9-50C2-F197-986C48E73B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119" y="3652054"/>
            <a:ext cx="4788505" cy="1735833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2ACD3E9D-7DD1-6D15-697F-26D2103DD2DC}"/>
              </a:ext>
            </a:extLst>
          </p:cNvPr>
          <p:cNvSpPr txBox="1"/>
          <p:nvPr/>
        </p:nvSpPr>
        <p:spPr>
          <a:xfrm>
            <a:off x="5687467" y="1317589"/>
            <a:ext cx="60935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Discovery Result:</a:t>
            </a:r>
            <a:r>
              <a:rPr lang="en-US" dirty="0"/>
              <a:t> </a:t>
            </a:r>
            <a:r>
              <a:rPr lang="en-US" dirty="0" err="1">
                <a:latin typeface="Courier New" panose="02070309020205020404" pitchFamily="49" charset="0"/>
              </a:rPr>
              <a:t>getenforce</a:t>
            </a:r>
            <a:r>
              <a:rPr lang="en-US" dirty="0">
                <a:latin typeface="Courier New" panose="02070309020205020404" pitchFamily="49" charset="0"/>
              </a:rPr>
              <a:t>(8)</a:t>
            </a:r>
            <a:r>
              <a:rPr lang="en-US" dirty="0"/>
              <a:t> displays the current </a:t>
            </a:r>
            <a:r>
              <a:rPr lang="en-US" dirty="0" err="1"/>
              <a:t>SELinux</a:t>
            </a:r>
            <a:r>
              <a:rPr lang="en-US" dirty="0"/>
              <a:t> mode on the machine.</a:t>
            </a:r>
          </a:p>
          <a:p>
            <a:pPr>
              <a:buNone/>
            </a:pPr>
            <a:r>
              <a:rPr lang="en-US" b="1" dirty="0"/>
              <a:t>[Right Column: Execution &amp; File Append]</a:t>
            </a:r>
            <a:endParaRPr lang="en-US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Execute &amp; Redirect Output: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Run </a:t>
            </a:r>
            <a:r>
              <a:rPr lang="en-US" dirty="0" err="1">
                <a:latin typeface="Courier New" panose="02070309020205020404" pitchFamily="49" charset="0"/>
              </a:rPr>
              <a:t>getenforce</a:t>
            </a:r>
            <a:r>
              <a:rPr lang="en-US" dirty="0"/>
              <a:t> and append its output to </a:t>
            </a:r>
            <a:r>
              <a:rPr lang="en-US" dirty="0">
                <a:latin typeface="Courier New" panose="02070309020205020404" pitchFamily="49" charset="0"/>
              </a:rPr>
              <a:t>my_task.txt</a:t>
            </a:r>
            <a:r>
              <a:rPr lang="en-US" dirty="0"/>
              <a:t> using </a:t>
            </a:r>
            <a:r>
              <a:rPr lang="en-US" dirty="0">
                <a:latin typeface="Courier New" panose="02070309020205020404" pitchFamily="49" charset="0"/>
              </a:rPr>
              <a:t>&gt;&gt;</a:t>
            </a:r>
            <a:r>
              <a:rPr lang="en-US" dirty="0"/>
              <a:t>:</a:t>
            </a:r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BC981D0C-BC0E-1425-26DB-B2536A07CB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7467" y="2966579"/>
            <a:ext cx="5231567" cy="1328013"/>
          </a:xfrm>
          <a:prstGeom prst="rect">
            <a:avLst/>
          </a:prstGeom>
        </p:spPr>
      </p:pic>
      <p:sp>
        <p:nvSpPr>
          <p:cNvPr id="13" name="Metin kutusu 12">
            <a:extLst>
              <a:ext uri="{FF2B5EF4-FFF2-40B4-BE49-F238E27FC236}">
                <a16:creationId xmlns:a16="http://schemas.microsoft.com/office/drawing/2014/main" id="{85E415AF-EEB4-37E4-D7C4-FDFCDEF98698}"/>
              </a:ext>
            </a:extLst>
          </p:cNvPr>
          <p:cNvSpPr txBox="1"/>
          <p:nvPr/>
        </p:nvSpPr>
        <p:spPr>
          <a:xfrm>
            <a:off x="5687467" y="4234963"/>
            <a:ext cx="60935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Verify File Status:</a:t>
            </a:r>
            <a:endParaRPr lang="en-US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View updated contents using </a:t>
            </a:r>
            <a:r>
              <a:rPr lang="en-US" dirty="0">
                <a:latin typeface="Courier New" panose="02070309020205020404" pitchFamily="49" charset="0"/>
              </a:rPr>
              <a:t>cat</a:t>
            </a:r>
            <a:r>
              <a:rPr lang="en-US" dirty="0"/>
              <a:t>:</a:t>
            </a:r>
          </a:p>
        </p:txBody>
      </p:sp>
      <p:pic>
        <p:nvPicPr>
          <p:cNvPr id="16" name="Resim 15">
            <a:extLst>
              <a:ext uri="{FF2B5EF4-FFF2-40B4-BE49-F238E27FC236}">
                <a16:creationId xmlns:a16="http://schemas.microsoft.com/office/drawing/2014/main" id="{619128ED-D189-C77C-C5AF-3C3A6343A83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927" t="22366" r="11722" b="20582"/>
          <a:stretch>
            <a:fillRect/>
          </a:stretch>
        </p:blipFill>
        <p:spPr>
          <a:xfrm>
            <a:off x="5883088" y="4878928"/>
            <a:ext cx="3404328" cy="1389296"/>
          </a:xfrm>
          <a:prstGeom prst="rect">
            <a:avLst/>
          </a:prstGeom>
        </p:spPr>
      </p:pic>
      <p:sp>
        <p:nvSpPr>
          <p:cNvPr id="18" name="Metin kutusu 17">
            <a:extLst>
              <a:ext uri="{FF2B5EF4-FFF2-40B4-BE49-F238E27FC236}">
                <a16:creationId xmlns:a16="http://schemas.microsoft.com/office/drawing/2014/main" id="{7D5E8C50-164A-1DB0-0338-26C1F37F5F8B}"/>
              </a:ext>
            </a:extLst>
          </p:cNvPr>
          <p:cNvSpPr txBox="1"/>
          <p:nvPr/>
        </p:nvSpPr>
        <p:spPr>
          <a:xfrm>
            <a:off x="5643094" y="6327033"/>
            <a:ext cx="6093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Output State:</a:t>
            </a:r>
            <a:r>
              <a:rPr lang="en-US" dirty="0"/>
              <a:t> Confirms the active state is </a:t>
            </a:r>
            <a:r>
              <a:rPr lang="en-US" b="1" dirty="0"/>
              <a:t>Enforcing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446503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19B67BC-3566-E51E-FE17-79421B972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Researching PostScript Printing &amp; Appending Commands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28094CA-B0BB-AC28-6F2F-64CAC1E37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5876"/>
            <a:ext cx="5255301" cy="1224075"/>
          </a:xfrm>
        </p:spPr>
        <p:txBody>
          <a:bodyPr>
            <a:normAutofit fontScale="62500" lnSpcReduction="20000"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Target Objective:</a:t>
            </a:r>
            <a:r>
              <a:rPr lang="en-US" dirty="0"/>
              <a:t> Determine how to format and print a manual page using PostScript.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Manual Inspection (</a:t>
            </a:r>
            <a:r>
              <a:rPr lang="en-US" b="1" dirty="0">
                <a:latin typeface="Courier New" panose="02070309020205020404" pitchFamily="49" charset="0"/>
              </a:rPr>
              <a:t>man man</a:t>
            </a:r>
            <a:r>
              <a:rPr lang="en-US" b="1" dirty="0"/>
              <a:t>):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Open </a:t>
            </a:r>
            <a:r>
              <a:rPr lang="en-US" dirty="0">
                <a:latin typeface="Courier New" panose="02070309020205020404" pitchFamily="49" charset="0"/>
              </a:rPr>
              <a:t>man </a:t>
            </a:r>
            <a:r>
              <a:rPr lang="en-US" dirty="0" err="1">
                <a:latin typeface="Courier New" panose="02070309020205020404" pitchFamily="49" charset="0"/>
              </a:rPr>
              <a:t>man</a:t>
            </a:r>
            <a:r>
              <a:rPr lang="en-US" dirty="0"/>
              <a:t> and review example pipelines (press </a:t>
            </a:r>
            <a:r>
              <a:rPr lang="en-US" b="1" dirty="0"/>
              <a:t>Q</a:t>
            </a:r>
            <a:r>
              <a:rPr lang="en-US" dirty="0"/>
              <a:t> to exit):</a:t>
            </a:r>
          </a:p>
          <a:p>
            <a:endParaRPr lang="en-US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A8C7BD76-6654-F826-88CA-2B7FA8A9B3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042" y="2991497"/>
            <a:ext cx="5556459" cy="1865452"/>
          </a:xfrm>
          <a:prstGeom prst="rect">
            <a:avLst/>
          </a:prstGeom>
        </p:spPr>
      </p:pic>
      <p:sp>
        <p:nvSpPr>
          <p:cNvPr id="7" name="Metin kutusu 6">
            <a:extLst>
              <a:ext uri="{FF2B5EF4-FFF2-40B4-BE49-F238E27FC236}">
                <a16:creationId xmlns:a16="http://schemas.microsoft.com/office/drawing/2014/main" id="{E8C889A7-1409-67EE-1DD9-71ED94741E88}"/>
              </a:ext>
            </a:extLst>
          </p:cNvPr>
          <p:cNvSpPr txBox="1"/>
          <p:nvPr/>
        </p:nvSpPr>
        <p:spPr>
          <a:xfrm>
            <a:off x="838200" y="4856949"/>
            <a:ext cx="5255301" cy="93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Key Mechanism:</a:t>
            </a:r>
            <a:r>
              <a:rPr lang="en-US" dirty="0"/>
              <a:t> The </a:t>
            </a:r>
            <a:r>
              <a:rPr lang="en-US" dirty="0">
                <a:latin typeface="Courier New" panose="02070309020205020404" pitchFamily="49" charset="0"/>
              </a:rPr>
              <a:t>-t</a:t>
            </a:r>
            <a:r>
              <a:rPr lang="en-US" dirty="0"/>
              <a:t> option binds to the document processor to produce PostScript output, piped directly to </a:t>
            </a:r>
            <a:r>
              <a:rPr lang="en-US" dirty="0" err="1">
                <a:latin typeface="Courier New" panose="02070309020205020404" pitchFamily="49" charset="0"/>
              </a:rPr>
              <a:t>lpr</a:t>
            </a:r>
            <a:r>
              <a:rPr lang="en-US" dirty="0"/>
              <a:t>.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668E2871-AA11-456E-F5B2-650E0B83522B}"/>
              </a:ext>
            </a:extLst>
          </p:cNvPr>
          <p:cNvSpPr txBox="1"/>
          <p:nvPr/>
        </p:nvSpPr>
        <p:spPr>
          <a:xfrm>
            <a:off x="6098500" y="1638877"/>
            <a:ext cx="60935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Append Command String (Not Output):</a:t>
            </a:r>
            <a:endParaRPr lang="en-US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Use </a:t>
            </a:r>
            <a:r>
              <a:rPr lang="en-US" dirty="0">
                <a:latin typeface="Courier New" panose="02070309020205020404" pitchFamily="49" charset="0"/>
              </a:rPr>
              <a:t>echo</a:t>
            </a:r>
            <a:r>
              <a:rPr lang="en-US" dirty="0"/>
              <a:t> with quotes to write the literal command string into </a:t>
            </a:r>
            <a:r>
              <a:rPr lang="en-US" dirty="0">
                <a:latin typeface="Courier New" panose="02070309020205020404" pitchFamily="49" charset="0"/>
              </a:rPr>
              <a:t>my_task.txt</a:t>
            </a:r>
            <a:endParaRPr lang="en-US" dirty="0"/>
          </a:p>
        </p:txBody>
      </p:sp>
      <p:pic>
        <p:nvPicPr>
          <p:cNvPr id="11" name="Resim 10">
            <a:extLst>
              <a:ext uri="{FF2B5EF4-FFF2-40B4-BE49-F238E27FC236}">
                <a16:creationId xmlns:a16="http://schemas.microsoft.com/office/drawing/2014/main" id="{9AC965A4-BE73-F4F5-FDB1-25138D2AEA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3500" y="2496494"/>
            <a:ext cx="5841079" cy="1127226"/>
          </a:xfrm>
          <a:prstGeom prst="rect">
            <a:avLst/>
          </a:prstGeom>
        </p:spPr>
      </p:pic>
      <p:sp>
        <p:nvSpPr>
          <p:cNvPr id="13" name="Metin kutusu 12">
            <a:extLst>
              <a:ext uri="{FF2B5EF4-FFF2-40B4-BE49-F238E27FC236}">
                <a16:creationId xmlns:a16="http://schemas.microsoft.com/office/drawing/2014/main" id="{A025619E-2214-B763-5339-CDDAA3EFE852}"/>
              </a:ext>
            </a:extLst>
          </p:cNvPr>
          <p:cNvSpPr txBox="1"/>
          <p:nvPr/>
        </p:nvSpPr>
        <p:spPr>
          <a:xfrm>
            <a:off x="6098500" y="3676421"/>
            <a:ext cx="60935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Verify Cumulative File Content:</a:t>
            </a:r>
            <a:endParaRPr lang="en-US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Inspect the file with </a:t>
            </a:r>
            <a:r>
              <a:rPr lang="en-US" dirty="0">
                <a:latin typeface="Courier New" panose="02070309020205020404" pitchFamily="49" charset="0"/>
              </a:rPr>
              <a:t>cat</a:t>
            </a:r>
            <a:r>
              <a:rPr lang="en-US" dirty="0"/>
              <a:t> to confirm all task entries:</a:t>
            </a:r>
          </a:p>
        </p:txBody>
      </p:sp>
      <p:pic>
        <p:nvPicPr>
          <p:cNvPr id="15" name="Resim 14">
            <a:extLst>
              <a:ext uri="{FF2B5EF4-FFF2-40B4-BE49-F238E27FC236}">
                <a16:creationId xmlns:a16="http://schemas.microsoft.com/office/drawing/2014/main" id="{A2DD0BC8-1F5D-B814-EFEF-556F5A8E94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3501" y="4561207"/>
            <a:ext cx="4706911" cy="1909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3381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9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0CAC0FA3-3868-4B36-C1A6-847589687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en-US" sz="3000"/>
              <a:t>Lab Evaluation &amp; Resource Teardown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B6C9019-C2E1-A358-059D-7952CC7D9C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4" y="502920"/>
            <a:ext cx="7083003" cy="1754326"/>
          </a:xfrm>
        </p:spPr>
        <p:txBody>
          <a:bodyPr anchor="ctr">
            <a:normAutofit fontScale="92500" lnSpcReduction="10000"/>
          </a:bodyPr>
          <a:lstStyle/>
          <a:p>
            <a:pPr marL="0" lvl="0" indent="0">
              <a:buNone/>
            </a:pPr>
            <a:r>
              <a:rPr lang="en-US" sz="1600" b="1" dirty="0"/>
              <a:t>Role &amp; Host:</a:t>
            </a:r>
            <a:r>
              <a:rPr lang="en-US" sz="1600" dirty="0"/>
              <a:t> Executed as the </a:t>
            </a:r>
            <a:r>
              <a:rPr lang="en-US" sz="1600" dirty="0">
                <a:latin typeface="Courier New" panose="02070309020205020404" pitchFamily="49" charset="0"/>
              </a:rPr>
              <a:t>student</a:t>
            </a:r>
            <a:r>
              <a:rPr lang="en-US" sz="1600" dirty="0"/>
              <a:t> user on the </a:t>
            </a:r>
            <a:r>
              <a:rPr lang="en-US" sz="1600" dirty="0">
                <a:latin typeface="Courier New" panose="02070309020205020404" pitchFamily="49" charset="0"/>
              </a:rPr>
              <a:t>workstation</a:t>
            </a:r>
            <a:r>
              <a:rPr lang="en-US" sz="1600" dirty="0"/>
              <a:t> machine.</a:t>
            </a:r>
          </a:p>
          <a:p>
            <a:pPr marL="0" lvl="0" indent="0">
              <a:buNone/>
            </a:pPr>
            <a:r>
              <a:rPr lang="en-US" sz="1600" b="1" dirty="0"/>
              <a:t>Assessment Workflow:</a:t>
            </a:r>
            <a:endParaRPr lang="en-US" sz="1600" dirty="0"/>
          </a:p>
          <a:p>
            <a:pPr lvl="1"/>
            <a:r>
              <a:rPr lang="en-US" sz="1600" dirty="0"/>
              <a:t>Run the grading utility to validate all task requirements within </a:t>
            </a:r>
            <a:r>
              <a:rPr lang="en-US" sz="1600" dirty="0">
                <a:latin typeface="Courier New" panose="02070309020205020404" pitchFamily="49" charset="0"/>
              </a:rPr>
              <a:t>my_task.txt</a:t>
            </a:r>
            <a:r>
              <a:rPr lang="en-US" sz="1600" dirty="0"/>
              <a:t>.</a:t>
            </a:r>
          </a:p>
          <a:p>
            <a:pPr lvl="1"/>
            <a:r>
              <a:rPr lang="en-US" sz="1600" dirty="0"/>
              <a:t>Review any reported failures, correct the discrepancies, and re-run until successful.</a:t>
            </a:r>
          </a:p>
          <a:p>
            <a:pPr marL="0" lvl="0" indent="0">
              <a:buNone/>
            </a:pPr>
            <a:r>
              <a:rPr lang="en-US" sz="1600" b="1" dirty="0"/>
              <a:t>Evaluation Command:</a:t>
            </a:r>
            <a:endParaRPr lang="en-US" sz="1600" dirty="0"/>
          </a:p>
          <a:p>
            <a:endParaRPr lang="en-US" sz="1200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6742780F-B3D2-38A5-D219-1928226F6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3849" y="2043192"/>
            <a:ext cx="5239393" cy="1336046"/>
          </a:xfrm>
          <a:prstGeom prst="rect">
            <a:avLst/>
          </a:prstGeom>
        </p:spPr>
      </p:pic>
      <p:sp>
        <p:nvSpPr>
          <p:cNvPr id="7" name="Metin kutusu 6">
            <a:extLst>
              <a:ext uri="{FF2B5EF4-FFF2-40B4-BE49-F238E27FC236}">
                <a16:creationId xmlns:a16="http://schemas.microsoft.com/office/drawing/2014/main" id="{295A8222-4A1F-3065-5E5E-8CCA318DB083}"/>
              </a:ext>
            </a:extLst>
          </p:cNvPr>
          <p:cNvSpPr txBox="1"/>
          <p:nvPr/>
        </p:nvSpPr>
        <p:spPr>
          <a:xfrm>
            <a:off x="661288" y="3312848"/>
            <a:ext cx="895947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Directory Requirement:</a:t>
            </a:r>
            <a:r>
              <a:rPr lang="en-US" dirty="0"/>
              <a:t> Return to the </a:t>
            </a:r>
            <a:r>
              <a:rPr lang="en-US" dirty="0">
                <a:latin typeface="Courier New" panose="02070309020205020404" pitchFamily="49" charset="0"/>
              </a:rPr>
              <a:t>student</a:t>
            </a:r>
            <a:r>
              <a:rPr lang="en-US" dirty="0"/>
              <a:t> user home directory before running the final script.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Resource Preservation: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Frees and resets all allocated lab components.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Ensures resources from this exercise do not interfere with upcoming lab modules.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Finish Command:</a:t>
            </a:r>
            <a:endParaRPr lang="en-US" dirty="0"/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C6F7199B-0F45-9436-519E-30C0CE1A9F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7033" y="4897748"/>
            <a:ext cx="5921115" cy="1503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7503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416</TotalTime>
  <Words>1899</Words>
  <Application>Microsoft Office PowerPoint</Application>
  <PresentationFormat>Geniş ekran</PresentationFormat>
  <Paragraphs>230</Paragraphs>
  <Slides>18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6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18</vt:i4>
      </vt:variant>
    </vt:vector>
  </HeadingPairs>
  <TitlesOfParts>
    <vt:vector size="25" baseType="lpstr">
      <vt:lpstr>Aptos</vt:lpstr>
      <vt:lpstr>Aptos Display</vt:lpstr>
      <vt:lpstr>Arial</vt:lpstr>
      <vt:lpstr>Cambria Math</vt:lpstr>
      <vt:lpstr>Courier New</vt:lpstr>
      <vt:lpstr>Google Sans Text</vt:lpstr>
      <vt:lpstr>Office Teması</vt:lpstr>
      <vt:lpstr>Red Hat System Administration I 10.0</vt:lpstr>
      <vt:lpstr>Introduction to Linux Manual Pages (man)</vt:lpstr>
      <vt:lpstr>Common Sections of the Linux Manual</vt:lpstr>
      <vt:lpstr>Accessing &amp; Querying Man Pages</vt:lpstr>
      <vt:lpstr>Structural Anatomy of a Man Page</vt:lpstr>
      <vt:lpstr>Navigation Controls &amp; Pattern Searching</vt:lpstr>
      <vt:lpstr>Keyword Search Mechanisms: Titles, Summaries &amp; Descriptions</vt:lpstr>
      <vt:lpstr>Full-Text Page Search &amp; Search Indexing</vt:lpstr>
      <vt:lpstr>Guided Exercise: Manual Pages Overview &amp; Setup</vt:lpstr>
      <vt:lpstr>Section Distinction &amp; Command Behavior Inspection</vt:lpstr>
      <vt:lpstr>Keyword Discovery &amp; Title Lookups</vt:lpstr>
      <vt:lpstr>Applied Man Page Research &amp; Lab Teardown</vt:lpstr>
      <vt:lpstr>Lab Overview: Help from Local Documentation</vt:lpstr>
      <vt:lpstr>Researching &amp; Appending Machine FQDNs</vt:lpstr>
      <vt:lpstr>Calculating Epoch Time with the date Command</vt:lpstr>
      <vt:lpstr>Identifying the SELinux Operating Mode</vt:lpstr>
      <vt:lpstr>Researching PostScript Printing &amp; Appending Commands</vt:lpstr>
      <vt:lpstr>Lab Evaluation &amp; Resource Teardown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Dilara Gülenç</dc:creator>
  <cp:lastModifiedBy>Dilara Gülenç</cp:lastModifiedBy>
  <cp:revision>2</cp:revision>
  <dcterms:created xsi:type="dcterms:W3CDTF">2026-10-21T08:15:09Z</dcterms:created>
  <dcterms:modified xsi:type="dcterms:W3CDTF">2026-10-26T12:39:41Z</dcterms:modified>
</cp:coreProperties>
</file>