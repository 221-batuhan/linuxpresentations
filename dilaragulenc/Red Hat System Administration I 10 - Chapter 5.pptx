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3" r:id="rId7"/>
    <p:sldId id="264" r:id="rId8"/>
    <p:sldId id="266" r:id="rId9"/>
    <p:sldId id="261" r:id="rId10"/>
    <p:sldId id="267" r:id="rId11"/>
    <p:sldId id="268" r:id="rId12"/>
    <p:sldId id="270" r:id="rId13"/>
    <p:sldId id="269" r:id="rId14"/>
    <p:sldId id="271" r:id="rId15"/>
    <p:sldId id="272" r:id="rId16"/>
    <p:sldId id="273" r:id="rId17"/>
    <p:sldId id="275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6D3FC47-5FAD-6640-3FBF-ADEFF9EBE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FD69644-76BB-874F-A3D0-FBBD10B8C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2DFA6B-8005-60B6-B49B-AB0C2C78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9CCF33E-38BA-8CCD-14F6-C584AF648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12E51CA-A246-5B83-07DC-EBA5F59E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2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232372-BCBC-FB17-804F-389CFF9F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56F0933-EC7C-E6BD-8B52-2202F099A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0725155-3D6B-E900-5A21-005C51493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481225B-604F-112D-316A-AAFEEA54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A87A3E7-BC26-41B6-FF61-D497BE7D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6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A8BD1F-E87B-FBA8-FD4C-09E26FF1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6F256A0-C433-DEA7-940C-BB7B4F748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0D28F8A-EE3C-8732-C0D9-E342A043E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DEC3153-B9D8-AE6A-E900-D561940D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664ED74-495D-267C-34E6-FE3E51EB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29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76AB15-9808-E01F-4714-C0F74722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9E04D7-F810-EB08-2883-31EDCA1B0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A009CF0-D3D1-A7E3-4AE1-5EBB7D17F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1EC45F3-35F7-BD44-1CCF-218EC7B45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0D9D4BD-07F9-BA7E-6AAF-786E2B3C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5FC390B-BB11-2BE3-D929-267B4F29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84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AC729B-84CF-1A22-103C-95C38FA32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F471728-9AC9-77BE-F474-D51527D15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52BDE44-D25E-7D86-C785-A103BE1A5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9D5BCBB-92C0-244D-8ECF-1318174C4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627F76B-465D-E85C-6A4D-24CEC5474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87267C8F-EC94-A129-F1DD-4672DA1F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D661F9B-1A2C-8FDC-29B5-75CC2C24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59F47388-5E76-9F62-87A6-F3BA6B08A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4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3C4297-638C-C65B-23C0-EC15535B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7F9B0B3-66DD-505E-C9FD-7647F674A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79E5A74-77E1-1834-E9C2-2A9D99AF0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B4C02A6-E83E-329E-A0F7-8259FDF0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5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062F0AE-F29E-5D5B-F195-B25627FC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0777985-8006-2931-5FF4-225885E0C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6EB26CE-8FD6-CA87-366B-E33F9F04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64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31ED2E-4EF0-758B-87EC-1CDF294F6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A12CE34-5E03-45A3-07FD-A9978DF87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4F34739-1A94-3455-A2EA-6A2D7A370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5BA6969-648A-2337-5258-9B848185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90DD223-3E4D-B70A-23C9-FD2E325F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C2CD30F-1800-6AE1-A03E-36D798DB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17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8EFE3B-1D35-D039-E068-55AC6BE5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4114241-4B96-9873-B85B-E1933B7EC8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354D257-6ACF-76D3-00C9-CE03A04E6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50AB868-FFBB-E915-FFC1-3A9E1E4C4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F1B2B4F-EC22-D1AD-9142-F9E4787D4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6551D27-DDB5-B5A7-2E35-CEE99960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6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09FD2B-DC88-B3DB-DECD-060FA780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0595512-A023-6070-AA5A-BDEFECD76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DC2EF98-C810-212A-D987-D407AD04B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006AC9D-32BE-5113-72A8-E58795AD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CA83EBF-791F-7E6B-FA26-983BB43D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C132D1A-8B69-1401-FAE1-7526C41CE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07400D8-E807-2676-009F-775A91B36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3CBD5E9-F2BD-8A10-3F1C-0503F3C3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4F91F22-4AEB-4FE7-0A15-34CFE352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B088AC4-094A-2936-CAD7-6BDDAAA6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9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B73805CE-7F26-5100-02E0-4B1E3E392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B4E69D1-012E-204F-BD3D-B595F7963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B458D74-CE2A-3700-4632-5CB8A31C3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DC24D-04E7-4BB8-A8AA-EA99E6F19F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D63A27A-FD26-B4E1-91D7-735D6B85A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0C7285B-9DE8-8D8E-0D10-B7D3104A0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D6F2C-2244-4473-BA3A-5F6406655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7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23C9ED-D707-9AE5-83A3-C02C7048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470" y="3041077"/>
            <a:ext cx="10640754" cy="775845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Red Hat System Administration I 10.0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23D44DA-3ADE-E856-31FA-44C8B6343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9131" y="3993384"/>
            <a:ext cx="8409368" cy="825508"/>
          </a:xfrm>
        </p:spPr>
        <p:txBody>
          <a:bodyPr anchor="ctr">
            <a:normAutofit/>
          </a:bodyPr>
          <a:lstStyle/>
          <a:p>
            <a:pPr algn="r"/>
            <a:r>
              <a:rPr lang="tr-TR" sz="2000" b="1" dirty="0" err="1">
                <a:solidFill>
                  <a:schemeClr val="tx2"/>
                </a:solidFill>
              </a:rPr>
              <a:t>Chapter</a:t>
            </a:r>
            <a:r>
              <a:rPr lang="tr-TR" sz="2000" b="1" dirty="0">
                <a:solidFill>
                  <a:schemeClr val="tx2"/>
                </a:solidFill>
              </a:rPr>
              <a:t>  5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4B38AA2-095D-634B-3059-51BECAEE5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9" y="375972"/>
            <a:ext cx="2916879" cy="1221295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A8F42B92-EC7C-16BE-57B9-677AD7A323BA}"/>
              </a:ext>
            </a:extLst>
          </p:cNvPr>
          <p:cNvSpPr txBox="1"/>
          <p:nvPr/>
        </p:nvSpPr>
        <p:spPr>
          <a:xfrm>
            <a:off x="9413823" y="5503820"/>
            <a:ext cx="1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Dilara Gülenç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48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A096185-A6EF-A36F-0AFF-43146B87D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RHEL Lightspeed: AI-Powered Enterprise Assistance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B0F0CD4-BE77-92AF-8BD5-10AB435B8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8993" y="1412489"/>
            <a:ext cx="2926080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 algn="just">
              <a:buNone/>
            </a:pPr>
            <a:r>
              <a:rPr lang="en-US" sz="1300" b="1" dirty="0"/>
              <a:t>Core Foundation:</a:t>
            </a:r>
            <a:r>
              <a:rPr lang="en-US" sz="1300" dirty="0"/>
              <a:t> Combines decades of Red Hat Enterprise Linux domain expertise with modern AI technologies.</a:t>
            </a:r>
          </a:p>
          <a:p>
            <a:pPr marL="0" lvl="0" indent="0" algn="just">
              <a:buNone/>
            </a:pPr>
            <a:r>
              <a:rPr lang="en-US" sz="1300" b="1" dirty="0"/>
              <a:t>Target Audience:</a:t>
            </a:r>
            <a:r>
              <a:rPr lang="en-US" sz="1300" dirty="0"/>
              <a:t> System administrators, platform engineers, and developers across all experience levels (from beginners to seasoned admins).</a:t>
            </a:r>
          </a:p>
          <a:p>
            <a:pPr marL="0" lvl="0" indent="0" algn="just">
              <a:buNone/>
            </a:pPr>
            <a:r>
              <a:rPr lang="en-US" sz="1300" b="1" dirty="0"/>
              <a:t>Strategic Value:</a:t>
            </a:r>
            <a:r>
              <a:rPr lang="en-US" sz="1300" dirty="0"/>
              <a:t> Shifts resource allocation from routine maintenance to innovation through proactive guidance, knowledge, and recommendations.</a:t>
            </a:r>
          </a:p>
          <a:p>
            <a:pPr marL="0" lvl="0" indent="0" algn="just">
              <a:buNone/>
            </a:pPr>
            <a:r>
              <a:rPr lang="en-US" sz="1300" b="1" dirty="0"/>
              <a:t>Subscription Model:</a:t>
            </a:r>
            <a:r>
              <a:rPr lang="en-US" sz="1300" dirty="0"/>
              <a:t> Included directly within the standard Red Hat Enterprise Linux subscription at no extra licensing cost.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73268E1D-2E8E-6302-9245-5773212DFC83}"/>
              </a:ext>
            </a:extLst>
          </p:cNvPr>
          <p:cNvSpPr txBox="1">
            <a:spLocks/>
          </p:cNvSpPr>
          <p:nvPr/>
        </p:nvSpPr>
        <p:spPr>
          <a:xfrm>
            <a:off x="8451604" y="1412489"/>
            <a:ext cx="2926080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buNone/>
            </a:pPr>
            <a:r>
              <a:rPr lang="en-US" sz="1400" b="1" dirty="0"/>
              <a:t>1. Command-Line Assistant (Lesson Focus):</a:t>
            </a:r>
            <a:endParaRPr lang="en-US" sz="1400" dirty="0"/>
          </a:p>
          <a:p>
            <a:pPr lvl="1" algn="just"/>
            <a:r>
              <a:rPr lang="en-US" sz="1400" dirty="0"/>
              <a:t>Enables natural English-language questions directly inside the terminal.</a:t>
            </a:r>
          </a:p>
          <a:p>
            <a:pPr lvl="1" algn="just"/>
            <a:r>
              <a:rPr lang="en-US" sz="1400" dirty="0"/>
              <a:t>Delivers instant answers, CLI command suggestions, and troubleshooting workflows.</a:t>
            </a:r>
          </a:p>
          <a:p>
            <a:pPr marL="0" lvl="0" indent="0" algn="just">
              <a:buNone/>
            </a:pPr>
            <a:r>
              <a:rPr lang="en-US" sz="1400" b="1" dirty="0"/>
              <a:t>2. Red Hat Insights Image Builder Recommendations:</a:t>
            </a:r>
            <a:endParaRPr lang="en-US" sz="1400" dirty="0"/>
          </a:p>
          <a:p>
            <a:pPr lvl="1" algn="just"/>
            <a:r>
              <a:rPr lang="en-US" sz="1400" dirty="0"/>
              <a:t>Context-aware package suggestions early in the build pipeline.</a:t>
            </a:r>
          </a:p>
          <a:p>
            <a:pPr lvl="1" algn="just"/>
            <a:r>
              <a:rPr lang="en-US" sz="1400" dirty="0"/>
              <a:t>Reduces configuration risk by proactively identifying missing dependencies and components.</a:t>
            </a:r>
          </a:p>
        </p:txBody>
      </p:sp>
    </p:spTree>
    <p:extLst>
      <p:ext uri="{BB962C8B-B14F-4D97-AF65-F5344CB8AC3E}">
        <p14:creationId xmlns:p14="http://schemas.microsoft.com/office/powerpoint/2010/main" val="179785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568E3A-08CF-D1C6-7EF6-8ABA0780F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200" dirty="0"/>
              <a:t>The Command-Line Assistant in RHEL 10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1E414FF5-801F-9EC0-98B0-5E3298E65C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272158"/>
              </p:ext>
            </p:extLst>
          </p:nvPr>
        </p:nvGraphicFramePr>
        <p:xfrm>
          <a:off x="737406" y="2410122"/>
          <a:ext cx="9307932" cy="3470504"/>
        </p:xfrm>
        <a:graphic>
          <a:graphicData uri="http://schemas.openxmlformats.org/drawingml/2006/table">
            <a:tbl>
              <a:tblPr/>
              <a:tblGrid>
                <a:gridCol w="3102644">
                  <a:extLst>
                    <a:ext uri="{9D8B030D-6E8A-4147-A177-3AD203B41FA5}">
                      <a16:colId xmlns:a16="http://schemas.microsoft.com/office/drawing/2014/main" val="2468508207"/>
                    </a:ext>
                  </a:extLst>
                </a:gridCol>
                <a:gridCol w="3102644">
                  <a:extLst>
                    <a:ext uri="{9D8B030D-6E8A-4147-A177-3AD203B41FA5}">
                      <a16:colId xmlns:a16="http://schemas.microsoft.com/office/drawing/2014/main" val="1572843491"/>
                    </a:ext>
                  </a:extLst>
                </a:gridCol>
                <a:gridCol w="3102644">
                  <a:extLst>
                    <a:ext uri="{9D8B030D-6E8A-4147-A177-3AD203B41FA5}">
                      <a16:colId xmlns:a16="http://schemas.microsoft.com/office/drawing/2014/main" val="1839498668"/>
                    </a:ext>
                  </a:extLst>
                </a:gridCol>
              </a:tblGrid>
              <a:tr h="29365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Role &amp; Interface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573" marR="81573" marT="54382" marB="5438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User Experience Benefits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573" marR="81573" marT="54382" marB="5438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Core Objectives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573" marR="81573" marT="54382" marB="5438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464912"/>
                  </a:ext>
                </a:extLst>
              </a:tr>
              <a:tr h="316362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Terminal Integration: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b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Interprets natural English-language queries directly at the shell prompt without context switching.</a:t>
                      </a:r>
                    </a:p>
                  </a:txBody>
                  <a:tcPr marL="81573" marR="81573" marT="54382" marB="5438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Dual Advantage: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b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Newer Admins: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Simplifies complex administrative workflows and syntax.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b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Seasoned Admins: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Accelerates lookup speed and boosts operational efficiency.</a:t>
                      </a:r>
                    </a:p>
                  </a:txBody>
                  <a:tcPr marL="81573" marR="81573" marT="54382" marB="5438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Practical Focus: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br>
                        <a:rPr 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Troubleshoot real-world system issues by formulating effective technical prompts and critically evaluating assistant output.</a:t>
                      </a:r>
                    </a:p>
                  </a:txBody>
                  <a:tcPr marL="81573" marR="81573" marT="54382" marB="54382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907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51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9DE9523-C295-5D6B-322F-1B424FC4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RHEL Lightspeed Command-Line Assistant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5D1F0FC-7328-F99C-BE3C-42E73F9C8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236" y="2486642"/>
            <a:ext cx="5115784" cy="320930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114300" lvl="0" indent="0" algn="just">
              <a:buNone/>
            </a:pPr>
            <a:r>
              <a:rPr lang="en-US" sz="1600" b="1" dirty="0"/>
              <a:t>Nature:</a:t>
            </a:r>
            <a:r>
              <a:rPr lang="en-US" sz="1600" dirty="0"/>
              <a:t> An optional generative AI tool engineered to boost administrator productivity directly from the terminal.</a:t>
            </a:r>
          </a:p>
          <a:p>
            <a:pPr marL="114300" lvl="0" indent="0" algn="just">
              <a:buNone/>
            </a:pPr>
            <a:r>
              <a:rPr lang="en-US" sz="1600" b="1" dirty="0"/>
              <a:t>Contextual Help:</a:t>
            </a:r>
            <a:r>
              <a:rPr lang="en-US" sz="1600" dirty="0"/>
              <a:t> Interprets natural English queries to generate commands, syntax examples, troubleshooting guidance, and answers.</a:t>
            </a:r>
          </a:p>
          <a:p>
            <a:pPr marL="114300" lvl="0" indent="0" algn="just">
              <a:buNone/>
            </a:pPr>
            <a:r>
              <a:rPr lang="en-US" sz="1600" b="1" dirty="0"/>
              <a:t>Key Use Cases:</a:t>
            </a:r>
            <a:endParaRPr lang="en-US" sz="1600" dirty="0"/>
          </a:p>
          <a:p>
            <a:pPr marL="514350" lvl="1" indent="0" algn="just">
              <a:buNone/>
            </a:pPr>
            <a:r>
              <a:rPr lang="en-US" sz="1600" dirty="0"/>
              <a:t>Answering RHEL-specific configuration and usage questions.</a:t>
            </a:r>
          </a:p>
          <a:p>
            <a:pPr marL="514350" lvl="1" indent="0" algn="just">
              <a:buNone/>
            </a:pPr>
            <a:r>
              <a:rPr lang="en-US" sz="1600" dirty="0"/>
              <a:t>Assisting with systematic system troubleshooting.</a:t>
            </a:r>
          </a:p>
          <a:p>
            <a:pPr marL="514350" lvl="1" indent="0" algn="just">
              <a:buNone/>
            </a:pPr>
            <a:r>
              <a:rPr lang="en-US" sz="1600" dirty="0"/>
              <a:t>Interpreting and explaining system log entries.</a:t>
            </a:r>
          </a:p>
          <a:p>
            <a:pPr marL="514350" lvl="1" indent="0" algn="just">
              <a:buNone/>
            </a:pPr>
            <a:r>
              <a:rPr lang="en-US" sz="1600" dirty="0"/>
              <a:t>Eliminating manual searches across external documentation.</a:t>
            </a:r>
          </a:p>
          <a:p>
            <a:endParaRPr lang="en-US" sz="1100" dirty="0"/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C2B269A3-3152-1835-CB64-47D471FCB67B}"/>
              </a:ext>
            </a:extLst>
          </p:cNvPr>
          <p:cNvSpPr txBox="1">
            <a:spLocks/>
          </p:cNvSpPr>
          <p:nvPr/>
        </p:nvSpPr>
        <p:spPr>
          <a:xfrm>
            <a:off x="6568440" y="2487997"/>
            <a:ext cx="4554501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buNone/>
            </a:pPr>
            <a:r>
              <a:rPr lang="en-US" sz="1600" b="1" dirty="0"/>
              <a:t>Deployment Model:</a:t>
            </a:r>
            <a:r>
              <a:rPr lang="en-US" sz="1600" dirty="0"/>
              <a:t> Supported initially as a </a:t>
            </a:r>
            <a:r>
              <a:rPr lang="en-US" sz="1600" b="1" dirty="0"/>
              <a:t>connected experience only</a:t>
            </a:r>
            <a:r>
              <a:rPr lang="en-US" sz="1600" dirty="0"/>
              <a:t> (requires active internet access to function).</a:t>
            </a:r>
          </a:p>
          <a:p>
            <a:pPr marL="0" lvl="0" indent="0" algn="just">
              <a:buNone/>
            </a:pPr>
            <a:r>
              <a:rPr lang="en-US" sz="1600" b="1" dirty="0"/>
              <a:t>Future Roadmap:</a:t>
            </a:r>
            <a:r>
              <a:rPr lang="en-US" sz="1600" dirty="0"/>
              <a:t> Red Hat is actively investigating methods to support disconnected, on-premise deployments.</a:t>
            </a:r>
          </a:p>
        </p:txBody>
      </p:sp>
    </p:spTree>
    <p:extLst>
      <p:ext uri="{BB962C8B-B14F-4D97-AF65-F5344CB8AC3E}">
        <p14:creationId xmlns:p14="http://schemas.microsoft.com/office/powerpoint/2010/main" val="185112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434F07D-DF41-743B-CCF6-02816537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2985377" cy="4398873"/>
          </a:xfrm>
        </p:spPr>
        <p:txBody>
          <a:bodyPr anchor="ctr">
            <a:normAutofit/>
          </a:bodyPr>
          <a:lstStyle/>
          <a:p>
            <a:r>
              <a:rPr lang="en-US" sz="4000" dirty="0"/>
              <a:t>Operational Boundaries &amp; Safety Guidelines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9AA8DEC1-E059-A6AD-6918-16FBA52293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584962"/>
              </p:ext>
            </p:extLst>
          </p:nvPr>
        </p:nvGraphicFramePr>
        <p:xfrm>
          <a:off x="4456219" y="1503524"/>
          <a:ext cx="6889842" cy="4008890"/>
        </p:xfrm>
        <a:graphic>
          <a:graphicData uri="http://schemas.openxmlformats.org/drawingml/2006/table">
            <a:tbl>
              <a:tblPr/>
              <a:tblGrid>
                <a:gridCol w="3444921">
                  <a:extLst>
                    <a:ext uri="{9D8B030D-6E8A-4147-A177-3AD203B41FA5}">
                      <a16:colId xmlns:a16="http://schemas.microsoft.com/office/drawing/2014/main" val="1131707319"/>
                    </a:ext>
                  </a:extLst>
                </a:gridCol>
                <a:gridCol w="3444921">
                  <a:extLst>
                    <a:ext uri="{9D8B030D-6E8A-4147-A177-3AD203B41FA5}">
                      <a16:colId xmlns:a16="http://schemas.microsoft.com/office/drawing/2014/main" val="1603862896"/>
                    </a:ext>
                  </a:extLst>
                </a:gridCol>
              </a:tblGrid>
              <a:tr h="25675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Generative AI Verification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4044" marR="54044" marT="36029" marB="36029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System Privacy &amp; Telemetry Boundary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4044" marR="54044" marT="36029" marB="36029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025011"/>
                  </a:ext>
                </a:extLst>
              </a:tr>
              <a:tr h="18464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Output Nature: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As a generative AI model, output is generally beneficial but may occasionally be incomplete or inaccurate.</a:t>
                      </a:r>
                    </a:p>
                  </a:txBody>
                  <a:tcPr marL="54044" marR="54044" marT="36029" marB="36029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 Local System Inspection: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The assistant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cannot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inspect or access private hardware/system state information on the host machine.</a:t>
                      </a:r>
                    </a:p>
                  </a:txBody>
                  <a:tcPr marL="54044" marR="54044" marT="36029" marB="36029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70744"/>
                  </a:ext>
                </a:extLst>
              </a:tr>
              <a:tr h="18464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Mandatory Rule: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Always review and validate AI-generated commands prior to execution.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4044" marR="54044" marT="36029" marB="36029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Operational Behavior: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• It cannot tell you your active RAM usage directly; instead, it provides the command you need to run (e.g., </a:t>
                      </a:r>
                      <a:r>
                        <a:rPr lang="en-US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free -m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to inspect available memory yourself.</a:t>
                      </a:r>
                    </a:p>
                  </a:txBody>
                  <a:tcPr marL="54044" marR="54044" marT="36029" marB="36029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745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46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A422BFF-7CC6-42B0-EE9E-50778EC3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Architecture &amp; Foundation</a:t>
            </a:r>
          </a:p>
        </p:txBody>
      </p:sp>
      <p:sp>
        <p:nvSpPr>
          <p:cNvPr id="8" name="İçerik Yer Tutucusu 2">
            <a:extLst>
              <a:ext uri="{FF2B5EF4-FFF2-40B4-BE49-F238E27FC236}">
                <a16:creationId xmlns:a16="http://schemas.microsoft.com/office/drawing/2014/main" id="{4DE20AB3-36F7-437C-8154-8179E2164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lvl="0"/>
            <a:r>
              <a:rPr lang="en-US" sz="2200" b="1"/>
              <a:t>Underlying Model:</a:t>
            </a:r>
            <a:r>
              <a:rPr lang="en-US" sz="2200"/>
              <a:t> Powered by the IBM watsonx AI API large language model (LLM) using the </a:t>
            </a:r>
            <a:r>
              <a:rPr lang="en-US" sz="2200" b="1"/>
              <a:t>IBM Granite</a:t>
            </a:r>
            <a:r>
              <a:rPr lang="en-US" sz="2200"/>
              <a:t> foundation model.</a:t>
            </a:r>
          </a:p>
          <a:p>
            <a:pPr marL="342900" lvl="0"/>
            <a:r>
              <a:rPr lang="en-US" sz="2200" b="1"/>
              <a:t>Delivery Mechanism:</a:t>
            </a:r>
            <a:r>
              <a:rPr lang="en-US" sz="2200"/>
              <a:t> Hosted externally and delivered as a Software-as-a-Service (SaaS) solution.</a:t>
            </a:r>
          </a:p>
          <a:p>
            <a:pPr marL="342900" lvl="0"/>
            <a:r>
              <a:rPr lang="en-US" sz="2200" b="1"/>
              <a:t>Availability:</a:t>
            </a:r>
            <a:r>
              <a:rPr lang="en-US" sz="2200"/>
              <a:t> Accessible to all registered and subscribed RHEL systems.</a:t>
            </a:r>
          </a:p>
          <a:p>
            <a:endParaRPr lang="en-US" sz="2200"/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2D5A4CCB-EAB5-5BE3-700F-F892BBEF6188}"/>
              </a:ext>
            </a:extLst>
          </p:cNvPr>
          <p:cNvSpPr txBox="1">
            <a:spLocks/>
          </p:cNvSpPr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/>
              <a:t>Red Hat Ecosystem Datasets:</a:t>
            </a:r>
            <a:r>
              <a:rPr lang="en-US" sz="2400"/>
              <a:t> The model is specifically fine-tuned and trained on authoritative enterprise sources:</a:t>
            </a:r>
          </a:p>
          <a:p>
            <a:pPr lvl="0"/>
            <a:r>
              <a:rPr lang="en-US" sz="2400"/>
              <a:t>Red Hat Knowledge Center Service (KCS) articles</a:t>
            </a:r>
          </a:p>
          <a:p>
            <a:pPr lvl="0"/>
            <a:r>
              <a:rPr lang="en-US" sz="2400"/>
              <a:t>Official RHEL system documentation and product guides</a:t>
            </a:r>
          </a:p>
          <a:p>
            <a:pPr lvl="0"/>
            <a:r>
              <a:rPr lang="en-US" sz="2400"/>
              <a:t>Upstream enterprise Linux best practices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5157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F353E7A-FE7A-1582-8042-7F067E2A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31961"/>
            <a:ext cx="8782050" cy="2586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Installation &amp; First Query Execution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D1C290A-49B8-4421-95C4-8921E383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490602"/>
            <a:ext cx="9144000" cy="15636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Prerequisites &amp; Package Deployment:</a:t>
            </a:r>
          </a:p>
        </p:txBody>
      </p:sp>
      <p:graphicFrame>
        <p:nvGraphicFramePr>
          <p:cNvPr id="6" name="Tablo 5">
            <a:extLst>
              <a:ext uri="{FF2B5EF4-FFF2-40B4-BE49-F238E27FC236}">
                <a16:creationId xmlns:a16="http://schemas.microsoft.com/office/drawing/2014/main" id="{25DA76AC-48A1-F448-A583-80651220C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095669"/>
              </p:ext>
            </p:extLst>
          </p:nvPr>
        </p:nvGraphicFramePr>
        <p:xfrm>
          <a:off x="990600" y="2599753"/>
          <a:ext cx="10515600" cy="24079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714542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286693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Parameter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Requirement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962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Subscription State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System must be actively subscribed (managed via </a:t>
                      </a:r>
                      <a:r>
                        <a:rPr lang="en-US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subscription-manager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006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Supported Releases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RHEL 10.0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and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RHEL 9.6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(or later)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624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Package Name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command-line-assistant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(installed using </a:t>
                      </a:r>
                      <a:r>
                        <a:rPr lang="en-US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dnf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041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CLI Binary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Provides the </a:t>
                      </a:r>
                      <a:r>
                        <a:rPr lang="en-US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utility as the primary interface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80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257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1A58F-6ADA-54A4-1CD5-2F99213B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38160E-18A6-AF61-1768-17435C26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898EC2-9307-DB3E-59A0-F12D9B045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E7E294F-5084-ECD9-053E-743EF8AB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1734CD-26ED-2277-28D6-57E4DCF5B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63135BE-101C-B433-6217-8BF8EDDE0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1E474B6-BE15-5261-D565-723A20C2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31961"/>
            <a:ext cx="8782050" cy="2586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Installation &amp; First Query Execution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55B5BE-C3DB-381A-4EBF-2BAD460B1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490602"/>
            <a:ext cx="9144000" cy="15636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Prerequisites &amp; Package Deployment:</a:t>
            </a: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D05F4296-6DF7-8B06-1990-E76D06B921E0}"/>
              </a:ext>
            </a:extLst>
          </p:cNvPr>
          <p:cNvSpPr txBox="1">
            <a:spLocks/>
          </p:cNvSpPr>
          <p:nvPr/>
        </p:nvSpPr>
        <p:spPr>
          <a:xfrm>
            <a:off x="289114" y="2021695"/>
            <a:ext cx="4942769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1. Package Installation: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202140D-F826-E624-B6E9-A546D9224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42" y="2596230"/>
            <a:ext cx="4944363" cy="1582196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BD21999F-B57E-A3A9-BA11-D15B587C38EE}"/>
              </a:ext>
            </a:extLst>
          </p:cNvPr>
          <p:cNvSpPr txBox="1"/>
          <p:nvPr/>
        </p:nvSpPr>
        <p:spPr>
          <a:xfrm>
            <a:off x="5558686" y="2005028"/>
            <a:ext cx="54667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2. Querying RHEL Lightspeed (c chat):</a:t>
            </a: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44F31C65-9045-10D0-47FA-4C9B5FE7A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233" y="2836737"/>
            <a:ext cx="6005931" cy="2402372"/>
          </a:xfrm>
          <a:prstGeom prst="rect">
            <a:avLst/>
          </a:prstGeom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8A873A0A-CA8E-2977-C6B8-B841D640048D}"/>
              </a:ext>
            </a:extLst>
          </p:cNvPr>
          <p:cNvSpPr txBox="1"/>
          <p:nvPr/>
        </p:nvSpPr>
        <p:spPr>
          <a:xfrm>
            <a:off x="5539233" y="5929861"/>
            <a:ext cx="6589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Privacy Notice: Queries should never contain sensitive or personal data, as interactions may be utilized to improve Red Hat services.</a:t>
            </a:r>
          </a:p>
        </p:txBody>
      </p:sp>
    </p:spTree>
    <p:extLst>
      <p:ext uri="{BB962C8B-B14F-4D97-AF65-F5344CB8AC3E}">
        <p14:creationId xmlns:p14="http://schemas.microsoft.com/office/powerpoint/2010/main" val="4293773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097FA79-ECCC-B43D-E6BB-165FB52E9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/>
              <a:t>Troubleshooting &amp; Query Modes with RHEL Lightspeed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DA3D2F-9F74-51F2-02C4-059290D99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384" y="2424565"/>
            <a:ext cx="5302339" cy="1705791"/>
          </a:xfrm>
        </p:spPr>
        <p:txBody>
          <a:bodyPr anchor="ctr">
            <a:normAutofit fontScale="850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Prompting Principle:</a:t>
            </a:r>
            <a:r>
              <a:rPr lang="en-US" sz="2000" dirty="0"/>
              <a:t> Clear, well-structured, and precisely phrased natural-language questions yield the most relevant troubleshooting responses.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</a:rPr>
              <a:t>Target Audience:</a:t>
            </a:r>
            <a:r>
              <a:rPr lang="en-US" sz="2000" dirty="0">
                <a:effectLst/>
              </a:rPr>
              <a:t> Aids users with limited Linux experience while accelerating diagnostic workflows for seasoned administrators.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Direct Natural-Language Query: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E260452-0170-8F19-F784-6F09C0C28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42" y="4485811"/>
            <a:ext cx="5150277" cy="99142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FFE6E48C-E8F6-652E-7798-F5BB2022D850}"/>
              </a:ext>
            </a:extLst>
          </p:cNvPr>
          <p:cNvSpPr txBox="1">
            <a:spLocks/>
          </p:cNvSpPr>
          <p:nvPr/>
        </p:nvSpPr>
        <p:spPr>
          <a:xfrm>
            <a:off x="5953873" y="2161485"/>
            <a:ext cx="5302339" cy="1705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700" b="1" dirty="0"/>
              <a:t>Use Case:</a:t>
            </a:r>
            <a:r>
              <a:rPr lang="en-US" sz="1700" dirty="0"/>
              <a:t> Complex troubleshooting scenarios requiring iterative context, multi-step problem solving, and follow-up clarifications.</a:t>
            </a:r>
          </a:p>
          <a:p>
            <a:pPr lvl="0"/>
            <a:r>
              <a:rPr lang="en-US" sz="1700" b="1" dirty="0"/>
              <a:t>Session Lifecycle:</a:t>
            </a:r>
            <a:endParaRPr lang="en-US" sz="17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1354457-B219-7784-77BA-1FF197351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003" y="3539488"/>
            <a:ext cx="4895850" cy="1523874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313C8A29-B235-FD1D-2965-882CE7EA12D0}"/>
              </a:ext>
            </a:extLst>
          </p:cNvPr>
          <p:cNvSpPr txBox="1"/>
          <p:nvPr/>
        </p:nvSpPr>
        <p:spPr>
          <a:xfrm>
            <a:off x="6096000" y="5175975"/>
            <a:ext cx="547869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Exit Controls:</a:t>
            </a:r>
            <a:r>
              <a:rPr lang="en-US" sz="1700" dirty="0"/>
              <a:t> Type </a:t>
            </a:r>
            <a:r>
              <a:rPr lang="en-US" sz="1700" dirty="0">
                <a:latin typeface="Courier New" panose="02070309020205020404" pitchFamily="49" charset="0"/>
              </a:rPr>
              <a:t>.exit</a:t>
            </a:r>
            <a:r>
              <a:rPr lang="en-US" sz="1700" dirty="0"/>
              <a:t> or press </a:t>
            </a:r>
            <a:r>
              <a:rPr lang="en-US" sz="1700" b="1" dirty="0"/>
              <a:t>Ctrl + C</a:t>
            </a:r>
            <a:r>
              <a:rPr lang="en-US" sz="1700" dirty="0"/>
              <a:t> to terminate the interactive session.</a:t>
            </a:r>
          </a:p>
        </p:txBody>
      </p:sp>
    </p:spTree>
    <p:extLst>
      <p:ext uri="{BB962C8B-B14F-4D97-AF65-F5344CB8AC3E}">
        <p14:creationId xmlns:p14="http://schemas.microsoft.com/office/powerpoint/2010/main" val="2721669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BBB1621-A92B-C1B8-87FA-4EB313A52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316" y="-91278"/>
            <a:ext cx="7983474" cy="1003325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Analyzing Live Command Output via Pipelines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F8DCEC5-E91A-9581-B0D1-F1CA4C8AA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485" y="1378882"/>
            <a:ext cx="4767205" cy="1897637"/>
          </a:xfrm>
        </p:spPr>
        <p:txBody>
          <a:bodyPr anchor="ctr">
            <a:normAutofit/>
          </a:bodyPr>
          <a:lstStyle/>
          <a:p>
            <a:pPr lvl="0"/>
            <a:r>
              <a:rPr lang="en-US" sz="1800" b="1" dirty="0">
                <a:solidFill>
                  <a:schemeClr val="tx2"/>
                </a:solidFill>
                <a:effectLst/>
              </a:rPr>
              <a:t>Contextual Analysis:</a:t>
            </a:r>
            <a:r>
              <a:rPr lang="en-US" sz="1800" dirty="0">
                <a:solidFill>
                  <a:schemeClr val="tx2"/>
                </a:solidFill>
                <a:effectLst/>
              </a:rPr>
              <a:t> Piping command output directly into the assistant provides concrete operational data for root-cause diagnosis.</a:t>
            </a:r>
          </a:p>
          <a:p>
            <a:pPr lvl="0"/>
            <a:r>
              <a:rPr lang="en-US" sz="1800" b="1" dirty="0">
                <a:solidFill>
                  <a:schemeClr val="tx2"/>
                </a:solidFill>
              </a:rPr>
              <a:t>HTTP Server Log Inspection:</a:t>
            </a: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Resim 4">
            <a:extLst>
              <a:ext uri="{FF2B5EF4-FFF2-40B4-BE49-F238E27FC236}">
                <a16:creationId xmlns:a16="http://schemas.microsoft.com/office/drawing/2014/main" id="{B0FC7115-0946-269F-01FB-FA26486FC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42" y="3284834"/>
            <a:ext cx="5379904" cy="1089430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B74E963A-FA47-2220-C24E-604659E0586D}"/>
              </a:ext>
            </a:extLst>
          </p:cNvPr>
          <p:cNvSpPr txBox="1">
            <a:spLocks/>
          </p:cNvSpPr>
          <p:nvPr/>
        </p:nvSpPr>
        <p:spPr>
          <a:xfrm>
            <a:off x="6589482" y="3171751"/>
            <a:ext cx="4767205" cy="18976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b="1" dirty="0">
                <a:solidFill>
                  <a:schemeClr val="tx2"/>
                </a:solidFill>
              </a:rPr>
              <a:t>Resource Profiling:</a:t>
            </a:r>
            <a:r>
              <a:rPr lang="en-US" sz="1800" dirty="0">
                <a:solidFill>
                  <a:schemeClr val="tx2"/>
                </a:solidFill>
              </a:rPr>
              <a:t> Pipe process inspection tools (</a:t>
            </a:r>
            <a:r>
              <a:rPr lang="en-US" sz="1800" dirty="0" err="1">
                <a:solidFill>
                  <a:schemeClr val="tx2"/>
                </a:solidFill>
              </a:rPr>
              <a:t>ps</a:t>
            </a:r>
            <a:r>
              <a:rPr lang="en-US" sz="1800" dirty="0">
                <a:solidFill>
                  <a:schemeClr val="tx2"/>
                </a:solidFill>
              </a:rPr>
              <a:t>, top, </a:t>
            </a:r>
            <a:r>
              <a:rPr lang="en-US" sz="1800" dirty="0" err="1">
                <a:solidFill>
                  <a:schemeClr val="tx2"/>
                </a:solidFill>
              </a:rPr>
              <a:t>smem</a:t>
            </a:r>
            <a:r>
              <a:rPr lang="en-US" sz="1800" dirty="0">
                <a:solidFill>
                  <a:schemeClr val="tx2"/>
                </a:solidFill>
              </a:rPr>
              <a:t>) to detect abnormal consumption patterns.</a:t>
            </a:r>
          </a:p>
          <a:p>
            <a:pPr lvl="0"/>
            <a:r>
              <a:rPr lang="en-US" sz="1800" b="1" dirty="0">
                <a:solidFill>
                  <a:schemeClr val="tx2"/>
                </a:solidFill>
              </a:rPr>
              <a:t>Top Memory Consumers Inspection:</a:t>
            </a:r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09895D9-6774-D822-18DF-BE8832FD2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702" y="5115027"/>
            <a:ext cx="5623919" cy="13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12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00C1628-95F1-3303-7D7E-7A85810DA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599" y="248083"/>
            <a:ext cx="10505873" cy="1028267"/>
          </a:xfrm>
        </p:spPr>
        <p:txBody>
          <a:bodyPr anchor="b">
            <a:normAutofit/>
          </a:bodyPr>
          <a:lstStyle/>
          <a:p>
            <a:r>
              <a:rPr lang="en-US" sz="3200" dirty="0"/>
              <a:t>Ingesting File Data: Pipes vs. Direct Attachments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D6C35967-62A3-C057-31F2-52C1721DD1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023767"/>
              </p:ext>
            </p:extLst>
          </p:nvPr>
        </p:nvGraphicFramePr>
        <p:xfrm>
          <a:off x="1106599" y="1524433"/>
          <a:ext cx="9850437" cy="1723680"/>
        </p:xfrm>
        <a:graphic>
          <a:graphicData uri="http://schemas.openxmlformats.org/drawingml/2006/table">
            <a:tbl>
              <a:tblPr/>
              <a:tblGrid>
                <a:gridCol w="3283479">
                  <a:extLst>
                    <a:ext uri="{9D8B030D-6E8A-4147-A177-3AD203B41FA5}">
                      <a16:colId xmlns:a16="http://schemas.microsoft.com/office/drawing/2014/main" val="3192376851"/>
                    </a:ext>
                  </a:extLst>
                </a:gridCol>
                <a:gridCol w="3283479">
                  <a:extLst>
                    <a:ext uri="{9D8B030D-6E8A-4147-A177-3AD203B41FA5}">
                      <a16:colId xmlns:a16="http://schemas.microsoft.com/office/drawing/2014/main" val="290504694"/>
                    </a:ext>
                  </a:extLst>
                </a:gridCol>
                <a:gridCol w="3283479">
                  <a:extLst>
                    <a:ext uri="{9D8B030D-6E8A-4147-A177-3AD203B41FA5}">
                      <a16:colId xmlns:a16="http://schemas.microsoft.com/office/drawing/2014/main" val="1818152099"/>
                    </a:ext>
                  </a:extLst>
                </a:gridCol>
              </a:tblGrid>
              <a:tr h="39972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Method</a:t>
                      </a:r>
                      <a:endParaRPr lang="en-US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7070" marR="107070" marT="71380" marB="7138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Mechanism</a:t>
                      </a:r>
                      <a:endParaRPr lang="en-US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7070" marR="107070" marT="71380" marB="7138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Typical Scenario</a:t>
                      </a:r>
                      <a:endParaRPr lang="en-US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7070" marR="107070" marT="71380" marB="7138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675352"/>
                  </a:ext>
                </a:extLst>
              </a:tr>
              <a:tr h="6566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Pipeline Ingestion (</a:t>
                      </a:r>
                      <a:r>
                        <a:rPr lang="en-US" sz="11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|</a:t>
                      </a:r>
                      <a:r>
                        <a:rPr lang="en-US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US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7070" marR="107070" marT="71380" marB="7138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Streams standard output of file reading utilities (</a:t>
                      </a:r>
                      <a:r>
                        <a:rPr lang="en-US" sz="11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</a:t>
                      </a:r>
                      <a:r>
                        <a:rPr lang="en-US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into </a:t>
                      </a:r>
                      <a:r>
                        <a:rPr lang="en-US" sz="11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 chat</a:t>
                      </a:r>
                      <a:endParaRPr lang="en-US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7070" marR="107070" marT="71380" marB="7138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Inspecting system log files or active configs</a:t>
                      </a:r>
                    </a:p>
                  </a:txBody>
                  <a:tcPr marL="107070" marR="107070" marT="71380" marB="7138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053532"/>
                  </a:ext>
                </a:extLst>
              </a:tr>
              <a:tr h="6566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Direct Attachment (</a:t>
                      </a:r>
                      <a:r>
                        <a:rPr lang="en-US" sz="11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-a</a:t>
                      </a:r>
                      <a:r>
                        <a:rPr lang="en-US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</a:t>
                      </a:r>
                      <a:r>
                        <a:rPr lang="en-US" sz="11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--attachment</a:t>
                      </a:r>
                      <a:r>
                        <a:rPr lang="en-US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US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7070" marR="107070" marT="71380" marB="7138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Attaches file directly to the query string</a:t>
                      </a:r>
                    </a:p>
                  </a:txBody>
                  <a:tcPr marL="107070" marR="107070" marT="71380" marB="7138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7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Specific system logs, boot logs, and static traces</a:t>
                      </a:r>
                    </a:p>
                  </a:txBody>
                  <a:tcPr marL="107070" marR="107070" marT="71380" marB="7138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003422"/>
                  </a:ext>
                </a:extLst>
              </a:tr>
            </a:tbl>
          </a:graphicData>
        </a:graphic>
      </p:graphicFrame>
      <p:sp>
        <p:nvSpPr>
          <p:cNvPr id="6" name="Metin kutusu 5">
            <a:extLst>
              <a:ext uri="{FF2B5EF4-FFF2-40B4-BE49-F238E27FC236}">
                <a16:creationId xmlns:a16="http://schemas.microsoft.com/office/drawing/2014/main" id="{3E1BA27C-5A77-C418-7572-F40E75565B8A}"/>
              </a:ext>
            </a:extLst>
          </p:cNvPr>
          <p:cNvSpPr txBox="1"/>
          <p:nvPr/>
        </p:nvSpPr>
        <p:spPr>
          <a:xfrm>
            <a:off x="1178848" y="34961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Execution Examples: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B162BF00-5F45-2793-F0A1-5BA9A9AA7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99" y="3885332"/>
            <a:ext cx="6006989" cy="1723680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CD15848A-D5A6-73A1-631B-0C9A7E858C52}"/>
              </a:ext>
            </a:extLst>
          </p:cNvPr>
          <p:cNvSpPr txBox="1"/>
          <p:nvPr/>
        </p:nvSpPr>
        <p:spPr>
          <a:xfrm>
            <a:off x="6984581" y="4085452"/>
            <a:ext cx="46636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Data Privacy &amp; System Access Boundary:</a:t>
            </a:r>
            <a:r>
              <a:rPr lang="en-US" sz="1600" dirty="0"/>
              <a:t> The command-line assistant </a:t>
            </a:r>
            <a:r>
              <a:rPr lang="en-US" sz="1600" b="1" dirty="0"/>
              <a:t>never</a:t>
            </a:r>
            <a:r>
              <a:rPr lang="en-US" sz="1600" dirty="0"/>
              <a:t> accesses local files or system data autonomously; data is analyzed </a:t>
            </a:r>
            <a:r>
              <a:rPr lang="en-US" sz="1600" b="1" dirty="0"/>
              <a:t>only</a:t>
            </a:r>
            <a:r>
              <a:rPr lang="en-US" sz="1600" dirty="0"/>
              <a:t> when explicitly provided or attached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3543713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C4AF8F-1D1D-710B-D929-9DAB514A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Overview: RHEL Lightspeed Command-Line Assistant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8D95258E-72F5-A649-42EC-11E373986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5050" y="2266948"/>
                <a:ext cx="4895850" cy="3910013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 algn="just">
                  <a:buNone/>
                </a:pPr>
                <a:r>
                  <a:rPr lang="en-US" b="1" dirty="0"/>
                  <a:t>Lab Goals:</a:t>
                </a:r>
                <a:endParaRPr lang="en-US" dirty="0"/>
              </a:p>
              <a:p>
                <a:pPr lvl="1" algn="just"/>
                <a:r>
                  <a:rPr lang="en-US" dirty="0"/>
                  <a:t>Install the command-line assistant on a target node.</a:t>
                </a:r>
              </a:p>
              <a:p>
                <a:pPr lvl="1" algn="just"/>
                <a:r>
                  <a:rPr lang="en-US" dirty="0"/>
                  <a:t>Request AI recommendations for process inspection tools.</a:t>
                </a:r>
              </a:p>
              <a:p>
                <a:pPr lvl="1" algn="just"/>
                <a:r>
                  <a:rPr lang="en-US" dirty="0"/>
                  <a:t>Solicit explanations for command outputs via pipelines.</a:t>
                </a:r>
              </a:p>
              <a:p>
                <a:pPr lvl="1" algn="just"/>
                <a:r>
                  <a:rPr lang="en-US" dirty="0"/>
                  <a:t>Troubleshoot, remediate, and verify a failing system service.</a:t>
                </a:r>
              </a:p>
              <a:p>
                <a:pPr marL="0" lvl="0" indent="0" algn="just">
                  <a:buNone/>
                </a:pPr>
                <a:r>
                  <a:rPr lang="en-US" b="1" dirty="0"/>
                  <a:t>Credentials &amp; Scope:</a:t>
                </a:r>
                <a:endParaRPr lang="en-US" dirty="0"/>
              </a:p>
              <a:p>
                <a:pPr lvl="1" algn="just"/>
                <a:r>
                  <a:rPr lang="en-US" dirty="0"/>
                  <a:t>Host: workstation </a:t>
                </a:r>
                <a14:m>
                  <m:oMath xmlns:m="http://schemas.openxmlformats.org/officeDocument/2006/math">
                    <m:r>
                      <a:rPr lang="en-US"/>
                      <m:t>→</m:t>
                    </m:r>
                  </m:oMath>
                </a14:m>
                <a:r>
                  <a:rPr lang="en-US" dirty="0"/>
                  <a:t>Target node: </a:t>
                </a:r>
                <a:r>
                  <a:rPr lang="en-US" dirty="0" err="1"/>
                  <a:t>servera</a:t>
                </a:r>
                <a:endParaRPr lang="en-US" dirty="0"/>
              </a:p>
              <a:p>
                <a:pPr lvl="1" algn="just"/>
                <a:r>
                  <a:rPr lang="en-US" dirty="0"/>
                  <a:t>User: student (</a:t>
                </a:r>
                <a:r>
                  <a:rPr lang="en-US" dirty="0" err="1"/>
                  <a:t>sudo</a:t>
                </a:r>
                <a:r>
                  <a:rPr lang="en-US" dirty="0"/>
                  <a:t> password: student)</a:t>
                </a:r>
              </a:p>
              <a:p>
                <a:pPr algn="just"/>
                <a:endParaRPr lang="en-US" dirty="0"/>
              </a:p>
            </p:txBody>
          </p:sp>
        </mc:Choice>
        <mc:Fallback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8D95258E-72F5-A649-42EC-11E373986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5050" y="2266948"/>
                <a:ext cx="4895850" cy="3910013"/>
              </a:xfrm>
              <a:blipFill>
                <a:blip r:embed="rId2"/>
                <a:stretch>
                  <a:fillRect l="-1868" t="-3432" r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74BEE3FD-6CD8-5C36-259D-2922C4B30B5F}"/>
              </a:ext>
            </a:extLst>
          </p:cNvPr>
          <p:cNvSpPr txBox="1">
            <a:spLocks/>
          </p:cNvSpPr>
          <p:nvPr/>
        </p:nvSpPr>
        <p:spPr>
          <a:xfrm>
            <a:off x="5734050" y="2171699"/>
            <a:ext cx="4476750" cy="742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1. Start Lab Environment:</a:t>
            </a:r>
            <a:endParaRPr lang="en-US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3FA4171C-62D9-E3B1-A643-CAD5D5A4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998" y="2690894"/>
            <a:ext cx="6285301" cy="1106894"/>
          </a:xfrm>
          <a:prstGeom prst="rect">
            <a:avLst/>
          </a:prstGeom>
        </p:spPr>
      </p:pic>
      <p:sp>
        <p:nvSpPr>
          <p:cNvPr id="20" name="İçerik Yer Tutucusu 2">
            <a:extLst>
              <a:ext uri="{FF2B5EF4-FFF2-40B4-BE49-F238E27FC236}">
                <a16:creationId xmlns:a16="http://schemas.microsoft.com/office/drawing/2014/main" id="{99947DED-FED3-3BBE-551F-69BB8E851408}"/>
              </a:ext>
            </a:extLst>
          </p:cNvPr>
          <p:cNvSpPr txBox="1">
            <a:spLocks/>
          </p:cNvSpPr>
          <p:nvPr/>
        </p:nvSpPr>
        <p:spPr>
          <a:xfrm>
            <a:off x="5581649" y="4100511"/>
            <a:ext cx="6285301" cy="742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2. Install Command-Line Assistant:</a:t>
            </a:r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B4A0CAEA-737F-7441-E1A0-776A5CC27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998" y="4483892"/>
            <a:ext cx="4938450" cy="1106894"/>
          </a:xfrm>
          <a:prstGeom prst="rect">
            <a:avLst/>
          </a:prstGeom>
        </p:spPr>
      </p:pic>
      <p:sp>
        <p:nvSpPr>
          <p:cNvPr id="24" name="Metin kutusu 23">
            <a:extLst>
              <a:ext uri="{FF2B5EF4-FFF2-40B4-BE49-F238E27FC236}">
                <a16:creationId xmlns:a16="http://schemas.microsoft.com/office/drawing/2014/main" id="{CB825988-9135-53E7-E3D4-DD6DF5A82ED7}"/>
              </a:ext>
            </a:extLst>
          </p:cNvPr>
          <p:cNvSpPr txBox="1"/>
          <p:nvPr/>
        </p:nvSpPr>
        <p:spPr>
          <a:xfrm>
            <a:off x="5581649" y="58537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Execution Utility:</a:t>
            </a:r>
            <a:r>
              <a:rPr lang="en-US" dirty="0"/>
              <a:t> Deploys the </a:t>
            </a:r>
            <a:r>
              <a:rPr lang="en-US" dirty="0">
                <a:latin typeface="+mn-lt"/>
              </a:rPr>
              <a:t>c</a:t>
            </a:r>
            <a:r>
              <a:rPr lang="en-US" dirty="0"/>
              <a:t> CLI command as the primary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13073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9D0CBF1-2CC7-F16A-8627-CFE6D36B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120" y="146304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4200" dirty="0"/>
              <a:t>Tool Discovery &amp; Command Output Interpretation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9DDDBB-4BB5-D25F-54D6-B3E946708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120" y="1375712"/>
            <a:ext cx="4539995" cy="60774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Interactive Natural Language Prompt: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C072B34-E1CA-A4DE-8CA5-EDB90B22F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60" y="1750716"/>
            <a:ext cx="5829299" cy="1211613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39ECDED8-695C-E782-A95F-1C44A43CC290}"/>
              </a:ext>
            </a:extLst>
          </p:cNvPr>
          <p:cNvSpPr txBox="1"/>
          <p:nvPr/>
        </p:nvSpPr>
        <p:spPr>
          <a:xfrm>
            <a:off x="853120" y="3217070"/>
            <a:ext cx="53149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/>
              <a:t>Assistant Guidance Summary:</a:t>
            </a:r>
            <a:endParaRPr lang="en-US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+mn-lt"/>
              </a:rPr>
              <a:t>ps</a:t>
            </a:r>
            <a:r>
              <a:rPr lang="en-US" dirty="0">
                <a:latin typeface="+mn-lt"/>
              </a:rPr>
              <a:t> -u student</a:t>
            </a:r>
            <a:r>
              <a:rPr lang="en-US" dirty="0"/>
              <a:t>: Lists processes filtered by specific username.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top</a:t>
            </a:r>
            <a:r>
              <a:rPr lang="en-US" dirty="0"/>
              <a:t> / </a:t>
            </a:r>
            <a:r>
              <a:rPr lang="en-US" dirty="0" err="1">
                <a:latin typeface="+mn-lt"/>
              </a:rPr>
              <a:t>htop</a:t>
            </a:r>
            <a:r>
              <a:rPr lang="en-US" dirty="0"/>
              <a:t>: Dynamic real-time process viewers (filter via field selection or user switches).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+mn-lt"/>
              </a:rPr>
              <a:t>pidstat</a:t>
            </a:r>
            <a:r>
              <a:rPr lang="en-US" dirty="0">
                <a:latin typeface="+mn-lt"/>
              </a:rPr>
              <a:t> -u student</a:t>
            </a:r>
            <a:r>
              <a:rPr lang="en-US" dirty="0"/>
              <a:t>: Historical/interval tracking via the </a:t>
            </a:r>
            <a:r>
              <a:rPr lang="en-US" dirty="0" err="1">
                <a:latin typeface="+mn-lt"/>
              </a:rPr>
              <a:t>sysstat</a:t>
            </a:r>
            <a:r>
              <a:rPr lang="en-US" dirty="0"/>
              <a:t> package.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+mn-lt"/>
              </a:rPr>
              <a:t>journalctl</a:t>
            </a:r>
            <a:r>
              <a:rPr lang="en-US" dirty="0"/>
              <a:t>: Evaluates service-level logs filtered by user attributes.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C90376B4-031C-63CF-BBAF-160A5A8B766B}"/>
              </a:ext>
            </a:extLst>
          </p:cNvPr>
          <p:cNvSpPr txBox="1"/>
          <p:nvPr/>
        </p:nvSpPr>
        <p:spPr>
          <a:xfrm>
            <a:off x="7126151" y="147386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Pipeline Execution: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F34C8108-4A36-08B2-E0D5-ED1AF6A92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541" y="1678081"/>
            <a:ext cx="4968931" cy="1366456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08E052BD-2231-BC08-DB01-619F3848348F}"/>
              </a:ext>
            </a:extLst>
          </p:cNvPr>
          <p:cNvSpPr txBox="1"/>
          <p:nvPr/>
        </p:nvSpPr>
        <p:spPr>
          <a:xfrm>
            <a:off x="6241039" y="3114142"/>
            <a:ext cx="54502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/>
              <a:t>AI-Assisted Field Breakdown:</a:t>
            </a:r>
            <a:endParaRPr lang="en-US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Uptime &amp; Load:</a:t>
            </a:r>
            <a:r>
              <a:rPr lang="en-US" dirty="0"/>
              <a:t> Displays operational duration and 1/5/15-minute system load averages.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Task &amp; CPU States:</a:t>
            </a:r>
            <a:r>
              <a:rPr lang="en-US" dirty="0"/>
              <a:t> Analyzes total tasks, process states (</a:t>
            </a:r>
            <a:r>
              <a:rPr lang="en-US" dirty="0">
                <a:latin typeface="+mn-lt"/>
              </a:rPr>
              <a:t>running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sleeping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zombie</a:t>
            </a:r>
            <a:r>
              <a:rPr lang="en-US" dirty="0"/>
              <a:t>), and CPU % (</a:t>
            </a:r>
            <a:r>
              <a:rPr lang="en-US" dirty="0">
                <a:latin typeface="+mn-lt"/>
              </a:rPr>
              <a:t>us</a:t>
            </a:r>
            <a:r>
              <a:rPr lang="en-US" dirty="0"/>
              <a:t>, </a:t>
            </a:r>
            <a:r>
              <a:rPr lang="en-US" dirty="0" err="1">
                <a:latin typeface="+mn-lt"/>
              </a:rPr>
              <a:t>sy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id</a:t>
            </a:r>
            <a:r>
              <a:rPr lang="en-US" dirty="0"/>
              <a:t>, </a:t>
            </a:r>
            <a:r>
              <a:rPr lang="en-US" dirty="0" err="1">
                <a:latin typeface="+mn-lt"/>
              </a:rPr>
              <a:t>wa</a:t>
            </a:r>
            <a:r>
              <a:rPr lang="en-US" dirty="0"/>
              <a:t>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Memory &amp; Swap:</a:t>
            </a:r>
            <a:r>
              <a:rPr lang="en-US" dirty="0"/>
              <a:t> Identifies used, free, buffer/cache allocations, and available RAM.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Process Metrics Table:</a:t>
            </a:r>
            <a:r>
              <a:rPr lang="en-US" dirty="0"/>
              <a:t> Translates column headers (</a:t>
            </a:r>
            <a:r>
              <a:rPr lang="en-US" dirty="0">
                <a:latin typeface="+mn-lt"/>
              </a:rPr>
              <a:t>PID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PR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NI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VIRT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RES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SHR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S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%CPU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%MEM</a:t>
            </a:r>
            <a:r>
              <a:rPr lang="en-US" dirty="0"/>
              <a:t>, </a:t>
            </a:r>
            <a:r>
              <a:rPr lang="en-US" dirty="0">
                <a:latin typeface="+mn-lt"/>
              </a:rPr>
              <a:t>TIME+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01830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4358E65-0BE0-D89B-63F6-8D32467D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Service Troubleshooting &amp; Diagnosis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FE74FB-2461-67FB-F798-22D6C3386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b="1"/>
              <a:t>Service Start Failure:</a:t>
            </a:r>
            <a:endParaRPr lang="en-US" sz="2000"/>
          </a:p>
          <a:p>
            <a:pPr lvl="0"/>
            <a:r>
              <a:rPr lang="en-US" sz="2000"/>
              <a:t>Initiating the Apache HTTP server yields a control process execution failure:</a:t>
            </a:r>
          </a:p>
          <a:p>
            <a:endParaRPr lang="en-US" sz="200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DCDBCDC-B1E4-9A89-FB48-DB7636666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883" y="3401091"/>
            <a:ext cx="8161482" cy="1469067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F893406-BE9A-7CC2-B3F0-C7EA798181E7}"/>
              </a:ext>
            </a:extLst>
          </p:cNvPr>
          <p:cNvSpPr txBox="1"/>
          <p:nvPr/>
        </p:nvSpPr>
        <p:spPr>
          <a:xfrm>
            <a:off x="1137034" y="49391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Diagnosing via Status Pipeline: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6E703E3F-9E2B-E3C0-BD24-C6C8BA12D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5276368"/>
            <a:ext cx="7981950" cy="132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95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3E895-901F-3888-EEAF-AD168277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F43096-FF9A-555D-DA3E-BCFA344FE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7BEBB7A-1736-18A0-78D1-2EE6E79FD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09527DB-002B-04EE-FCDE-CCFCC543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Service Troubleshooting &amp; Diagnosis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47E20CE-E620-72C7-83D6-FD0B6A579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dirty="0"/>
              <a:t>AI Evaluation Findings &amp; Decision: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F839D1F-6844-1D83-8481-65085FDBD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B687ADA3-C3F2-6BF4-A655-78CCBA665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317540"/>
              </p:ext>
            </p:extLst>
          </p:nvPr>
        </p:nvGraphicFramePr>
        <p:xfrm>
          <a:off x="1137034" y="3075213"/>
          <a:ext cx="10515600" cy="227457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700996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685804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916743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Diagnostic Finding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Root Cause Details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Resolution Path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279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Unset Environment Variable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OPTIONS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evaluated to an empty string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Optional configuration parameter; secondary priority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91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Configuration Syntax Error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Invalid directive: </a:t>
                      </a:r>
                      <a:r>
                        <a:rPr lang="en-US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Lislisten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(misspelled)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Failure Cause: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Configuration parser rejects invalid directive; requires editing </a:t>
                      </a:r>
                      <a:r>
                        <a:rPr lang="en-US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en-US" sz="1125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etc</a:t>
                      </a:r>
                      <a:r>
                        <a:rPr lang="en-US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/httpd/conf/</a:t>
                      </a:r>
                      <a:r>
                        <a:rPr lang="en-US" sz="1125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httpd.conf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297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845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1848E57-CD91-912C-46E7-5346FDF59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Remediation, Verification &amp; Lab Teardown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25AE824-1D7D-CD5C-8D2D-2FD79BFA7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03411" y="1881675"/>
            <a:ext cx="5527862" cy="77168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Querying In-Place Solution: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BD66CBA-1717-9508-CEED-B485DC98A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9" y="2267519"/>
            <a:ext cx="7677151" cy="1516237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0EC1C34D-C985-F691-504A-8E9D6089C82E}"/>
              </a:ext>
            </a:extLst>
          </p:cNvPr>
          <p:cNvSpPr txBox="1">
            <a:spLocks/>
          </p:cNvSpPr>
          <p:nvPr/>
        </p:nvSpPr>
        <p:spPr>
          <a:xfrm>
            <a:off x="428625" y="3755132"/>
            <a:ext cx="10639426" cy="15084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dirty="0"/>
              <a:t>Assistant Command Recommendation:</a:t>
            </a:r>
            <a:endParaRPr lang="en-US" sz="2400" dirty="0"/>
          </a:p>
          <a:p>
            <a:pPr marL="0" lvl="0" indent="0" algn="just">
              <a:buNone/>
            </a:pPr>
            <a:r>
              <a:rPr lang="en-US" sz="2400" dirty="0"/>
              <a:t>-</a:t>
            </a:r>
            <a:r>
              <a:rPr lang="en-US" sz="2400" dirty="0" err="1"/>
              <a:t>i</a:t>
            </a:r>
            <a:r>
              <a:rPr lang="en-US" sz="2400" dirty="0"/>
              <a:t>: In-place file modification.</a:t>
            </a:r>
          </a:p>
          <a:p>
            <a:pPr marL="0" lvl="0" indent="0" algn="just">
              <a:buNone/>
            </a:pPr>
            <a:r>
              <a:rPr lang="en-US" sz="2400" dirty="0"/>
              <a:t>47s/</a:t>
            </a:r>
            <a:r>
              <a:rPr lang="en-US" sz="2400" dirty="0" err="1"/>
              <a:t>Lissten</a:t>
            </a:r>
            <a:r>
              <a:rPr lang="en-US" sz="2400" dirty="0"/>
              <a:t>/Listen/: Targets line 47 directly to correct the directive syntax: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E9D827DB-2704-482F-1BD9-3BAB9925C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49" y="5347325"/>
            <a:ext cx="8972551" cy="142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53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E8F25-FCBC-C2AA-0A0B-FBB04046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69EB71-061E-95A2-200C-3BB41CBE8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435218-4A6C-19D7-7746-3A75F54AB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AD0074A-B791-ECA7-327D-944410595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Remediation, Verification &amp; Lab Teardown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1A03D42-5680-AD86-AD01-B8DC741AA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03411" y="1881675"/>
            <a:ext cx="5527862" cy="77168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Restart &amp; Verify Service:</a:t>
            </a: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62D375B1-171C-B118-BDA6-96CB25E106B1}"/>
              </a:ext>
            </a:extLst>
          </p:cNvPr>
          <p:cNvSpPr txBox="1">
            <a:spLocks/>
          </p:cNvSpPr>
          <p:nvPr/>
        </p:nvSpPr>
        <p:spPr>
          <a:xfrm>
            <a:off x="290511" y="4098099"/>
            <a:ext cx="10639426" cy="15084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b="1" dirty="0"/>
              <a:t>2. Disconnect &amp; Teardown:</a:t>
            </a:r>
            <a:endParaRPr lang="en-US" sz="2400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1DB16CAA-A6FE-5A5C-BB05-35DD34F68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9" y="2304075"/>
            <a:ext cx="6400800" cy="1838292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83319498-0D9D-BC3A-A8EB-E8CFC2ECB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49" y="4706383"/>
            <a:ext cx="7277100" cy="180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54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366A5C-63B0-39C2-FA59-A0FAC926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BEE7A41-49C1-AA6B-18A8-2B8FAF266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9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1280</Words>
  <Application>Microsoft Office PowerPoint</Application>
  <PresentationFormat>Geniş ekran</PresentationFormat>
  <Paragraphs>147</Paragraphs>
  <Slides>18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Teması</vt:lpstr>
      <vt:lpstr>Red Hat System Administration I 10.0</vt:lpstr>
      <vt:lpstr>RHEL Lightspeed: AI-Powered Enterprise Assistance</vt:lpstr>
      <vt:lpstr>The Command-Line Assistant in RHEL 10</vt:lpstr>
      <vt:lpstr>RHEL Lightspeed Command-Line Assistant</vt:lpstr>
      <vt:lpstr>Operational Boundaries &amp; Safety Guidelines</vt:lpstr>
      <vt:lpstr>Model Architecture &amp; Foundation</vt:lpstr>
      <vt:lpstr>Installation &amp; First Query Execution</vt:lpstr>
      <vt:lpstr>Installation &amp; First Query Execution</vt:lpstr>
      <vt:lpstr>Troubleshooting &amp; Query Modes with RHEL Lightspeed</vt:lpstr>
      <vt:lpstr>Analyzing Live Command Output via Pipelines</vt:lpstr>
      <vt:lpstr>Ingesting File Data: Pipes vs. Direct Attachments</vt:lpstr>
      <vt:lpstr>Lab Overview: RHEL Lightspeed Command-Line Assistant</vt:lpstr>
      <vt:lpstr>Tool Discovery &amp; Command Output Interpretation</vt:lpstr>
      <vt:lpstr>Service Troubleshooting &amp; Diagnosis</vt:lpstr>
      <vt:lpstr>Service Troubleshooting &amp; Diagnosis</vt:lpstr>
      <vt:lpstr>AI Remediation, Verification &amp; Lab Teardown</vt:lpstr>
      <vt:lpstr>AI Remediation, Verification &amp; Lab Teardown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Dilara Gülenç</dc:creator>
  <cp:lastModifiedBy>Dilara Gülenç</cp:lastModifiedBy>
  <cp:revision>1</cp:revision>
  <dcterms:created xsi:type="dcterms:W3CDTF">2026-10-28T09:32:30Z</dcterms:created>
  <dcterms:modified xsi:type="dcterms:W3CDTF">2026-10-28T12:54:10Z</dcterms:modified>
</cp:coreProperties>
</file>