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6" r:id="rId19"/>
    <p:sldId id="281" r:id="rId20"/>
    <p:sldId id="279" r:id="rId21"/>
    <p:sldId id="280" r:id="rId22"/>
    <p:sldId id="286" r:id="rId23"/>
    <p:sldId id="282" r:id="rId24"/>
    <p:sldId id="283" r:id="rId25"/>
    <p:sldId id="284" r:id="rId26"/>
    <p:sldId id="285" r:id="rId27"/>
    <p:sldId id="287" r:id="rId28"/>
    <p:sldId id="288" r:id="rId29"/>
    <p:sldId id="289" r:id="rId30"/>
    <p:sldId id="290" r:id="rId31"/>
    <p:sldId id="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0"/>
  </p:normalViewPr>
  <p:slideViewPr>
    <p:cSldViewPr snapToGrid="0">
      <p:cViewPr>
        <p:scale>
          <a:sx n="66" d="100"/>
          <a:sy n="66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6F8A8E-A87B-42D0-A954-5CA6F73803C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B951B8-2D81-49AF-B54A-470701DD91CD}">
      <dgm:prSet/>
      <dgm:spPr/>
      <dgm:t>
        <a:bodyPr/>
        <a:lstStyle/>
        <a:p>
          <a:r>
            <a:rPr lang="en-US" b="1" dirty="0"/>
            <a:t>What is Bash?</a:t>
          </a:r>
          <a:endParaRPr lang="en-US" dirty="0"/>
        </a:p>
      </dgm:t>
    </dgm:pt>
    <dgm:pt modelId="{8D06F665-F452-45FE-8EB2-A97D5235E5C7}" type="parTrans" cxnId="{13F1A8B5-87E1-4FC3-B7C4-AB4C481588CD}">
      <dgm:prSet/>
      <dgm:spPr/>
      <dgm:t>
        <a:bodyPr/>
        <a:lstStyle/>
        <a:p>
          <a:endParaRPr lang="en-US"/>
        </a:p>
      </dgm:t>
    </dgm:pt>
    <dgm:pt modelId="{48B8C4A0-ADA9-4F00-BF70-7A1F349DA3F6}" type="sibTrans" cxnId="{13F1A8B5-87E1-4FC3-B7C4-AB4C481588CD}">
      <dgm:prSet/>
      <dgm:spPr/>
      <dgm:t>
        <a:bodyPr/>
        <a:lstStyle/>
        <a:p>
          <a:endParaRPr lang="en-US"/>
        </a:p>
      </dgm:t>
    </dgm:pt>
    <dgm:pt modelId="{187F4A5B-BF1C-40C9-A148-7B9311A31229}">
      <dgm:prSet/>
      <dgm:spPr/>
      <dgm:t>
        <a:bodyPr/>
        <a:lstStyle/>
        <a:p>
          <a:r>
            <a:rPr lang="en-US" b="1" dirty="0"/>
            <a:t>The Interface:</a:t>
          </a:r>
          <a:r>
            <a:rPr lang="en-US" dirty="0"/>
            <a:t> A powerful text-based command-line shell that translates user input into system actions.</a:t>
          </a:r>
        </a:p>
      </dgm:t>
    </dgm:pt>
    <dgm:pt modelId="{ED2F2C36-5C86-450C-9A31-1A1B34A6A51A}" type="parTrans" cxnId="{798EA0AC-9716-4BD8-9E70-8558139654BF}">
      <dgm:prSet/>
      <dgm:spPr/>
      <dgm:t>
        <a:bodyPr/>
        <a:lstStyle/>
        <a:p>
          <a:endParaRPr lang="en-US"/>
        </a:p>
      </dgm:t>
    </dgm:pt>
    <dgm:pt modelId="{26937526-2BB6-4611-92BD-EE91A10FBE83}" type="sibTrans" cxnId="{798EA0AC-9716-4BD8-9E70-8558139654BF}">
      <dgm:prSet/>
      <dgm:spPr/>
      <dgm:t>
        <a:bodyPr/>
        <a:lstStyle/>
        <a:p>
          <a:endParaRPr lang="en-US"/>
        </a:p>
      </dgm:t>
    </dgm:pt>
    <dgm:pt modelId="{4B75C45B-A826-4017-9AB7-C9727391CD65}">
      <dgm:prSet/>
      <dgm:spPr/>
      <dgm:t>
        <a:bodyPr/>
        <a:lstStyle/>
        <a:p>
          <a:r>
            <a:rPr lang="en-US" b="1" dirty="0"/>
            <a:t>The Standard:</a:t>
          </a:r>
          <a:r>
            <a:rPr lang="en-US" dirty="0"/>
            <a:t> Default shell for Red Hat Enterprise Linux (RHEL), built as an upgraded release of the classic UNIX Bourne shell (</a:t>
          </a:r>
          <a:r>
            <a:rPr lang="en-US" dirty="0" err="1"/>
            <a:t>sh</a:t>
          </a:r>
          <a:r>
            <a:rPr lang="en-US" dirty="0"/>
            <a:t>).</a:t>
          </a:r>
        </a:p>
      </dgm:t>
    </dgm:pt>
    <dgm:pt modelId="{A276B503-5F00-4B8A-A21C-4FB8A32EB806}" type="parTrans" cxnId="{7F2FA1FA-F1FE-4359-BA34-0A2ADFB8918F}">
      <dgm:prSet/>
      <dgm:spPr/>
      <dgm:t>
        <a:bodyPr/>
        <a:lstStyle/>
        <a:p>
          <a:endParaRPr lang="en-US"/>
        </a:p>
      </dgm:t>
    </dgm:pt>
    <dgm:pt modelId="{12D75BC5-73BD-4780-A0B3-D25704EE86B8}" type="sibTrans" cxnId="{7F2FA1FA-F1FE-4359-BA34-0A2ADFB8918F}">
      <dgm:prSet/>
      <dgm:spPr/>
      <dgm:t>
        <a:bodyPr/>
        <a:lstStyle/>
        <a:p>
          <a:endParaRPr lang="en-US"/>
        </a:p>
      </dgm:t>
    </dgm:pt>
    <dgm:pt modelId="{1054906C-9782-416D-AE53-01EDDA167DD4}">
      <dgm:prSet/>
      <dgm:spPr/>
      <dgm:t>
        <a:bodyPr/>
        <a:lstStyle/>
        <a:p>
          <a:r>
            <a:rPr lang="en-US" b="1" dirty="0"/>
            <a:t>Automation Core:</a:t>
          </a:r>
          <a:r>
            <a:rPr lang="en-US" dirty="0"/>
            <a:t> Goes far beyond basic command execution with a complete scripting language built for large-scale administrative workflows.</a:t>
          </a:r>
        </a:p>
      </dgm:t>
    </dgm:pt>
    <dgm:pt modelId="{A30B465F-A7BE-49C3-A362-0DACFCB90684}" type="parTrans" cxnId="{1BE05445-1812-4145-89D8-783A5DA289E6}">
      <dgm:prSet/>
      <dgm:spPr/>
      <dgm:t>
        <a:bodyPr/>
        <a:lstStyle/>
        <a:p>
          <a:endParaRPr lang="en-US"/>
        </a:p>
      </dgm:t>
    </dgm:pt>
    <dgm:pt modelId="{5D7223E0-B835-400E-B065-D02EEE129DD7}" type="sibTrans" cxnId="{1BE05445-1812-4145-89D8-783A5DA289E6}">
      <dgm:prSet/>
      <dgm:spPr/>
      <dgm:t>
        <a:bodyPr/>
        <a:lstStyle/>
        <a:p>
          <a:endParaRPr lang="en-US"/>
        </a:p>
      </dgm:t>
    </dgm:pt>
    <dgm:pt modelId="{51C9E729-FF5E-4EEA-84B3-51094D2C4746}" type="pres">
      <dgm:prSet presAssocID="{736F8A8E-A87B-42D0-A954-5CA6F73803C9}" presName="outerComposite" presStyleCnt="0">
        <dgm:presLayoutVars>
          <dgm:chMax val="5"/>
          <dgm:dir/>
          <dgm:resizeHandles val="exact"/>
        </dgm:presLayoutVars>
      </dgm:prSet>
      <dgm:spPr/>
    </dgm:pt>
    <dgm:pt modelId="{E5D775DE-A70E-4296-9211-B6437742F51D}" type="pres">
      <dgm:prSet presAssocID="{736F8A8E-A87B-42D0-A954-5CA6F73803C9}" presName="dummyMaxCanvas" presStyleCnt="0">
        <dgm:presLayoutVars/>
      </dgm:prSet>
      <dgm:spPr/>
    </dgm:pt>
    <dgm:pt modelId="{6E9DF514-AD40-41C4-B571-A27FD8BB3C67}" type="pres">
      <dgm:prSet presAssocID="{736F8A8E-A87B-42D0-A954-5CA6F73803C9}" presName="OneNode_1" presStyleLbl="node1" presStyleIdx="0" presStyleCnt="1" custLinFactNeighborX="22988" custLinFactNeighborY="-6742">
        <dgm:presLayoutVars>
          <dgm:bulletEnabled val="1"/>
        </dgm:presLayoutVars>
      </dgm:prSet>
      <dgm:spPr/>
    </dgm:pt>
  </dgm:ptLst>
  <dgm:cxnLst>
    <dgm:cxn modelId="{0A807B01-7708-43E7-963F-0E70EBE2E888}" type="presOf" srcId="{1054906C-9782-416D-AE53-01EDDA167DD4}" destId="{6E9DF514-AD40-41C4-B571-A27FD8BB3C67}" srcOrd="0" destOrd="3" presId="urn:microsoft.com/office/officeart/2005/8/layout/vProcess5"/>
    <dgm:cxn modelId="{1BE05445-1812-4145-89D8-783A5DA289E6}" srcId="{42B951B8-2D81-49AF-B54A-470701DD91CD}" destId="{1054906C-9782-416D-AE53-01EDDA167DD4}" srcOrd="2" destOrd="0" parTransId="{A30B465F-A7BE-49C3-A362-0DACFCB90684}" sibTransId="{5D7223E0-B835-400E-B065-D02EEE129DD7}"/>
    <dgm:cxn modelId="{B421AA95-C51F-43F5-9221-2227D5DDF80F}" type="presOf" srcId="{42B951B8-2D81-49AF-B54A-470701DD91CD}" destId="{6E9DF514-AD40-41C4-B571-A27FD8BB3C67}" srcOrd="0" destOrd="0" presId="urn:microsoft.com/office/officeart/2005/8/layout/vProcess5"/>
    <dgm:cxn modelId="{F1415F96-3A27-4C10-89E1-D0902D6D0EC2}" type="presOf" srcId="{4B75C45B-A826-4017-9AB7-C9727391CD65}" destId="{6E9DF514-AD40-41C4-B571-A27FD8BB3C67}" srcOrd="0" destOrd="2" presId="urn:microsoft.com/office/officeart/2005/8/layout/vProcess5"/>
    <dgm:cxn modelId="{798EA0AC-9716-4BD8-9E70-8558139654BF}" srcId="{42B951B8-2D81-49AF-B54A-470701DD91CD}" destId="{187F4A5B-BF1C-40C9-A148-7B9311A31229}" srcOrd="0" destOrd="0" parTransId="{ED2F2C36-5C86-450C-9A31-1A1B34A6A51A}" sibTransId="{26937526-2BB6-4611-92BD-EE91A10FBE83}"/>
    <dgm:cxn modelId="{13F1A8B5-87E1-4FC3-B7C4-AB4C481588CD}" srcId="{736F8A8E-A87B-42D0-A954-5CA6F73803C9}" destId="{42B951B8-2D81-49AF-B54A-470701DD91CD}" srcOrd="0" destOrd="0" parTransId="{8D06F665-F452-45FE-8EB2-A97D5235E5C7}" sibTransId="{48B8C4A0-ADA9-4F00-BF70-7A1F349DA3F6}"/>
    <dgm:cxn modelId="{3CABDEC7-5522-4031-9FCE-ED22635A90F0}" type="presOf" srcId="{736F8A8E-A87B-42D0-A954-5CA6F73803C9}" destId="{51C9E729-FF5E-4EEA-84B3-51094D2C4746}" srcOrd="0" destOrd="0" presId="urn:microsoft.com/office/officeart/2005/8/layout/vProcess5"/>
    <dgm:cxn modelId="{72DC61E6-664A-4F1E-A74D-ECE2A2FEA973}" type="presOf" srcId="{187F4A5B-BF1C-40C9-A148-7B9311A31229}" destId="{6E9DF514-AD40-41C4-B571-A27FD8BB3C67}" srcOrd="0" destOrd="1" presId="urn:microsoft.com/office/officeart/2005/8/layout/vProcess5"/>
    <dgm:cxn modelId="{7F2FA1FA-F1FE-4359-BA34-0A2ADFB8918F}" srcId="{42B951B8-2D81-49AF-B54A-470701DD91CD}" destId="{4B75C45B-A826-4017-9AB7-C9727391CD65}" srcOrd="1" destOrd="0" parTransId="{A276B503-5F00-4B8A-A21C-4FB8A32EB806}" sibTransId="{12D75BC5-73BD-4780-A0B3-D25704EE86B8}"/>
    <dgm:cxn modelId="{08543A5A-942A-4DE0-9E5E-7E395A3BA291}" type="presParOf" srcId="{51C9E729-FF5E-4EEA-84B3-51094D2C4746}" destId="{E5D775DE-A70E-4296-9211-B6437742F51D}" srcOrd="0" destOrd="0" presId="urn:microsoft.com/office/officeart/2005/8/layout/vProcess5"/>
    <dgm:cxn modelId="{C8089027-1D20-42ED-BB13-D8DC62FA5084}" type="presParOf" srcId="{51C9E729-FF5E-4EEA-84B3-51094D2C4746}" destId="{6E9DF514-AD40-41C4-B571-A27FD8BB3C67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E5EB85-0A70-447A-ACBA-BB71092D4F9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506C72-32C9-47D5-B82D-748B4C6F69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vs. Windows:</a:t>
          </a:r>
          <a:r>
            <a:rPr lang="en-US" sz="2000"/>
            <a:t> Significantly more powerful than legacy cmd.exe; matches modern PowerShell in automation capabilities.</a:t>
          </a:r>
        </a:p>
      </dgm:t>
    </dgm:pt>
    <dgm:pt modelId="{B3D37E20-C5C8-4350-AA1F-B58886A9367D}" type="parTrans" cxnId="{ECA39354-4AB5-43AE-B30D-EE26DA96C4F3}">
      <dgm:prSet/>
      <dgm:spPr/>
      <dgm:t>
        <a:bodyPr/>
        <a:lstStyle/>
        <a:p>
          <a:endParaRPr lang="en-US" sz="2000"/>
        </a:p>
      </dgm:t>
    </dgm:pt>
    <dgm:pt modelId="{797A6FB2-BEB3-40BF-8579-18205700115E}" type="sibTrans" cxnId="{ECA39354-4AB5-43AE-B30D-EE26DA96C4F3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54D798B0-70B6-4E88-A8F0-B5A7078D72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vs. macOS:</a:t>
          </a:r>
          <a:r>
            <a:rPr lang="en-US" sz="2000"/>
            <a:t> Served as the default macOS shell until macOS 10.15 Catalina, which switched to zsh (also supported on RHEL).</a:t>
          </a:r>
        </a:p>
      </dgm:t>
    </dgm:pt>
    <dgm:pt modelId="{CB22EDAE-A661-439D-A8A8-992C678DE948}" type="parTrans" cxnId="{FC9E3528-D89F-404D-A342-49108301DA5F}">
      <dgm:prSet/>
      <dgm:spPr/>
      <dgm:t>
        <a:bodyPr/>
        <a:lstStyle/>
        <a:p>
          <a:endParaRPr lang="en-US" sz="2000"/>
        </a:p>
      </dgm:t>
    </dgm:pt>
    <dgm:pt modelId="{D2ED8D1C-AD0D-4150-B270-AC89431AAECB}" type="sibTrans" cxnId="{FC9E3528-D89F-404D-A342-49108301DA5F}">
      <dgm:prSet/>
      <dgm:spPr/>
      <dgm:t>
        <a:bodyPr/>
        <a:lstStyle/>
        <a:p>
          <a:endParaRPr lang="en-US" sz="2000"/>
        </a:p>
      </dgm:t>
    </dgm:pt>
    <dgm:pt modelId="{0384E340-F8B2-4F1E-AA50-7F221560D301}" type="pres">
      <dgm:prSet presAssocID="{FAE5EB85-0A70-447A-ACBA-BB71092D4F96}" presName="root" presStyleCnt="0">
        <dgm:presLayoutVars>
          <dgm:dir/>
          <dgm:resizeHandles val="exact"/>
        </dgm:presLayoutVars>
      </dgm:prSet>
      <dgm:spPr/>
    </dgm:pt>
    <dgm:pt modelId="{119BC18C-5D43-4AAF-B712-3813B8F92A5F}" type="pres">
      <dgm:prSet presAssocID="{FAE5EB85-0A70-447A-ACBA-BB71092D4F96}" presName="container" presStyleCnt="0">
        <dgm:presLayoutVars>
          <dgm:dir/>
          <dgm:resizeHandles val="exact"/>
        </dgm:presLayoutVars>
      </dgm:prSet>
      <dgm:spPr/>
    </dgm:pt>
    <dgm:pt modelId="{257674FD-648D-432E-A69E-888ABFAC3262}" type="pres">
      <dgm:prSet presAssocID="{B1506C72-32C9-47D5-B82D-748B4C6F69E6}" presName="compNode" presStyleCnt="0"/>
      <dgm:spPr/>
    </dgm:pt>
    <dgm:pt modelId="{365EE14D-C34C-475B-8D48-10858DD8DBB1}" type="pres">
      <dgm:prSet presAssocID="{B1506C72-32C9-47D5-B82D-748B4C6F69E6}" presName="iconBgRect" presStyleLbl="bgShp" presStyleIdx="0" presStyleCnt="2"/>
      <dgm:spPr/>
    </dgm:pt>
    <dgm:pt modelId="{DF4C6ABC-DB62-44D1-95DF-3F8492AC71C2}" type="pres">
      <dgm:prSet presAssocID="{B1506C72-32C9-47D5-B82D-748B4C6F69E6}" presName="iconRect" presStyleLbl="node1" presStyleIdx="0" presStyleCnt="2" custLinFactNeighborX="-3343" custLinFactNeighborY="-161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şliler"/>
        </a:ext>
      </dgm:extLst>
    </dgm:pt>
    <dgm:pt modelId="{6C5C4B61-3B01-41BE-9E83-15DEEF01BB9E}" type="pres">
      <dgm:prSet presAssocID="{B1506C72-32C9-47D5-B82D-748B4C6F69E6}" presName="spaceRect" presStyleCnt="0"/>
      <dgm:spPr/>
    </dgm:pt>
    <dgm:pt modelId="{422A204F-0902-491F-87EF-692504CBA3EB}" type="pres">
      <dgm:prSet presAssocID="{B1506C72-32C9-47D5-B82D-748B4C6F69E6}" presName="textRect" presStyleLbl="revTx" presStyleIdx="0" presStyleCnt="2">
        <dgm:presLayoutVars>
          <dgm:chMax val="1"/>
          <dgm:chPref val="1"/>
        </dgm:presLayoutVars>
      </dgm:prSet>
      <dgm:spPr/>
    </dgm:pt>
    <dgm:pt modelId="{3AC6301F-D06D-460F-98F1-BBA2C0C4B707}" type="pres">
      <dgm:prSet presAssocID="{797A6FB2-BEB3-40BF-8579-18205700115E}" presName="sibTrans" presStyleLbl="sibTrans2D1" presStyleIdx="0" presStyleCnt="0"/>
      <dgm:spPr/>
    </dgm:pt>
    <dgm:pt modelId="{3390BD62-8149-45BC-94B5-ABF720E7E14E}" type="pres">
      <dgm:prSet presAssocID="{54D798B0-70B6-4E88-A8F0-B5A7078D726E}" presName="compNode" presStyleCnt="0"/>
      <dgm:spPr/>
    </dgm:pt>
    <dgm:pt modelId="{6ABCB7D7-2BC5-41BB-A279-EDB0D2151367}" type="pres">
      <dgm:prSet presAssocID="{54D798B0-70B6-4E88-A8F0-B5A7078D726E}" presName="iconBgRect" presStyleLbl="bgShp" presStyleIdx="1" presStyleCnt="2"/>
      <dgm:spPr/>
    </dgm:pt>
    <dgm:pt modelId="{6A1542A2-5790-407E-BF95-82274FB5BD94}" type="pres">
      <dgm:prSet presAssocID="{54D798B0-70B6-4E88-A8F0-B5A7078D726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lgisayar"/>
        </a:ext>
      </dgm:extLst>
    </dgm:pt>
    <dgm:pt modelId="{27A43DF9-423E-43A6-96B7-7AECC0ABCFAB}" type="pres">
      <dgm:prSet presAssocID="{54D798B0-70B6-4E88-A8F0-B5A7078D726E}" presName="spaceRect" presStyleCnt="0"/>
      <dgm:spPr/>
    </dgm:pt>
    <dgm:pt modelId="{79133EC2-43FB-441D-A5BF-02228CCDAA6B}" type="pres">
      <dgm:prSet presAssocID="{54D798B0-70B6-4E88-A8F0-B5A7078D726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42A7A03-4792-4B5C-A8C9-D05AABAE7FEC}" type="presOf" srcId="{54D798B0-70B6-4E88-A8F0-B5A7078D726E}" destId="{79133EC2-43FB-441D-A5BF-02228CCDAA6B}" srcOrd="0" destOrd="0" presId="urn:microsoft.com/office/officeart/2018/2/layout/IconCircleList"/>
    <dgm:cxn modelId="{FC9E3528-D89F-404D-A342-49108301DA5F}" srcId="{FAE5EB85-0A70-447A-ACBA-BB71092D4F96}" destId="{54D798B0-70B6-4E88-A8F0-B5A7078D726E}" srcOrd="1" destOrd="0" parTransId="{CB22EDAE-A661-439D-A8A8-992C678DE948}" sibTransId="{D2ED8D1C-AD0D-4150-B270-AC89431AAECB}"/>
    <dgm:cxn modelId="{78DF262F-5593-4D7C-9C1D-B170ABEDA928}" type="presOf" srcId="{797A6FB2-BEB3-40BF-8579-18205700115E}" destId="{3AC6301F-D06D-460F-98F1-BBA2C0C4B707}" srcOrd="0" destOrd="0" presId="urn:microsoft.com/office/officeart/2018/2/layout/IconCircleList"/>
    <dgm:cxn modelId="{ECA39354-4AB5-43AE-B30D-EE26DA96C4F3}" srcId="{FAE5EB85-0A70-447A-ACBA-BB71092D4F96}" destId="{B1506C72-32C9-47D5-B82D-748B4C6F69E6}" srcOrd="0" destOrd="0" parTransId="{B3D37E20-C5C8-4350-AA1F-B58886A9367D}" sibTransId="{797A6FB2-BEB3-40BF-8579-18205700115E}"/>
    <dgm:cxn modelId="{A59A6D91-1BAA-4A21-BC09-CC6CC9B80534}" type="presOf" srcId="{B1506C72-32C9-47D5-B82D-748B4C6F69E6}" destId="{422A204F-0902-491F-87EF-692504CBA3EB}" srcOrd="0" destOrd="0" presId="urn:microsoft.com/office/officeart/2018/2/layout/IconCircleList"/>
    <dgm:cxn modelId="{84BCB3C2-18B4-427F-A8EA-9B8B681CDCA5}" type="presOf" srcId="{FAE5EB85-0A70-447A-ACBA-BB71092D4F96}" destId="{0384E340-F8B2-4F1E-AA50-7F221560D301}" srcOrd="0" destOrd="0" presId="urn:microsoft.com/office/officeart/2018/2/layout/IconCircleList"/>
    <dgm:cxn modelId="{3CF5F02E-7056-4F96-B826-87FC48E37445}" type="presParOf" srcId="{0384E340-F8B2-4F1E-AA50-7F221560D301}" destId="{119BC18C-5D43-4AAF-B712-3813B8F92A5F}" srcOrd="0" destOrd="0" presId="urn:microsoft.com/office/officeart/2018/2/layout/IconCircleList"/>
    <dgm:cxn modelId="{6C958883-CC8F-4F6E-B642-C736271CA8E3}" type="presParOf" srcId="{119BC18C-5D43-4AAF-B712-3813B8F92A5F}" destId="{257674FD-648D-432E-A69E-888ABFAC3262}" srcOrd="0" destOrd="0" presId="urn:microsoft.com/office/officeart/2018/2/layout/IconCircleList"/>
    <dgm:cxn modelId="{1E67792D-5E3F-4222-8002-A1AE50646A82}" type="presParOf" srcId="{257674FD-648D-432E-A69E-888ABFAC3262}" destId="{365EE14D-C34C-475B-8D48-10858DD8DBB1}" srcOrd="0" destOrd="0" presId="urn:microsoft.com/office/officeart/2018/2/layout/IconCircleList"/>
    <dgm:cxn modelId="{01839FEE-E189-43AC-B753-211AED485419}" type="presParOf" srcId="{257674FD-648D-432E-A69E-888ABFAC3262}" destId="{DF4C6ABC-DB62-44D1-95DF-3F8492AC71C2}" srcOrd="1" destOrd="0" presId="urn:microsoft.com/office/officeart/2018/2/layout/IconCircleList"/>
    <dgm:cxn modelId="{4D0E4DED-1424-41F2-8586-0EC9BC2CD1C5}" type="presParOf" srcId="{257674FD-648D-432E-A69E-888ABFAC3262}" destId="{6C5C4B61-3B01-41BE-9E83-15DEEF01BB9E}" srcOrd="2" destOrd="0" presId="urn:microsoft.com/office/officeart/2018/2/layout/IconCircleList"/>
    <dgm:cxn modelId="{7128E8AA-5FCC-4F07-86D3-A076E31BB3E2}" type="presParOf" srcId="{257674FD-648D-432E-A69E-888ABFAC3262}" destId="{422A204F-0902-491F-87EF-692504CBA3EB}" srcOrd="3" destOrd="0" presId="urn:microsoft.com/office/officeart/2018/2/layout/IconCircleList"/>
    <dgm:cxn modelId="{4579F828-A75C-4A36-A440-C735FFDD5CA8}" type="presParOf" srcId="{119BC18C-5D43-4AAF-B712-3813B8F92A5F}" destId="{3AC6301F-D06D-460F-98F1-BBA2C0C4B707}" srcOrd="1" destOrd="0" presId="urn:microsoft.com/office/officeart/2018/2/layout/IconCircleList"/>
    <dgm:cxn modelId="{F78462C5-C39B-4E57-ADFF-95DC38F83606}" type="presParOf" srcId="{119BC18C-5D43-4AAF-B712-3813B8F92A5F}" destId="{3390BD62-8149-45BC-94B5-ABF720E7E14E}" srcOrd="2" destOrd="0" presId="urn:microsoft.com/office/officeart/2018/2/layout/IconCircleList"/>
    <dgm:cxn modelId="{5BD0D99E-F766-4628-A02D-E4A392FA6CE2}" type="presParOf" srcId="{3390BD62-8149-45BC-94B5-ABF720E7E14E}" destId="{6ABCB7D7-2BC5-41BB-A279-EDB0D2151367}" srcOrd="0" destOrd="0" presId="urn:microsoft.com/office/officeart/2018/2/layout/IconCircleList"/>
    <dgm:cxn modelId="{592A1665-4D4E-4E55-BCD3-E0E0B88D78CE}" type="presParOf" srcId="{3390BD62-8149-45BC-94B5-ABF720E7E14E}" destId="{6A1542A2-5790-407E-BF95-82274FB5BD94}" srcOrd="1" destOrd="0" presId="urn:microsoft.com/office/officeart/2018/2/layout/IconCircleList"/>
    <dgm:cxn modelId="{FB9581D3-F5C9-45F8-99FB-FCDD39C73109}" type="presParOf" srcId="{3390BD62-8149-45BC-94B5-ABF720E7E14E}" destId="{27A43DF9-423E-43A6-96B7-7AECC0ABCFAB}" srcOrd="2" destOrd="0" presId="urn:microsoft.com/office/officeart/2018/2/layout/IconCircleList"/>
    <dgm:cxn modelId="{CC154402-7FB8-443E-8742-3A3B97BA3932}" type="presParOf" srcId="{3390BD62-8149-45BC-94B5-ABF720E7E14E}" destId="{79133EC2-43FB-441D-A5BF-02228CCDAA6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94E45C-CC70-4336-88C8-D08651C1A0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B1C02D-03FC-459F-AD0A-3D3592DA99E0}">
      <dgm:prSet custT="1"/>
      <dgm:spPr/>
      <dgm:t>
        <a:bodyPr/>
        <a:lstStyle/>
        <a:p>
          <a:r>
            <a:rPr lang="en-US" sz="1400" b="1"/>
            <a:t>Purpose:</a:t>
          </a:r>
          <a:r>
            <a:rPr lang="en-US" sz="1400"/>
            <a:t> Isolate distinct tasks (e.g., server maintenance on one workspace, communication/email on another).</a:t>
          </a:r>
        </a:p>
      </dgm:t>
    </dgm:pt>
    <dgm:pt modelId="{6CADC200-16C2-497C-8332-E15E025258F6}" type="parTrans" cxnId="{BB7303D4-0ACA-4E10-B277-274D36B1B2BD}">
      <dgm:prSet/>
      <dgm:spPr/>
      <dgm:t>
        <a:bodyPr/>
        <a:lstStyle/>
        <a:p>
          <a:endParaRPr lang="en-US"/>
        </a:p>
      </dgm:t>
    </dgm:pt>
    <dgm:pt modelId="{1F99980C-0A39-4F80-A03E-66C1FCDD78D0}" type="sibTrans" cxnId="{BB7303D4-0ACA-4E10-B277-274D36B1B2BD}">
      <dgm:prSet/>
      <dgm:spPr/>
      <dgm:t>
        <a:bodyPr/>
        <a:lstStyle/>
        <a:p>
          <a:endParaRPr lang="en-US"/>
        </a:p>
      </dgm:t>
    </dgm:pt>
    <dgm:pt modelId="{F56CD79C-7222-46E8-9F99-F409C1EAB725}">
      <dgm:prSet custT="1"/>
      <dgm:spPr/>
      <dgm:t>
        <a:bodyPr/>
        <a:lstStyle/>
        <a:p>
          <a:r>
            <a:rPr lang="en-US" sz="1400" b="1"/>
            <a:t>Switching Methods:</a:t>
          </a:r>
          <a:endParaRPr lang="en-US" sz="1400"/>
        </a:p>
      </dgm:t>
    </dgm:pt>
    <dgm:pt modelId="{FFB97BAD-6F4D-4C88-B532-8A8B7B216330}" type="parTrans" cxnId="{57225207-A4C9-479F-A542-16901E00A08B}">
      <dgm:prSet/>
      <dgm:spPr/>
      <dgm:t>
        <a:bodyPr/>
        <a:lstStyle/>
        <a:p>
          <a:endParaRPr lang="en-US"/>
        </a:p>
      </dgm:t>
    </dgm:pt>
    <dgm:pt modelId="{38053814-FD20-4605-961A-ADF6B1B0EAED}" type="sibTrans" cxnId="{57225207-A4C9-479F-A542-16901E00A08B}">
      <dgm:prSet/>
      <dgm:spPr/>
      <dgm:t>
        <a:bodyPr/>
        <a:lstStyle/>
        <a:p>
          <a:endParaRPr lang="en-US"/>
        </a:p>
      </dgm:t>
    </dgm:pt>
    <dgm:pt modelId="{B8BDB8C2-D2B0-4197-A90B-C3955FDD49D2}">
      <dgm:prSet custT="1"/>
      <dgm:spPr/>
      <dgm:t>
        <a:bodyPr/>
        <a:lstStyle/>
        <a:p>
          <a:r>
            <a:rPr lang="en-US" sz="1400"/>
            <a:t>Keyboard: </a:t>
          </a:r>
          <a:r>
            <a:rPr lang="en-US" sz="1400" b="1"/>
            <a:t>Ctrl + Alt + Left / Right Arrow</a:t>
          </a:r>
          <a:endParaRPr lang="en-US" sz="1400"/>
        </a:p>
      </dgm:t>
    </dgm:pt>
    <dgm:pt modelId="{B940DC04-BB70-4DA1-828D-01D62B705D3B}" type="parTrans" cxnId="{6F074D8A-340F-475D-BF5B-67BE5AA18487}">
      <dgm:prSet/>
      <dgm:spPr/>
      <dgm:t>
        <a:bodyPr/>
        <a:lstStyle/>
        <a:p>
          <a:endParaRPr lang="en-US"/>
        </a:p>
      </dgm:t>
    </dgm:pt>
    <dgm:pt modelId="{D4CD280B-DA5A-45B4-9C20-91A403874881}" type="sibTrans" cxnId="{6F074D8A-340F-475D-BF5B-67BE5AA18487}">
      <dgm:prSet/>
      <dgm:spPr/>
      <dgm:t>
        <a:bodyPr/>
        <a:lstStyle/>
        <a:p>
          <a:endParaRPr lang="en-US"/>
        </a:p>
      </dgm:t>
    </dgm:pt>
    <dgm:pt modelId="{AE40F67D-AE8E-432B-B24C-7A1DFAA5D0E6}">
      <dgm:prSet custT="1"/>
      <dgm:spPr/>
      <dgm:t>
        <a:bodyPr/>
        <a:lstStyle/>
        <a:p>
          <a:r>
            <a:rPr lang="en-US" sz="1400" dirty="0"/>
            <a:t>Graphical: Open </a:t>
          </a:r>
          <a:r>
            <a:rPr lang="en-US" sz="1400" b="1" dirty="0"/>
            <a:t>Activities Overview</a:t>
          </a:r>
          <a:r>
            <a:rPr lang="en-US" sz="1400" dirty="0"/>
            <a:t> and select from the workspace selector, or drag-and-drop windows between workspaces. </a:t>
          </a:r>
        </a:p>
      </dgm:t>
    </dgm:pt>
    <dgm:pt modelId="{3E5C12CF-BD67-47C0-B45D-F1F39F0E0487}" type="parTrans" cxnId="{477B4252-FF12-4933-9A13-5FEB6C099E54}">
      <dgm:prSet/>
      <dgm:spPr/>
      <dgm:t>
        <a:bodyPr/>
        <a:lstStyle/>
        <a:p>
          <a:endParaRPr lang="en-US"/>
        </a:p>
      </dgm:t>
    </dgm:pt>
    <dgm:pt modelId="{9C599032-72C2-488D-B6F2-D35E06EAC915}" type="sibTrans" cxnId="{477B4252-FF12-4933-9A13-5FEB6C099E54}">
      <dgm:prSet/>
      <dgm:spPr/>
      <dgm:t>
        <a:bodyPr/>
        <a:lstStyle/>
        <a:p>
          <a:endParaRPr lang="en-US"/>
        </a:p>
      </dgm:t>
    </dgm:pt>
    <dgm:pt modelId="{981E99E8-3106-4B11-9554-779C63ACEE67}">
      <dgm:prSet custT="1"/>
      <dgm:spPr/>
      <dgm:t>
        <a:bodyPr/>
        <a:lstStyle/>
        <a:p>
          <a:r>
            <a:rPr lang="en-US" sz="1400" b="1" dirty="0"/>
            <a:t>Modes (System menu → Settings → Multitasking):</a:t>
          </a:r>
          <a:endParaRPr lang="en-US" sz="1400" dirty="0"/>
        </a:p>
      </dgm:t>
    </dgm:pt>
    <dgm:pt modelId="{C074B8C2-7C60-42A5-898A-8EEFB4C44DC5}" type="parTrans" cxnId="{E825DF48-0748-4637-AD9A-93E6466920B2}">
      <dgm:prSet/>
      <dgm:spPr/>
      <dgm:t>
        <a:bodyPr/>
        <a:lstStyle/>
        <a:p>
          <a:endParaRPr lang="en-US"/>
        </a:p>
      </dgm:t>
    </dgm:pt>
    <dgm:pt modelId="{A70B1673-091E-43DC-BF6E-6ADEFB7CD2C8}" type="sibTrans" cxnId="{E825DF48-0748-4637-AD9A-93E6466920B2}">
      <dgm:prSet/>
      <dgm:spPr/>
      <dgm:t>
        <a:bodyPr/>
        <a:lstStyle/>
        <a:p>
          <a:endParaRPr lang="en-US"/>
        </a:p>
      </dgm:t>
    </dgm:pt>
    <dgm:pt modelId="{A141FFF0-FD16-4AEA-96E4-1EB234F1D3AD}">
      <dgm:prSet custT="1"/>
      <dgm:spPr/>
      <dgm:t>
        <a:bodyPr/>
        <a:lstStyle/>
        <a:p>
          <a:r>
            <a:rPr lang="en-US" sz="1400" b="1"/>
            <a:t>Dynamic Workspaces (Default):</a:t>
          </a:r>
          <a:r>
            <a:rPr lang="en-US" sz="1400"/>
            <a:t> Automatically creates workspaces when windows are dragged; removes empty ones.</a:t>
          </a:r>
        </a:p>
      </dgm:t>
    </dgm:pt>
    <dgm:pt modelId="{9E224831-117E-4016-976B-50BAADBE51A2}" type="parTrans" cxnId="{BD5E365C-FA33-4875-9B21-8998949E33F2}">
      <dgm:prSet/>
      <dgm:spPr/>
      <dgm:t>
        <a:bodyPr/>
        <a:lstStyle/>
        <a:p>
          <a:endParaRPr lang="en-US"/>
        </a:p>
      </dgm:t>
    </dgm:pt>
    <dgm:pt modelId="{B4279726-3F93-4458-8B61-3FD57DFA59B2}" type="sibTrans" cxnId="{BD5E365C-FA33-4875-9B21-8998949E33F2}">
      <dgm:prSet/>
      <dgm:spPr/>
      <dgm:t>
        <a:bodyPr/>
        <a:lstStyle/>
        <a:p>
          <a:endParaRPr lang="en-US"/>
        </a:p>
      </dgm:t>
    </dgm:pt>
    <dgm:pt modelId="{E6C5F572-5839-4056-AB05-DBDA09FD00E3}">
      <dgm:prSet custT="1"/>
      <dgm:spPr/>
      <dgm:t>
        <a:bodyPr/>
        <a:lstStyle/>
        <a:p>
          <a:r>
            <a:rPr lang="en-US" sz="1400" b="1"/>
            <a:t>Fixed Number of Workspaces:</a:t>
          </a:r>
          <a:r>
            <a:rPr lang="en-US" sz="1400"/>
            <a:t> Keeps a static workspace count regardless of activity.</a:t>
          </a:r>
        </a:p>
      </dgm:t>
    </dgm:pt>
    <dgm:pt modelId="{7D3F3378-E8CF-4436-95A7-17C87973F7D9}" type="parTrans" cxnId="{84A8A84B-D407-4311-89E9-5F9891B23FE5}">
      <dgm:prSet/>
      <dgm:spPr/>
      <dgm:t>
        <a:bodyPr/>
        <a:lstStyle/>
        <a:p>
          <a:endParaRPr lang="en-US"/>
        </a:p>
      </dgm:t>
    </dgm:pt>
    <dgm:pt modelId="{5CE83BB1-371E-4F27-A247-884CBDA1E3AE}" type="sibTrans" cxnId="{84A8A84B-D407-4311-89E9-5F9891B23FE5}">
      <dgm:prSet/>
      <dgm:spPr/>
      <dgm:t>
        <a:bodyPr/>
        <a:lstStyle/>
        <a:p>
          <a:endParaRPr lang="en-US"/>
        </a:p>
      </dgm:t>
    </dgm:pt>
    <dgm:pt modelId="{98D35CE6-C994-4CA0-8F7D-72BCAD943021}" type="pres">
      <dgm:prSet presAssocID="{6294E45C-CC70-4336-88C8-D08651C1A009}" presName="linear" presStyleCnt="0">
        <dgm:presLayoutVars>
          <dgm:animLvl val="lvl"/>
          <dgm:resizeHandles val="exact"/>
        </dgm:presLayoutVars>
      </dgm:prSet>
      <dgm:spPr/>
    </dgm:pt>
    <dgm:pt modelId="{B1ECE737-B565-4C00-9618-887B8221C6B2}" type="pres">
      <dgm:prSet presAssocID="{B5B1C02D-03FC-459F-AD0A-3D3592DA99E0}" presName="parentText" presStyleLbl="node1" presStyleIdx="0" presStyleCnt="7" custLinFactY="-27549" custLinFactNeighborX="5410" custLinFactNeighborY="-100000">
        <dgm:presLayoutVars>
          <dgm:chMax val="0"/>
          <dgm:bulletEnabled val="1"/>
        </dgm:presLayoutVars>
      </dgm:prSet>
      <dgm:spPr/>
    </dgm:pt>
    <dgm:pt modelId="{ABEFF648-ACB8-404C-BED7-32387182698E}" type="pres">
      <dgm:prSet presAssocID="{1F99980C-0A39-4F80-A03E-66C1FCDD78D0}" presName="spacer" presStyleCnt="0"/>
      <dgm:spPr/>
    </dgm:pt>
    <dgm:pt modelId="{B73F6351-9A4A-4F59-9AEF-DB57435B0E15}" type="pres">
      <dgm:prSet presAssocID="{F56CD79C-7222-46E8-9F99-F409C1EAB72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5943199-22FC-4131-BCB7-27253CB8CC03}" type="pres">
      <dgm:prSet presAssocID="{38053814-FD20-4605-961A-ADF6B1B0EAED}" presName="spacer" presStyleCnt="0"/>
      <dgm:spPr/>
    </dgm:pt>
    <dgm:pt modelId="{FF0D0EE7-B006-478E-B611-CA86CAB46C5B}" type="pres">
      <dgm:prSet presAssocID="{B8BDB8C2-D2B0-4197-A90B-C3955FDD49D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B59697D-B332-4A2E-B97C-C69325190D12}" type="pres">
      <dgm:prSet presAssocID="{D4CD280B-DA5A-45B4-9C20-91A403874881}" presName="spacer" presStyleCnt="0"/>
      <dgm:spPr/>
    </dgm:pt>
    <dgm:pt modelId="{DFBB914F-D5EE-46A3-8B2E-3900F219358C}" type="pres">
      <dgm:prSet presAssocID="{AE40F67D-AE8E-432B-B24C-7A1DFAA5D0E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237BAE2-D4A0-41A5-82B2-355527D9E656}" type="pres">
      <dgm:prSet presAssocID="{9C599032-72C2-488D-B6F2-D35E06EAC915}" presName="spacer" presStyleCnt="0"/>
      <dgm:spPr/>
    </dgm:pt>
    <dgm:pt modelId="{15FE88E5-D646-468F-A080-8640D59E0EBC}" type="pres">
      <dgm:prSet presAssocID="{981E99E8-3106-4B11-9554-779C63ACEE6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BE6C737-2CEC-47CA-ABCE-9A4F2D6A0D04}" type="pres">
      <dgm:prSet presAssocID="{A70B1673-091E-43DC-BF6E-6ADEFB7CD2C8}" presName="spacer" presStyleCnt="0"/>
      <dgm:spPr/>
    </dgm:pt>
    <dgm:pt modelId="{13235AC0-6BE3-4C2A-B998-2C2603AE11C5}" type="pres">
      <dgm:prSet presAssocID="{A141FFF0-FD16-4AEA-96E4-1EB234F1D3A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672502AC-1B7E-48D8-B6CB-B0CD4F7127C7}" type="pres">
      <dgm:prSet presAssocID="{B4279726-3F93-4458-8B61-3FD57DFA59B2}" presName="spacer" presStyleCnt="0"/>
      <dgm:spPr/>
    </dgm:pt>
    <dgm:pt modelId="{2C9E2CF5-9054-4406-BE0B-C5CAE851D8A2}" type="pres">
      <dgm:prSet presAssocID="{E6C5F572-5839-4056-AB05-DBDA09FD00E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B207602-E141-4668-81CC-AFA25C85A64F}" type="presOf" srcId="{6294E45C-CC70-4336-88C8-D08651C1A009}" destId="{98D35CE6-C994-4CA0-8F7D-72BCAD943021}" srcOrd="0" destOrd="0" presId="urn:microsoft.com/office/officeart/2005/8/layout/vList2"/>
    <dgm:cxn modelId="{57225207-A4C9-479F-A542-16901E00A08B}" srcId="{6294E45C-CC70-4336-88C8-D08651C1A009}" destId="{F56CD79C-7222-46E8-9F99-F409C1EAB725}" srcOrd="1" destOrd="0" parTransId="{FFB97BAD-6F4D-4C88-B532-8A8B7B216330}" sibTransId="{38053814-FD20-4605-961A-ADF6B1B0EAED}"/>
    <dgm:cxn modelId="{2309CD1A-4151-4AD7-B3DA-BD3D2B592316}" type="presOf" srcId="{E6C5F572-5839-4056-AB05-DBDA09FD00E3}" destId="{2C9E2CF5-9054-4406-BE0B-C5CAE851D8A2}" srcOrd="0" destOrd="0" presId="urn:microsoft.com/office/officeart/2005/8/layout/vList2"/>
    <dgm:cxn modelId="{D59CED5B-CFD8-4A05-8617-6F871B9A3E5B}" type="presOf" srcId="{AE40F67D-AE8E-432B-B24C-7A1DFAA5D0E6}" destId="{DFBB914F-D5EE-46A3-8B2E-3900F219358C}" srcOrd="0" destOrd="0" presId="urn:microsoft.com/office/officeart/2005/8/layout/vList2"/>
    <dgm:cxn modelId="{BD5E365C-FA33-4875-9B21-8998949E33F2}" srcId="{6294E45C-CC70-4336-88C8-D08651C1A009}" destId="{A141FFF0-FD16-4AEA-96E4-1EB234F1D3AD}" srcOrd="5" destOrd="0" parTransId="{9E224831-117E-4016-976B-50BAADBE51A2}" sibTransId="{B4279726-3F93-4458-8B61-3FD57DFA59B2}"/>
    <dgm:cxn modelId="{E825DF48-0748-4637-AD9A-93E6466920B2}" srcId="{6294E45C-CC70-4336-88C8-D08651C1A009}" destId="{981E99E8-3106-4B11-9554-779C63ACEE67}" srcOrd="4" destOrd="0" parTransId="{C074B8C2-7C60-42A5-898A-8EEFB4C44DC5}" sibTransId="{A70B1673-091E-43DC-BF6E-6ADEFB7CD2C8}"/>
    <dgm:cxn modelId="{84A8A84B-D407-4311-89E9-5F9891B23FE5}" srcId="{6294E45C-CC70-4336-88C8-D08651C1A009}" destId="{E6C5F572-5839-4056-AB05-DBDA09FD00E3}" srcOrd="6" destOrd="0" parTransId="{7D3F3378-E8CF-4436-95A7-17C87973F7D9}" sibTransId="{5CE83BB1-371E-4F27-A247-884CBDA1E3AE}"/>
    <dgm:cxn modelId="{477B4252-FF12-4933-9A13-5FEB6C099E54}" srcId="{6294E45C-CC70-4336-88C8-D08651C1A009}" destId="{AE40F67D-AE8E-432B-B24C-7A1DFAA5D0E6}" srcOrd="3" destOrd="0" parTransId="{3E5C12CF-BD67-47C0-B45D-F1F39F0E0487}" sibTransId="{9C599032-72C2-488D-B6F2-D35E06EAC915}"/>
    <dgm:cxn modelId="{EBB5CB79-352D-4913-8E9A-1C57900077B0}" type="presOf" srcId="{B8BDB8C2-D2B0-4197-A90B-C3955FDD49D2}" destId="{FF0D0EE7-B006-478E-B611-CA86CAB46C5B}" srcOrd="0" destOrd="0" presId="urn:microsoft.com/office/officeart/2005/8/layout/vList2"/>
    <dgm:cxn modelId="{6F074D8A-340F-475D-BF5B-67BE5AA18487}" srcId="{6294E45C-CC70-4336-88C8-D08651C1A009}" destId="{B8BDB8C2-D2B0-4197-A90B-C3955FDD49D2}" srcOrd="2" destOrd="0" parTransId="{B940DC04-BB70-4DA1-828D-01D62B705D3B}" sibTransId="{D4CD280B-DA5A-45B4-9C20-91A403874881}"/>
    <dgm:cxn modelId="{03C5B4C1-9724-4F0F-B9F3-3D30D3503C7D}" type="presOf" srcId="{981E99E8-3106-4B11-9554-779C63ACEE67}" destId="{15FE88E5-D646-468F-A080-8640D59E0EBC}" srcOrd="0" destOrd="0" presId="urn:microsoft.com/office/officeart/2005/8/layout/vList2"/>
    <dgm:cxn modelId="{D20ADEC3-7F28-4148-84AD-140EDBFE6C36}" type="presOf" srcId="{B5B1C02D-03FC-459F-AD0A-3D3592DA99E0}" destId="{B1ECE737-B565-4C00-9618-887B8221C6B2}" srcOrd="0" destOrd="0" presId="urn:microsoft.com/office/officeart/2005/8/layout/vList2"/>
    <dgm:cxn modelId="{422760D1-9F9A-427F-AB96-3279F1149522}" type="presOf" srcId="{F56CD79C-7222-46E8-9F99-F409C1EAB725}" destId="{B73F6351-9A4A-4F59-9AEF-DB57435B0E15}" srcOrd="0" destOrd="0" presId="urn:microsoft.com/office/officeart/2005/8/layout/vList2"/>
    <dgm:cxn modelId="{BB7303D4-0ACA-4E10-B277-274D36B1B2BD}" srcId="{6294E45C-CC70-4336-88C8-D08651C1A009}" destId="{B5B1C02D-03FC-459F-AD0A-3D3592DA99E0}" srcOrd="0" destOrd="0" parTransId="{6CADC200-16C2-497C-8332-E15E025258F6}" sibTransId="{1F99980C-0A39-4F80-A03E-66C1FCDD78D0}"/>
    <dgm:cxn modelId="{2BCC6EF1-3E36-4B42-BD07-A3C7B1C05C0E}" type="presOf" srcId="{A141FFF0-FD16-4AEA-96E4-1EB234F1D3AD}" destId="{13235AC0-6BE3-4C2A-B998-2C2603AE11C5}" srcOrd="0" destOrd="0" presId="urn:microsoft.com/office/officeart/2005/8/layout/vList2"/>
    <dgm:cxn modelId="{357B3E9B-8C58-4053-9F92-9A41A615A32B}" type="presParOf" srcId="{98D35CE6-C994-4CA0-8F7D-72BCAD943021}" destId="{B1ECE737-B565-4C00-9618-887B8221C6B2}" srcOrd="0" destOrd="0" presId="urn:microsoft.com/office/officeart/2005/8/layout/vList2"/>
    <dgm:cxn modelId="{C6B20EBF-32D7-4332-A9CE-631976EA8758}" type="presParOf" srcId="{98D35CE6-C994-4CA0-8F7D-72BCAD943021}" destId="{ABEFF648-ACB8-404C-BED7-32387182698E}" srcOrd="1" destOrd="0" presId="urn:microsoft.com/office/officeart/2005/8/layout/vList2"/>
    <dgm:cxn modelId="{0715742B-94CE-40B3-9A3D-89EA79784B13}" type="presParOf" srcId="{98D35CE6-C994-4CA0-8F7D-72BCAD943021}" destId="{B73F6351-9A4A-4F59-9AEF-DB57435B0E15}" srcOrd="2" destOrd="0" presId="urn:microsoft.com/office/officeart/2005/8/layout/vList2"/>
    <dgm:cxn modelId="{02AE0DEA-A583-4B1F-A778-51DDDE172AAA}" type="presParOf" srcId="{98D35CE6-C994-4CA0-8F7D-72BCAD943021}" destId="{B5943199-22FC-4131-BCB7-27253CB8CC03}" srcOrd="3" destOrd="0" presId="urn:microsoft.com/office/officeart/2005/8/layout/vList2"/>
    <dgm:cxn modelId="{7BE35E49-DA2B-4B2D-84D9-A1AC043FEE6E}" type="presParOf" srcId="{98D35CE6-C994-4CA0-8F7D-72BCAD943021}" destId="{FF0D0EE7-B006-478E-B611-CA86CAB46C5B}" srcOrd="4" destOrd="0" presId="urn:microsoft.com/office/officeart/2005/8/layout/vList2"/>
    <dgm:cxn modelId="{655F8C9A-4A97-4E72-91E3-2C5BF5F30891}" type="presParOf" srcId="{98D35CE6-C994-4CA0-8F7D-72BCAD943021}" destId="{5B59697D-B332-4A2E-B97C-C69325190D12}" srcOrd="5" destOrd="0" presId="urn:microsoft.com/office/officeart/2005/8/layout/vList2"/>
    <dgm:cxn modelId="{FC191858-A5D4-4F6A-A671-0BE33355F885}" type="presParOf" srcId="{98D35CE6-C994-4CA0-8F7D-72BCAD943021}" destId="{DFBB914F-D5EE-46A3-8B2E-3900F219358C}" srcOrd="6" destOrd="0" presId="urn:microsoft.com/office/officeart/2005/8/layout/vList2"/>
    <dgm:cxn modelId="{95AFECE4-9F0C-437B-9DE6-3766DF50147C}" type="presParOf" srcId="{98D35CE6-C994-4CA0-8F7D-72BCAD943021}" destId="{7237BAE2-D4A0-41A5-82B2-355527D9E656}" srcOrd="7" destOrd="0" presId="urn:microsoft.com/office/officeart/2005/8/layout/vList2"/>
    <dgm:cxn modelId="{5C5F4C82-4764-4D88-838F-63EF4FA1289C}" type="presParOf" srcId="{98D35CE6-C994-4CA0-8F7D-72BCAD943021}" destId="{15FE88E5-D646-468F-A080-8640D59E0EBC}" srcOrd="8" destOrd="0" presId="urn:microsoft.com/office/officeart/2005/8/layout/vList2"/>
    <dgm:cxn modelId="{E8B72A5A-AB5F-4C3C-919E-E8F83AF41BBB}" type="presParOf" srcId="{98D35CE6-C994-4CA0-8F7D-72BCAD943021}" destId="{ABE6C737-2CEC-47CA-ABCE-9A4F2D6A0D04}" srcOrd="9" destOrd="0" presId="urn:microsoft.com/office/officeart/2005/8/layout/vList2"/>
    <dgm:cxn modelId="{41684E2A-69B6-4EF2-9CB1-C813CB6F12E6}" type="presParOf" srcId="{98D35CE6-C994-4CA0-8F7D-72BCAD943021}" destId="{13235AC0-6BE3-4C2A-B998-2C2603AE11C5}" srcOrd="10" destOrd="0" presId="urn:microsoft.com/office/officeart/2005/8/layout/vList2"/>
    <dgm:cxn modelId="{164AEFD6-0062-43DD-AC92-64302C12BD5D}" type="presParOf" srcId="{98D35CE6-C994-4CA0-8F7D-72BCAD943021}" destId="{672502AC-1B7E-48D8-B6CB-B0CD4F7127C7}" srcOrd="11" destOrd="0" presId="urn:microsoft.com/office/officeart/2005/8/layout/vList2"/>
    <dgm:cxn modelId="{B50D3A30-FE94-41E6-AABD-B83899D3CA46}" type="presParOf" srcId="{98D35CE6-C994-4CA0-8F7D-72BCAD943021}" destId="{2C9E2CF5-9054-4406-BE0B-C5CAE851D8A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3B94D0-9C13-498D-8E20-E907B1E77A17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5C7617-09D6-4D5C-A5B7-C917B61CF6B5}">
      <dgm:prSet/>
      <dgm:spPr/>
      <dgm:t>
        <a:bodyPr/>
        <a:lstStyle/>
        <a:p>
          <a:r>
            <a:rPr lang="en-US" b="1" dirty="0"/>
            <a:t>3. Run Dialog</a:t>
          </a:r>
          <a:endParaRPr lang="en-US" dirty="0"/>
        </a:p>
      </dgm:t>
    </dgm:pt>
    <dgm:pt modelId="{22A6DA8A-D016-40B3-9E5F-B4F6EF772C10}" type="parTrans" cxnId="{44865683-59CF-42E8-A297-2A3900E4CA54}">
      <dgm:prSet/>
      <dgm:spPr/>
      <dgm:t>
        <a:bodyPr/>
        <a:lstStyle/>
        <a:p>
          <a:endParaRPr lang="en-US"/>
        </a:p>
      </dgm:t>
    </dgm:pt>
    <dgm:pt modelId="{719C49B5-EA91-4591-B808-A0BC40E781F1}" type="sibTrans" cxnId="{44865683-59CF-42E8-A297-2A3900E4CA54}">
      <dgm:prSet/>
      <dgm:spPr/>
      <dgm:t>
        <a:bodyPr/>
        <a:lstStyle/>
        <a:p>
          <a:endParaRPr lang="en-US"/>
        </a:p>
      </dgm:t>
    </dgm:pt>
    <dgm:pt modelId="{5A3A3DAF-94B1-4126-A356-64956233EB56}">
      <dgm:prSet phldrT="[Metin]"/>
      <dgm:spPr/>
      <dgm:t>
        <a:bodyPr/>
        <a:lstStyle/>
        <a:p>
          <a:r>
            <a:rPr lang="en-US" dirty="0"/>
            <a:t>Press </a:t>
          </a:r>
          <a:r>
            <a:rPr lang="en-US" b="1" dirty="0"/>
            <a:t>Alt + F2</a:t>
          </a:r>
          <a:r>
            <a:rPr lang="en-US" dirty="0"/>
            <a:t> to open the </a:t>
          </a:r>
          <a:r>
            <a:rPr lang="en-US" i="1" dirty="0"/>
            <a:t>Run a Command</a:t>
          </a:r>
          <a:r>
            <a:rPr lang="en-US" dirty="0"/>
            <a:t> window, enter </a:t>
          </a:r>
          <a:r>
            <a:rPr lang="en-US" dirty="0" err="1"/>
            <a:t>ptyxis</a:t>
          </a:r>
          <a:r>
            <a:rPr lang="en-US" dirty="0"/>
            <a:t>, and press Enter.</a:t>
          </a:r>
        </a:p>
      </dgm:t>
    </dgm:pt>
    <dgm:pt modelId="{93EDCD53-9216-4B6B-A447-260E8F7F9050}" type="parTrans" cxnId="{9ACBE675-29CB-48F7-A146-49A7B3F98335}">
      <dgm:prSet/>
      <dgm:spPr/>
      <dgm:t>
        <a:bodyPr/>
        <a:lstStyle/>
        <a:p>
          <a:endParaRPr lang="en-US"/>
        </a:p>
      </dgm:t>
    </dgm:pt>
    <dgm:pt modelId="{90917365-C825-49F1-BF18-D0D420ADDA23}" type="sibTrans" cxnId="{9ACBE675-29CB-48F7-A146-49A7B3F98335}">
      <dgm:prSet/>
      <dgm:spPr/>
      <dgm:t>
        <a:bodyPr/>
        <a:lstStyle/>
        <a:p>
          <a:endParaRPr lang="en-US"/>
        </a:p>
      </dgm:t>
    </dgm:pt>
    <dgm:pt modelId="{B21761DB-E025-45F0-9D7D-8B432BB6EE5C}" type="pres">
      <dgm:prSet presAssocID="{FA3B94D0-9C13-498D-8E20-E907B1E77A17}" presName="linearFlow" presStyleCnt="0">
        <dgm:presLayoutVars>
          <dgm:resizeHandles val="exact"/>
        </dgm:presLayoutVars>
      </dgm:prSet>
      <dgm:spPr/>
    </dgm:pt>
    <dgm:pt modelId="{51CF4C89-79F1-44D9-87C2-A079AB3D4E13}" type="pres">
      <dgm:prSet presAssocID="{5B5C7617-09D6-4D5C-A5B7-C917B61CF6B5}" presName="node" presStyleLbl="node1" presStyleIdx="0" presStyleCnt="2">
        <dgm:presLayoutVars>
          <dgm:bulletEnabled val="1"/>
        </dgm:presLayoutVars>
      </dgm:prSet>
      <dgm:spPr/>
    </dgm:pt>
    <dgm:pt modelId="{145DA448-58E0-4DF9-8DB6-EF08B6358347}" type="pres">
      <dgm:prSet presAssocID="{719C49B5-EA91-4591-B808-A0BC40E781F1}" presName="sibTrans" presStyleLbl="sibTrans2D1" presStyleIdx="0" presStyleCnt="1"/>
      <dgm:spPr/>
    </dgm:pt>
    <dgm:pt modelId="{5CD9C4E0-3611-4359-9CFF-00B25CEFC02D}" type="pres">
      <dgm:prSet presAssocID="{719C49B5-EA91-4591-B808-A0BC40E781F1}" presName="connectorText" presStyleLbl="sibTrans2D1" presStyleIdx="0" presStyleCnt="1"/>
      <dgm:spPr/>
    </dgm:pt>
    <dgm:pt modelId="{76DE8CF6-275A-460D-9BB2-563193E3DB42}" type="pres">
      <dgm:prSet presAssocID="{5A3A3DAF-94B1-4126-A356-64956233EB56}" presName="node" presStyleLbl="node1" presStyleIdx="1" presStyleCnt="2">
        <dgm:presLayoutVars>
          <dgm:bulletEnabled val="1"/>
        </dgm:presLayoutVars>
      </dgm:prSet>
      <dgm:spPr/>
    </dgm:pt>
  </dgm:ptLst>
  <dgm:cxnLst>
    <dgm:cxn modelId="{9290C044-A6B6-466D-B2BA-907C1CA452B6}" type="presOf" srcId="{5A3A3DAF-94B1-4126-A356-64956233EB56}" destId="{76DE8CF6-275A-460D-9BB2-563193E3DB42}" srcOrd="0" destOrd="0" presId="urn:microsoft.com/office/officeart/2005/8/layout/process2"/>
    <dgm:cxn modelId="{9ACBE675-29CB-48F7-A146-49A7B3F98335}" srcId="{FA3B94D0-9C13-498D-8E20-E907B1E77A17}" destId="{5A3A3DAF-94B1-4126-A356-64956233EB56}" srcOrd="1" destOrd="0" parTransId="{93EDCD53-9216-4B6B-A447-260E8F7F9050}" sibTransId="{90917365-C825-49F1-BF18-D0D420ADDA23}"/>
    <dgm:cxn modelId="{44865683-59CF-42E8-A297-2A3900E4CA54}" srcId="{FA3B94D0-9C13-498D-8E20-E907B1E77A17}" destId="{5B5C7617-09D6-4D5C-A5B7-C917B61CF6B5}" srcOrd="0" destOrd="0" parTransId="{22A6DA8A-D016-40B3-9E5F-B4F6EF772C10}" sibTransId="{719C49B5-EA91-4591-B808-A0BC40E781F1}"/>
    <dgm:cxn modelId="{673D5984-A280-4BA9-AF2A-EFFA316D6BDE}" type="presOf" srcId="{5B5C7617-09D6-4D5C-A5B7-C917B61CF6B5}" destId="{51CF4C89-79F1-44D9-87C2-A079AB3D4E13}" srcOrd="0" destOrd="0" presId="urn:microsoft.com/office/officeart/2005/8/layout/process2"/>
    <dgm:cxn modelId="{F7EFB3BD-C468-446D-BEA2-C59091BA9F85}" type="presOf" srcId="{719C49B5-EA91-4591-B808-A0BC40E781F1}" destId="{145DA448-58E0-4DF9-8DB6-EF08B6358347}" srcOrd="0" destOrd="0" presId="urn:microsoft.com/office/officeart/2005/8/layout/process2"/>
    <dgm:cxn modelId="{DDB87ECF-7BE1-4B37-8E08-0EAE057B513E}" type="presOf" srcId="{719C49B5-EA91-4591-B808-A0BC40E781F1}" destId="{5CD9C4E0-3611-4359-9CFF-00B25CEFC02D}" srcOrd="1" destOrd="0" presId="urn:microsoft.com/office/officeart/2005/8/layout/process2"/>
    <dgm:cxn modelId="{A336BED5-3510-4C2D-B7AE-7A1D7DFD6EDE}" type="presOf" srcId="{FA3B94D0-9C13-498D-8E20-E907B1E77A17}" destId="{B21761DB-E025-45F0-9D7D-8B432BB6EE5C}" srcOrd="0" destOrd="0" presId="urn:microsoft.com/office/officeart/2005/8/layout/process2"/>
    <dgm:cxn modelId="{333147C1-89EC-42CF-BABB-16FB126EACF7}" type="presParOf" srcId="{B21761DB-E025-45F0-9D7D-8B432BB6EE5C}" destId="{51CF4C89-79F1-44D9-87C2-A079AB3D4E13}" srcOrd="0" destOrd="0" presId="urn:microsoft.com/office/officeart/2005/8/layout/process2"/>
    <dgm:cxn modelId="{5621915B-D3F4-469B-ADB1-787B37EA0A3A}" type="presParOf" srcId="{B21761DB-E025-45F0-9D7D-8B432BB6EE5C}" destId="{145DA448-58E0-4DF9-8DB6-EF08B6358347}" srcOrd="1" destOrd="0" presId="urn:microsoft.com/office/officeart/2005/8/layout/process2"/>
    <dgm:cxn modelId="{194BD3FC-969B-458F-BE3B-DB689964C14D}" type="presParOf" srcId="{145DA448-58E0-4DF9-8DB6-EF08B6358347}" destId="{5CD9C4E0-3611-4359-9CFF-00B25CEFC02D}" srcOrd="0" destOrd="0" presId="urn:microsoft.com/office/officeart/2005/8/layout/process2"/>
    <dgm:cxn modelId="{1C19A3AF-5178-4AD1-BFB3-FF997F964012}" type="presParOf" srcId="{B21761DB-E025-45F0-9D7D-8B432BB6EE5C}" destId="{76DE8CF6-275A-460D-9BB2-563193E3DB42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3B94D0-9C13-498D-8E20-E907B1E77A17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57159A-7D5E-4605-8D78-990E1446B6A3}">
      <dgm:prSet/>
      <dgm:spPr/>
      <dgm:t>
        <a:bodyPr/>
        <a:lstStyle/>
        <a:p>
          <a:r>
            <a:rPr lang="en-US" b="1" dirty="0"/>
            <a:t>2. Via Search</a:t>
          </a:r>
          <a:endParaRPr lang="en-US" dirty="0"/>
        </a:p>
      </dgm:t>
    </dgm:pt>
    <dgm:pt modelId="{BE2C1A76-E4E1-4952-9E9A-4CE7193A1C37}" type="parTrans" cxnId="{88ECBB64-7178-4D2D-91C6-21DCCDF7DB52}">
      <dgm:prSet/>
      <dgm:spPr/>
      <dgm:t>
        <a:bodyPr/>
        <a:lstStyle/>
        <a:p>
          <a:endParaRPr lang="en-US"/>
        </a:p>
      </dgm:t>
    </dgm:pt>
    <dgm:pt modelId="{D45A0C22-CB9F-4AB1-91F6-048DC8D388DE}" type="sibTrans" cxnId="{88ECBB64-7178-4D2D-91C6-21DCCDF7DB52}">
      <dgm:prSet/>
      <dgm:spPr/>
      <dgm:t>
        <a:bodyPr/>
        <a:lstStyle/>
        <a:p>
          <a:endParaRPr lang="en-US"/>
        </a:p>
      </dgm:t>
    </dgm:pt>
    <dgm:pt modelId="{A6CE8010-8907-4925-B371-3E7394F86A18}">
      <dgm:prSet/>
      <dgm:spPr/>
      <dgm:t>
        <a:bodyPr/>
        <a:lstStyle/>
        <a:p>
          <a:r>
            <a:rPr lang="tr-TR" dirty="0" err="1"/>
            <a:t>Acion</a:t>
          </a:r>
          <a:r>
            <a:rPr lang="tr-TR" dirty="0"/>
            <a:t>: </a:t>
          </a:r>
          <a:r>
            <a:rPr lang="en-US" dirty="0"/>
            <a:t>Type terminal directly into the search field located at the top of the windows overview. </a:t>
          </a:r>
        </a:p>
      </dgm:t>
    </dgm:pt>
    <dgm:pt modelId="{BF8A99C0-9AD4-4635-B740-5C39E903848D}" type="parTrans" cxnId="{43ACEE6C-A240-4543-9261-6F90E8309264}">
      <dgm:prSet/>
      <dgm:spPr/>
      <dgm:t>
        <a:bodyPr/>
        <a:lstStyle/>
        <a:p>
          <a:endParaRPr lang="en-US"/>
        </a:p>
      </dgm:t>
    </dgm:pt>
    <dgm:pt modelId="{3F8FCAE2-25ED-45A5-8D2A-4E93EC617996}" type="sibTrans" cxnId="{43ACEE6C-A240-4543-9261-6F90E8309264}">
      <dgm:prSet/>
      <dgm:spPr/>
      <dgm:t>
        <a:bodyPr/>
        <a:lstStyle/>
        <a:p>
          <a:endParaRPr lang="en-US"/>
        </a:p>
      </dgm:t>
    </dgm:pt>
    <dgm:pt modelId="{B21761DB-E025-45F0-9D7D-8B432BB6EE5C}" type="pres">
      <dgm:prSet presAssocID="{FA3B94D0-9C13-498D-8E20-E907B1E77A17}" presName="linearFlow" presStyleCnt="0">
        <dgm:presLayoutVars>
          <dgm:resizeHandles val="exact"/>
        </dgm:presLayoutVars>
      </dgm:prSet>
      <dgm:spPr/>
    </dgm:pt>
    <dgm:pt modelId="{C4DDC078-9985-48BD-89D6-D37E40FBA875}" type="pres">
      <dgm:prSet presAssocID="{2D57159A-7D5E-4605-8D78-990E1446B6A3}" presName="node" presStyleLbl="node1" presStyleIdx="0" presStyleCnt="2" custLinFactNeighborX="-1092" custLinFactNeighborY="22565">
        <dgm:presLayoutVars>
          <dgm:bulletEnabled val="1"/>
        </dgm:presLayoutVars>
      </dgm:prSet>
      <dgm:spPr/>
    </dgm:pt>
    <dgm:pt modelId="{B425E33A-28AF-4786-A287-28D485B40CAB}" type="pres">
      <dgm:prSet presAssocID="{D45A0C22-CB9F-4AB1-91F6-048DC8D388DE}" presName="sibTrans" presStyleLbl="sibTrans2D1" presStyleIdx="0" presStyleCnt="1"/>
      <dgm:spPr/>
    </dgm:pt>
    <dgm:pt modelId="{F691F31F-EF48-49FA-82C5-C068B79E354D}" type="pres">
      <dgm:prSet presAssocID="{D45A0C22-CB9F-4AB1-91F6-048DC8D388DE}" presName="connectorText" presStyleLbl="sibTrans2D1" presStyleIdx="0" presStyleCnt="1"/>
      <dgm:spPr/>
    </dgm:pt>
    <dgm:pt modelId="{5F679D4F-99A1-42E6-8BF4-739EE1BB0524}" type="pres">
      <dgm:prSet presAssocID="{A6CE8010-8907-4925-B371-3E7394F86A18}" presName="node" presStyleLbl="node1" presStyleIdx="1" presStyleCnt="2">
        <dgm:presLayoutVars>
          <dgm:bulletEnabled val="1"/>
        </dgm:presLayoutVars>
      </dgm:prSet>
      <dgm:spPr/>
    </dgm:pt>
  </dgm:ptLst>
  <dgm:cxnLst>
    <dgm:cxn modelId="{88ECBB64-7178-4D2D-91C6-21DCCDF7DB52}" srcId="{FA3B94D0-9C13-498D-8E20-E907B1E77A17}" destId="{2D57159A-7D5E-4605-8D78-990E1446B6A3}" srcOrd="0" destOrd="0" parTransId="{BE2C1A76-E4E1-4952-9E9A-4CE7193A1C37}" sibTransId="{D45A0C22-CB9F-4AB1-91F6-048DC8D388DE}"/>
    <dgm:cxn modelId="{43ACEE6C-A240-4543-9261-6F90E8309264}" srcId="{FA3B94D0-9C13-498D-8E20-E907B1E77A17}" destId="{A6CE8010-8907-4925-B371-3E7394F86A18}" srcOrd="1" destOrd="0" parTransId="{BF8A99C0-9AD4-4635-B740-5C39E903848D}" sibTransId="{3F8FCAE2-25ED-45A5-8D2A-4E93EC617996}"/>
    <dgm:cxn modelId="{894E3B77-DC9F-4EC5-A73E-CF0EC84CB8E9}" type="presOf" srcId="{2D57159A-7D5E-4605-8D78-990E1446B6A3}" destId="{C4DDC078-9985-48BD-89D6-D37E40FBA875}" srcOrd="0" destOrd="0" presId="urn:microsoft.com/office/officeart/2005/8/layout/process2"/>
    <dgm:cxn modelId="{F0C31679-7B34-4B7F-A3A7-9064FB558498}" type="presOf" srcId="{A6CE8010-8907-4925-B371-3E7394F86A18}" destId="{5F679D4F-99A1-42E6-8BF4-739EE1BB0524}" srcOrd="0" destOrd="0" presId="urn:microsoft.com/office/officeart/2005/8/layout/process2"/>
    <dgm:cxn modelId="{A336BED5-3510-4C2D-B7AE-7A1D7DFD6EDE}" type="presOf" srcId="{FA3B94D0-9C13-498D-8E20-E907B1E77A17}" destId="{B21761DB-E025-45F0-9D7D-8B432BB6EE5C}" srcOrd="0" destOrd="0" presId="urn:microsoft.com/office/officeart/2005/8/layout/process2"/>
    <dgm:cxn modelId="{95F2B3EC-A1CA-4A8B-818F-EF07CF99D8ED}" type="presOf" srcId="{D45A0C22-CB9F-4AB1-91F6-048DC8D388DE}" destId="{F691F31F-EF48-49FA-82C5-C068B79E354D}" srcOrd="1" destOrd="0" presId="urn:microsoft.com/office/officeart/2005/8/layout/process2"/>
    <dgm:cxn modelId="{EF9F83F7-AE75-4EA8-87CA-575817D9E58E}" type="presOf" srcId="{D45A0C22-CB9F-4AB1-91F6-048DC8D388DE}" destId="{B425E33A-28AF-4786-A287-28D485B40CAB}" srcOrd="0" destOrd="0" presId="urn:microsoft.com/office/officeart/2005/8/layout/process2"/>
    <dgm:cxn modelId="{B4689341-4851-438E-920A-C86FD3F6C8D5}" type="presParOf" srcId="{B21761DB-E025-45F0-9D7D-8B432BB6EE5C}" destId="{C4DDC078-9985-48BD-89D6-D37E40FBA875}" srcOrd="0" destOrd="0" presId="urn:microsoft.com/office/officeart/2005/8/layout/process2"/>
    <dgm:cxn modelId="{32B030B8-ECFD-4C3F-936A-D35E47DE01CF}" type="presParOf" srcId="{B21761DB-E025-45F0-9D7D-8B432BB6EE5C}" destId="{B425E33A-28AF-4786-A287-28D485B40CAB}" srcOrd="1" destOrd="0" presId="urn:microsoft.com/office/officeart/2005/8/layout/process2"/>
    <dgm:cxn modelId="{FF18E309-BD54-4FE7-BCBD-C520151FCE8E}" type="presParOf" srcId="{B425E33A-28AF-4786-A287-28D485B40CAB}" destId="{F691F31F-EF48-49FA-82C5-C068B79E354D}" srcOrd="0" destOrd="0" presId="urn:microsoft.com/office/officeart/2005/8/layout/process2"/>
    <dgm:cxn modelId="{AC23732C-8F8B-4385-BD6B-D1C0B48C660F}" type="presParOf" srcId="{B21761DB-E025-45F0-9D7D-8B432BB6EE5C}" destId="{5F679D4F-99A1-42E6-8BF4-739EE1BB052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3B94D0-9C13-498D-8E20-E907B1E77A17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594414-887E-412B-83DD-F2B6877DA63A}">
      <dgm:prSet/>
      <dgm:spPr/>
      <dgm:t>
        <a:bodyPr/>
        <a:lstStyle/>
        <a:p>
          <a:r>
            <a:rPr lang="en-US" b="1" dirty="0"/>
            <a:t>1. Via Dash</a:t>
          </a:r>
          <a:endParaRPr lang="en-US" dirty="0"/>
        </a:p>
      </dgm:t>
    </dgm:pt>
    <dgm:pt modelId="{CD0A4450-41F5-406B-9558-E26748D42B2F}" type="parTrans" cxnId="{1778A710-70CF-47CB-B733-76E51BB570B2}">
      <dgm:prSet/>
      <dgm:spPr/>
      <dgm:t>
        <a:bodyPr/>
        <a:lstStyle/>
        <a:p>
          <a:endParaRPr lang="en-US"/>
        </a:p>
      </dgm:t>
    </dgm:pt>
    <dgm:pt modelId="{81EEFB2A-2CC6-436A-A284-08AB0288D046}" type="sibTrans" cxnId="{1778A710-70CF-47CB-B733-76E51BB570B2}">
      <dgm:prSet/>
      <dgm:spPr/>
      <dgm:t>
        <a:bodyPr/>
        <a:lstStyle/>
        <a:p>
          <a:endParaRPr lang="en-US"/>
        </a:p>
      </dgm:t>
    </dgm:pt>
    <dgm:pt modelId="{CDBAD5FC-8D79-4869-9D29-9A5908DCD567}">
      <dgm:prSet/>
      <dgm:spPr/>
      <dgm:t>
        <a:bodyPr/>
        <a:lstStyle/>
        <a:p>
          <a:r>
            <a:rPr lang="tr-TR" dirty="0"/>
            <a:t>Action: </a:t>
          </a:r>
          <a:r>
            <a:rPr lang="en-US" dirty="0"/>
            <a:t>Open </a:t>
          </a:r>
          <a:r>
            <a:rPr lang="en-US" b="1" dirty="0"/>
            <a:t>Activities Overview</a:t>
          </a:r>
          <a:r>
            <a:rPr lang="en-US" dirty="0"/>
            <a:t> → Click the </a:t>
          </a:r>
          <a:r>
            <a:rPr lang="en-US" b="1" dirty="0"/>
            <a:t>Terminal</a:t>
          </a:r>
          <a:r>
            <a:rPr lang="en-US" dirty="0"/>
            <a:t> icon in the dash (or locate it via </a:t>
          </a:r>
          <a:r>
            <a:rPr lang="en-US" b="1" dirty="0"/>
            <a:t>Show Applications</a:t>
          </a:r>
          <a:r>
            <a:rPr lang="en-US" dirty="0"/>
            <a:t>). </a:t>
          </a:r>
        </a:p>
      </dgm:t>
    </dgm:pt>
    <dgm:pt modelId="{ADF03433-6F09-431C-9C70-CC3F8D72DBED}" type="parTrans" cxnId="{438CFC4D-C9CC-42DF-ABA7-DBD34B7EC87F}">
      <dgm:prSet/>
      <dgm:spPr/>
      <dgm:t>
        <a:bodyPr/>
        <a:lstStyle/>
        <a:p>
          <a:endParaRPr lang="en-US"/>
        </a:p>
      </dgm:t>
    </dgm:pt>
    <dgm:pt modelId="{6BC1AEC5-7D98-4AF6-AF40-2478F91AA23F}" type="sibTrans" cxnId="{438CFC4D-C9CC-42DF-ABA7-DBD34B7EC87F}">
      <dgm:prSet/>
      <dgm:spPr/>
      <dgm:t>
        <a:bodyPr/>
        <a:lstStyle/>
        <a:p>
          <a:endParaRPr lang="en-US"/>
        </a:p>
      </dgm:t>
    </dgm:pt>
    <dgm:pt modelId="{B21761DB-E025-45F0-9D7D-8B432BB6EE5C}" type="pres">
      <dgm:prSet presAssocID="{FA3B94D0-9C13-498D-8E20-E907B1E77A17}" presName="linearFlow" presStyleCnt="0">
        <dgm:presLayoutVars>
          <dgm:resizeHandles val="exact"/>
        </dgm:presLayoutVars>
      </dgm:prSet>
      <dgm:spPr/>
    </dgm:pt>
    <dgm:pt modelId="{84A24C0A-EA80-4719-98F0-C66F8420C718}" type="pres">
      <dgm:prSet presAssocID="{A2594414-887E-412B-83DD-F2B6877DA63A}" presName="node" presStyleLbl="node1" presStyleIdx="0" presStyleCnt="2">
        <dgm:presLayoutVars>
          <dgm:bulletEnabled val="1"/>
        </dgm:presLayoutVars>
      </dgm:prSet>
      <dgm:spPr/>
    </dgm:pt>
    <dgm:pt modelId="{0AB7D31B-B80F-4950-9BA6-91C438617764}" type="pres">
      <dgm:prSet presAssocID="{81EEFB2A-2CC6-436A-A284-08AB0288D046}" presName="sibTrans" presStyleLbl="sibTrans2D1" presStyleIdx="0" presStyleCnt="1"/>
      <dgm:spPr/>
    </dgm:pt>
    <dgm:pt modelId="{2D256528-1CF2-4803-9FB0-0E7AE22AA18B}" type="pres">
      <dgm:prSet presAssocID="{81EEFB2A-2CC6-436A-A284-08AB0288D046}" presName="connectorText" presStyleLbl="sibTrans2D1" presStyleIdx="0" presStyleCnt="1"/>
      <dgm:spPr/>
    </dgm:pt>
    <dgm:pt modelId="{029A9902-D2D1-417C-A758-CA702E4DAD54}" type="pres">
      <dgm:prSet presAssocID="{CDBAD5FC-8D79-4869-9D29-9A5908DCD567}" presName="node" presStyleLbl="node1" presStyleIdx="1" presStyleCnt="2">
        <dgm:presLayoutVars>
          <dgm:bulletEnabled val="1"/>
        </dgm:presLayoutVars>
      </dgm:prSet>
      <dgm:spPr/>
    </dgm:pt>
  </dgm:ptLst>
  <dgm:cxnLst>
    <dgm:cxn modelId="{1778A710-70CF-47CB-B733-76E51BB570B2}" srcId="{FA3B94D0-9C13-498D-8E20-E907B1E77A17}" destId="{A2594414-887E-412B-83DD-F2B6877DA63A}" srcOrd="0" destOrd="0" parTransId="{CD0A4450-41F5-406B-9558-E26748D42B2F}" sibTransId="{81EEFB2A-2CC6-436A-A284-08AB0288D046}"/>
    <dgm:cxn modelId="{438CFC4D-C9CC-42DF-ABA7-DBD34B7EC87F}" srcId="{FA3B94D0-9C13-498D-8E20-E907B1E77A17}" destId="{CDBAD5FC-8D79-4869-9D29-9A5908DCD567}" srcOrd="1" destOrd="0" parTransId="{ADF03433-6F09-431C-9C70-CC3F8D72DBED}" sibTransId="{6BC1AEC5-7D98-4AF6-AF40-2478F91AA23F}"/>
    <dgm:cxn modelId="{F8825280-01D3-4257-B820-4381A7A6017A}" type="presOf" srcId="{81EEFB2A-2CC6-436A-A284-08AB0288D046}" destId="{2D256528-1CF2-4803-9FB0-0E7AE22AA18B}" srcOrd="1" destOrd="0" presId="urn:microsoft.com/office/officeart/2005/8/layout/process2"/>
    <dgm:cxn modelId="{090BF68F-DAD8-43D9-9425-2915EC65BF44}" type="presOf" srcId="{A2594414-887E-412B-83DD-F2B6877DA63A}" destId="{84A24C0A-EA80-4719-98F0-C66F8420C718}" srcOrd="0" destOrd="0" presId="urn:microsoft.com/office/officeart/2005/8/layout/process2"/>
    <dgm:cxn modelId="{588A67B8-FB91-4AAD-B3AB-453486DB3B58}" type="presOf" srcId="{81EEFB2A-2CC6-436A-A284-08AB0288D046}" destId="{0AB7D31B-B80F-4950-9BA6-91C438617764}" srcOrd="0" destOrd="0" presId="urn:microsoft.com/office/officeart/2005/8/layout/process2"/>
    <dgm:cxn modelId="{A336BED5-3510-4C2D-B7AE-7A1D7DFD6EDE}" type="presOf" srcId="{FA3B94D0-9C13-498D-8E20-E907B1E77A17}" destId="{B21761DB-E025-45F0-9D7D-8B432BB6EE5C}" srcOrd="0" destOrd="0" presId="urn:microsoft.com/office/officeart/2005/8/layout/process2"/>
    <dgm:cxn modelId="{1EABFCF6-FB62-4DC0-807E-55B722CB469B}" type="presOf" srcId="{CDBAD5FC-8D79-4869-9D29-9A5908DCD567}" destId="{029A9902-D2D1-417C-A758-CA702E4DAD54}" srcOrd="0" destOrd="0" presId="urn:microsoft.com/office/officeart/2005/8/layout/process2"/>
    <dgm:cxn modelId="{AF398BC6-374A-40F9-A69E-1B599DB295D4}" type="presParOf" srcId="{B21761DB-E025-45F0-9D7D-8B432BB6EE5C}" destId="{84A24C0A-EA80-4719-98F0-C66F8420C718}" srcOrd="0" destOrd="0" presId="urn:microsoft.com/office/officeart/2005/8/layout/process2"/>
    <dgm:cxn modelId="{D2865C93-E88C-4223-9908-66AD47FDDE73}" type="presParOf" srcId="{B21761DB-E025-45F0-9D7D-8B432BB6EE5C}" destId="{0AB7D31B-B80F-4950-9BA6-91C438617764}" srcOrd="1" destOrd="0" presId="urn:microsoft.com/office/officeart/2005/8/layout/process2"/>
    <dgm:cxn modelId="{133068EA-5E00-41BC-9971-80ABDFB9BD56}" type="presParOf" srcId="{0AB7D31B-B80F-4950-9BA6-91C438617764}" destId="{2D256528-1CF2-4803-9FB0-0E7AE22AA18B}" srcOrd="0" destOrd="0" presId="urn:microsoft.com/office/officeart/2005/8/layout/process2"/>
    <dgm:cxn modelId="{335628CE-BE92-48F5-B14D-F3B27F6D093B}" type="presParOf" srcId="{B21761DB-E025-45F0-9D7D-8B432BB6EE5C}" destId="{029A9902-D2D1-417C-A758-CA702E4DAD54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E6CC545-4897-4372-9328-A74D0B534235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28A5A0-2D6C-4F7E-B1BF-32F769262C99}">
      <dgm:prSet/>
      <dgm:spPr/>
      <dgm:t>
        <a:bodyPr/>
        <a:lstStyle/>
        <a:p>
          <a:r>
            <a:rPr lang="en-US" b="1"/>
            <a:t>Role:</a:t>
          </a:r>
          <a:r>
            <a:rPr lang="en-US"/>
            <a:t> GNU Bash interprets user-typed commands (names of installed programs).</a:t>
          </a:r>
        </a:p>
      </dgm:t>
    </dgm:pt>
    <dgm:pt modelId="{0A73D179-A2C3-4AE3-A65B-73950065383E}" type="parTrans" cxnId="{76C09C05-FF5F-4204-8AD8-A57AE38E7AB7}">
      <dgm:prSet/>
      <dgm:spPr/>
      <dgm:t>
        <a:bodyPr/>
        <a:lstStyle/>
        <a:p>
          <a:endParaRPr lang="en-US"/>
        </a:p>
      </dgm:t>
    </dgm:pt>
    <dgm:pt modelId="{F5A3BD5C-A568-41A7-8CE4-1542BD8FEEE2}" type="sibTrans" cxnId="{76C09C05-FF5F-4204-8AD8-A57AE38E7AB7}">
      <dgm:prSet/>
      <dgm:spPr/>
      <dgm:t>
        <a:bodyPr/>
        <a:lstStyle/>
        <a:p>
          <a:endParaRPr lang="en-US"/>
        </a:p>
      </dgm:t>
    </dgm:pt>
    <dgm:pt modelId="{F4B051FC-478F-45CB-A52F-1752A261F891}">
      <dgm:prSet/>
      <dgm:spPr/>
      <dgm:t>
        <a:bodyPr/>
        <a:lstStyle/>
        <a:p>
          <a:r>
            <a:rPr lang="en-US" b="1"/>
            <a:t>3 Core Components:</a:t>
          </a:r>
          <a:endParaRPr lang="en-US"/>
        </a:p>
      </dgm:t>
    </dgm:pt>
    <dgm:pt modelId="{E4B31AB2-8F27-4BEF-99A9-BE97A48F5D09}" type="parTrans" cxnId="{968C4D7B-5D1F-4DA8-A6AC-897D45A6F0F3}">
      <dgm:prSet/>
      <dgm:spPr/>
      <dgm:t>
        <a:bodyPr/>
        <a:lstStyle/>
        <a:p>
          <a:endParaRPr lang="en-US"/>
        </a:p>
      </dgm:t>
    </dgm:pt>
    <dgm:pt modelId="{869DD551-1A86-4722-B581-6558920464B7}" type="sibTrans" cxnId="{968C4D7B-5D1F-4DA8-A6AC-897D45A6F0F3}">
      <dgm:prSet/>
      <dgm:spPr/>
      <dgm:t>
        <a:bodyPr/>
        <a:lstStyle/>
        <a:p>
          <a:endParaRPr lang="en-US"/>
        </a:p>
      </dgm:t>
    </dgm:pt>
    <dgm:pt modelId="{44FEC8C9-C885-4648-BA74-9455A563B847}">
      <dgm:prSet/>
      <dgm:spPr/>
      <dgm:t>
        <a:bodyPr/>
        <a:lstStyle/>
        <a:p>
          <a:r>
            <a:rPr lang="en-US" b="1"/>
            <a:t>Command:</a:t>
          </a:r>
          <a:r>
            <a:rPr lang="en-US"/>
            <a:t> The executable program name.</a:t>
          </a:r>
        </a:p>
      </dgm:t>
    </dgm:pt>
    <dgm:pt modelId="{4C3A9BCA-1ACF-4AED-88B0-AAB5EEA65052}" type="parTrans" cxnId="{AAE6927D-841A-49F6-9990-09758991B824}">
      <dgm:prSet/>
      <dgm:spPr/>
      <dgm:t>
        <a:bodyPr/>
        <a:lstStyle/>
        <a:p>
          <a:endParaRPr lang="en-US"/>
        </a:p>
      </dgm:t>
    </dgm:pt>
    <dgm:pt modelId="{5E034A1B-BF60-4E30-AB13-9AAA3A8C6BFF}" type="sibTrans" cxnId="{AAE6927D-841A-49F6-9990-09758991B824}">
      <dgm:prSet/>
      <dgm:spPr/>
      <dgm:t>
        <a:bodyPr/>
        <a:lstStyle/>
        <a:p>
          <a:endParaRPr lang="en-US"/>
        </a:p>
      </dgm:t>
    </dgm:pt>
    <dgm:pt modelId="{73D28C35-A568-4241-A3CF-A63CC81C4F28}">
      <dgm:prSet/>
      <dgm:spPr/>
      <dgm:t>
        <a:bodyPr/>
        <a:lstStyle/>
        <a:p>
          <a:r>
            <a:rPr lang="en-US" b="1"/>
            <a:t>Options:</a:t>
          </a:r>
          <a:r>
            <a:rPr lang="en-US"/>
            <a:t> Modify behavior; usually start with - (short) or -- (long).</a:t>
          </a:r>
        </a:p>
      </dgm:t>
    </dgm:pt>
    <dgm:pt modelId="{F664002E-56A5-4212-9649-E95A723DC7CD}" type="parTrans" cxnId="{0E58F196-8B71-4544-9EA1-364876F752EF}">
      <dgm:prSet/>
      <dgm:spPr/>
      <dgm:t>
        <a:bodyPr/>
        <a:lstStyle/>
        <a:p>
          <a:endParaRPr lang="en-US"/>
        </a:p>
      </dgm:t>
    </dgm:pt>
    <dgm:pt modelId="{B832AC89-B63F-4551-9920-E857C6D90BBD}" type="sibTrans" cxnId="{0E58F196-8B71-4544-9EA1-364876F752EF}">
      <dgm:prSet/>
      <dgm:spPr/>
      <dgm:t>
        <a:bodyPr/>
        <a:lstStyle/>
        <a:p>
          <a:endParaRPr lang="en-US"/>
        </a:p>
      </dgm:t>
    </dgm:pt>
    <dgm:pt modelId="{2C74AD60-1F55-4611-893D-A9C8FD2F6140}">
      <dgm:prSet/>
      <dgm:spPr/>
      <dgm:t>
        <a:bodyPr/>
        <a:lstStyle/>
        <a:p>
          <a:r>
            <a:rPr lang="en-US" b="1"/>
            <a:t>Arguments:</a:t>
          </a:r>
          <a:r>
            <a:rPr lang="en-US"/>
            <a:t> The operational targets of the command.</a:t>
          </a:r>
        </a:p>
      </dgm:t>
    </dgm:pt>
    <dgm:pt modelId="{B04EF8E3-6982-4D40-8882-E4E9776B56A0}" type="parTrans" cxnId="{EABD331E-5AA9-48A5-B687-00A2D8AA1204}">
      <dgm:prSet/>
      <dgm:spPr/>
      <dgm:t>
        <a:bodyPr/>
        <a:lstStyle/>
        <a:p>
          <a:endParaRPr lang="en-US"/>
        </a:p>
      </dgm:t>
    </dgm:pt>
    <dgm:pt modelId="{C6E2DD68-8CDA-4F0C-B04C-A89C4D05CBD6}" type="sibTrans" cxnId="{EABD331E-5AA9-48A5-B687-00A2D8AA1204}">
      <dgm:prSet/>
      <dgm:spPr/>
      <dgm:t>
        <a:bodyPr/>
        <a:lstStyle/>
        <a:p>
          <a:endParaRPr lang="en-US"/>
        </a:p>
      </dgm:t>
    </dgm:pt>
    <dgm:pt modelId="{D093AB08-0B7B-4EAA-A91C-A7961FF2C8E5}">
      <dgm:prSet/>
      <dgm:spPr/>
      <dgm:t>
        <a:bodyPr/>
        <a:lstStyle/>
        <a:p>
          <a:r>
            <a:rPr lang="en-US" b="1"/>
            <a:t>Formatting:</a:t>
          </a:r>
          <a:r>
            <a:rPr lang="en-US"/>
            <a:t> Words must be separated by spaces; commands are typed on separate lines and run by pressing </a:t>
          </a:r>
          <a:r>
            <a:rPr lang="en-US" b="1"/>
            <a:t>Enter</a:t>
          </a:r>
          <a:r>
            <a:rPr lang="en-US"/>
            <a:t>.</a:t>
          </a:r>
        </a:p>
      </dgm:t>
    </dgm:pt>
    <dgm:pt modelId="{CD189793-DCFC-49E7-A581-500EDD34F983}" type="parTrans" cxnId="{0F1C51E4-911F-4AF3-B223-5293C91B29D3}">
      <dgm:prSet/>
      <dgm:spPr/>
      <dgm:t>
        <a:bodyPr/>
        <a:lstStyle/>
        <a:p>
          <a:endParaRPr lang="en-US"/>
        </a:p>
      </dgm:t>
    </dgm:pt>
    <dgm:pt modelId="{F9AB2A34-CEC5-4753-B529-7037EB6F87B8}" type="sibTrans" cxnId="{0F1C51E4-911F-4AF3-B223-5293C91B29D3}">
      <dgm:prSet/>
      <dgm:spPr/>
      <dgm:t>
        <a:bodyPr/>
        <a:lstStyle/>
        <a:p>
          <a:endParaRPr lang="en-US"/>
        </a:p>
      </dgm:t>
    </dgm:pt>
    <dgm:pt modelId="{8ED3FDF2-4962-458A-97E7-568F1C094DE9}" type="pres">
      <dgm:prSet presAssocID="{7E6CC545-4897-4372-9328-A74D0B534235}" presName="Name0" presStyleCnt="0">
        <dgm:presLayoutVars>
          <dgm:dir/>
          <dgm:animLvl val="lvl"/>
          <dgm:resizeHandles val="exact"/>
        </dgm:presLayoutVars>
      </dgm:prSet>
      <dgm:spPr/>
    </dgm:pt>
    <dgm:pt modelId="{0E3F8049-6A19-40B2-ABF9-DDFB8F867CCF}" type="pres">
      <dgm:prSet presAssocID="{D093AB08-0B7B-4EAA-A91C-A7961FF2C8E5}" presName="boxAndChildren" presStyleCnt="0"/>
      <dgm:spPr/>
    </dgm:pt>
    <dgm:pt modelId="{52001D87-AD7D-4A9E-8097-71AC3B97F292}" type="pres">
      <dgm:prSet presAssocID="{D093AB08-0B7B-4EAA-A91C-A7961FF2C8E5}" presName="parentTextBox" presStyleLbl="node1" presStyleIdx="0" presStyleCnt="3"/>
      <dgm:spPr/>
    </dgm:pt>
    <dgm:pt modelId="{67FC4B24-5386-45DB-A300-EC76FA5F9772}" type="pres">
      <dgm:prSet presAssocID="{869DD551-1A86-4722-B581-6558920464B7}" presName="sp" presStyleCnt="0"/>
      <dgm:spPr/>
    </dgm:pt>
    <dgm:pt modelId="{5E03E051-6423-4ED2-810F-4F44847CA969}" type="pres">
      <dgm:prSet presAssocID="{F4B051FC-478F-45CB-A52F-1752A261F891}" presName="arrowAndChildren" presStyleCnt="0"/>
      <dgm:spPr/>
    </dgm:pt>
    <dgm:pt modelId="{4B31DE2E-6C36-4566-A03A-1A37A62FDD3F}" type="pres">
      <dgm:prSet presAssocID="{F4B051FC-478F-45CB-A52F-1752A261F891}" presName="parentTextArrow" presStyleLbl="node1" presStyleIdx="0" presStyleCnt="3"/>
      <dgm:spPr/>
    </dgm:pt>
    <dgm:pt modelId="{C000A20B-C27F-4FE9-81AE-D734E1E1111B}" type="pres">
      <dgm:prSet presAssocID="{F4B051FC-478F-45CB-A52F-1752A261F891}" presName="arrow" presStyleLbl="node1" presStyleIdx="1" presStyleCnt="3"/>
      <dgm:spPr/>
    </dgm:pt>
    <dgm:pt modelId="{2ACA7EEE-33CC-4079-86FC-89542020A4F5}" type="pres">
      <dgm:prSet presAssocID="{F4B051FC-478F-45CB-A52F-1752A261F891}" presName="descendantArrow" presStyleCnt="0"/>
      <dgm:spPr/>
    </dgm:pt>
    <dgm:pt modelId="{19C5D2CC-A333-4029-B7DA-FA9ECEF2F675}" type="pres">
      <dgm:prSet presAssocID="{44FEC8C9-C885-4648-BA74-9455A563B847}" presName="childTextArrow" presStyleLbl="fgAccFollowNode1" presStyleIdx="0" presStyleCnt="3">
        <dgm:presLayoutVars>
          <dgm:bulletEnabled val="1"/>
        </dgm:presLayoutVars>
      </dgm:prSet>
      <dgm:spPr/>
    </dgm:pt>
    <dgm:pt modelId="{1818217B-FF68-4E6E-95C1-9FF9281E89A0}" type="pres">
      <dgm:prSet presAssocID="{73D28C35-A568-4241-A3CF-A63CC81C4F28}" presName="childTextArrow" presStyleLbl="fgAccFollowNode1" presStyleIdx="1" presStyleCnt="3">
        <dgm:presLayoutVars>
          <dgm:bulletEnabled val="1"/>
        </dgm:presLayoutVars>
      </dgm:prSet>
      <dgm:spPr/>
    </dgm:pt>
    <dgm:pt modelId="{53B364A3-799A-4BE5-B3F8-0CA3DFBA02DB}" type="pres">
      <dgm:prSet presAssocID="{2C74AD60-1F55-4611-893D-A9C8FD2F6140}" presName="childTextArrow" presStyleLbl="fgAccFollowNode1" presStyleIdx="2" presStyleCnt="3">
        <dgm:presLayoutVars>
          <dgm:bulletEnabled val="1"/>
        </dgm:presLayoutVars>
      </dgm:prSet>
      <dgm:spPr/>
    </dgm:pt>
    <dgm:pt modelId="{67CFCECB-E9E3-424E-94BF-855059E223AC}" type="pres">
      <dgm:prSet presAssocID="{F5A3BD5C-A568-41A7-8CE4-1542BD8FEEE2}" presName="sp" presStyleCnt="0"/>
      <dgm:spPr/>
    </dgm:pt>
    <dgm:pt modelId="{9785A2DD-DDE8-4453-B6CF-C6720668B7ED}" type="pres">
      <dgm:prSet presAssocID="{7828A5A0-2D6C-4F7E-B1BF-32F769262C99}" presName="arrowAndChildren" presStyleCnt="0"/>
      <dgm:spPr/>
    </dgm:pt>
    <dgm:pt modelId="{721BF5D8-327C-4B0C-BAEB-A6FDACDB32CD}" type="pres">
      <dgm:prSet presAssocID="{7828A5A0-2D6C-4F7E-B1BF-32F769262C99}" presName="parentTextArrow" presStyleLbl="node1" presStyleIdx="2" presStyleCnt="3"/>
      <dgm:spPr/>
    </dgm:pt>
  </dgm:ptLst>
  <dgm:cxnLst>
    <dgm:cxn modelId="{76C09C05-FF5F-4204-8AD8-A57AE38E7AB7}" srcId="{7E6CC545-4897-4372-9328-A74D0B534235}" destId="{7828A5A0-2D6C-4F7E-B1BF-32F769262C99}" srcOrd="0" destOrd="0" parTransId="{0A73D179-A2C3-4AE3-A65B-73950065383E}" sibTransId="{F5A3BD5C-A568-41A7-8CE4-1542BD8FEEE2}"/>
    <dgm:cxn modelId="{EABD331E-5AA9-48A5-B687-00A2D8AA1204}" srcId="{F4B051FC-478F-45CB-A52F-1752A261F891}" destId="{2C74AD60-1F55-4611-893D-A9C8FD2F6140}" srcOrd="2" destOrd="0" parTransId="{B04EF8E3-6982-4D40-8882-E4E9776B56A0}" sibTransId="{C6E2DD68-8CDA-4F0C-B04C-A89C4D05CBD6}"/>
    <dgm:cxn modelId="{0998A131-00A5-4211-BCD9-B02F615145D2}" type="presOf" srcId="{F4B051FC-478F-45CB-A52F-1752A261F891}" destId="{4B31DE2E-6C36-4566-A03A-1A37A62FDD3F}" srcOrd="0" destOrd="0" presId="urn:microsoft.com/office/officeart/2005/8/layout/process4"/>
    <dgm:cxn modelId="{4EC94A6B-FC03-474A-A604-2D9D4AC04D18}" type="presOf" srcId="{73D28C35-A568-4241-A3CF-A63CC81C4F28}" destId="{1818217B-FF68-4E6E-95C1-9FF9281E89A0}" srcOrd="0" destOrd="0" presId="urn:microsoft.com/office/officeart/2005/8/layout/process4"/>
    <dgm:cxn modelId="{968C4D7B-5D1F-4DA8-A6AC-897D45A6F0F3}" srcId="{7E6CC545-4897-4372-9328-A74D0B534235}" destId="{F4B051FC-478F-45CB-A52F-1752A261F891}" srcOrd="1" destOrd="0" parTransId="{E4B31AB2-8F27-4BEF-99A9-BE97A48F5D09}" sibTransId="{869DD551-1A86-4722-B581-6558920464B7}"/>
    <dgm:cxn modelId="{AAE6927D-841A-49F6-9990-09758991B824}" srcId="{F4B051FC-478F-45CB-A52F-1752A261F891}" destId="{44FEC8C9-C885-4648-BA74-9455A563B847}" srcOrd="0" destOrd="0" parTransId="{4C3A9BCA-1ACF-4AED-88B0-AAB5EEA65052}" sibTransId="{5E034A1B-BF60-4E30-AB13-9AAA3A8C6BFF}"/>
    <dgm:cxn modelId="{7BE24888-B538-4790-B3E6-136AC9280117}" type="presOf" srcId="{2C74AD60-1F55-4611-893D-A9C8FD2F6140}" destId="{53B364A3-799A-4BE5-B3F8-0CA3DFBA02DB}" srcOrd="0" destOrd="0" presId="urn:microsoft.com/office/officeart/2005/8/layout/process4"/>
    <dgm:cxn modelId="{516AD28F-AF5C-438A-9AE1-7F43A5931C5B}" type="presOf" srcId="{7828A5A0-2D6C-4F7E-B1BF-32F769262C99}" destId="{721BF5D8-327C-4B0C-BAEB-A6FDACDB32CD}" srcOrd="0" destOrd="0" presId="urn:microsoft.com/office/officeart/2005/8/layout/process4"/>
    <dgm:cxn modelId="{0E58F196-8B71-4544-9EA1-364876F752EF}" srcId="{F4B051FC-478F-45CB-A52F-1752A261F891}" destId="{73D28C35-A568-4241-A3CF-A63CC81C4F28}" srcOrd="1" destOrd="0" parTransId="{F664002E-56A5-4212-9649-E95A723DC7CD}" sibTransId="{B832AC89-B63F-4551-9920-E857C6D90BBD}"/>
    <dgm:cxn modelId="{CD8F18B1-EE63-43D6-89BD-3AA387039FF2}" type="presOf" srcId="{44FEC8C9-C885-4648-BA74-9455A563B847}" destId="{19C5D2CC-A333-4029-B7DA-FA9ECEF2F675}" srcOrd="0" destOrd="0" presId="urn:microsoft.com/office/officeart/2005/8/layout/process4"/>
    <dgm:cxn modelId="{F0D88CCE-01B1-4669-B677-8B9A0AEC7C95}" type="presOf" srcId="{F4B051FC-478F-45CB-A52F-1752A261F891}" destId="{C000A20B-C27F-4FE9-81AE-D734E1E1111B}" srcOrd="1" destOrd="0" presId="urn:microsoft.com/office/officeart/2005/8/layout/process4"/>
    <dgm:cxn modelId="{D2AC51E0-F412-44B6-B0C2-B4E4DC9FAEB3}" type="presOf" srcId="{D093AB08-0B7B-4EAA-A91C-A7961FF2C8E5}" destId="{52001D87-AD7D-4A9E-8097-71AC3B97F292}" srcOrd="0" destOrd="0" presId="urn:microsoft.com/office/officeart/2005/8/layout/process4"/>
    <dgm:cxn modelId="{0F1C51E4-911F-4AF3-B223-5293C91B29D3}" srcId="{7E6CC545-4897-4372-9328-A74D0B534235}" destId="{D093AB08-0B7B-4EAA-A91C-A7961FF2C8E5}" srcOrd="2" destOrd="0" parTransId="{CD189793-DCFC-49E7-A581-500EDD34F983}" sibTransId="{F9AB2A34-CEC5-4753-B529-7037EB6F87B8}"/>
    <dgm:cxn modelId="{F2F75AFF-316A-45A8-8E06-FA552F97F0B2}" type="presOf" srcId="{7E6CC545-4897-4372-9328-A74D0B534235}" destId="{8ED3FDF2-4962-458A-97E7-568F1C094DE9}" srcOrd="0" destOrd="0" presId="urn:microsoft.com/office/officeart/2005/8/layout/process4"/>
    <dgm:cxn modelId="{AE4ED7BD-8786-44FB-992B-01CBBFDB7A5B}" type="presParOf" srcId="{8ED3FDF2-4962-458A-97E7-568F1C094DE9}" destId="{0E3F8049-6A19-40B2-ABF9-DDFB8F867CCF}" srcOrd="0" destOrd="0" presId="urn:microsoft.com/office/officeart/2005/8/layout/process4"/>
    <dgm:cxn modelId="{FB828A06-B50A-4B6F-A05A-FD3B5F66D2B8}" type="presParOf" srcId="{0E3F8049-6A19-40B2-ABF9-DDFB8F867CCF}" destId="{52001D87-AD7D-4A9E-8097-71AC3B97F292}" srcOrd="0" destOrd="0" presId="urn:microsoft.com/office/officeart/2005/8/layout/process4"/>
    <dgm:cxn modelId="{276AB3AA-EF47-4208-B77B-67342DBF0528}" type="presParOf" srcId="{8ED3FDF2-4962-458A-97E7-568F1C094DE9}" destId="{67FC4B24-5386-45DB-A300-EC76FA5F9772}" srcOrd="1" destOrd="0" presId="urn:microsoft.com/office/officeart/2005/8/layout/process4"/>
    <dgm:cxn modelId="{A42BA0B9-FFF9-4228-9720-CA03459A88CE}" type="presParOf" srcId="{8ED3FDF2-4962-458A-97E7-568F1C094DE9}" destId="{5E03E051-6423-4ED2-810F-4F44847CA969}" srcOrd="2" destOrd="0" presId="urn:microsoft.com/office/officeart/2005/8/layout/process4"/>
    <dgm:cxn modelId="{09C89847-CB04-4821-8823-3D6000C5CA4C}" type="presParOf" srcId="{5E03E051-6423-4ED2-810F-4F44847CA969}" destId="{4B31DE2E-6C36-4566-A03A-1A37A62FDD3F}" srcOrd="0" destOrd="0" presId="urn:microsoft.com/office/officeart/2005/8/layout/process4"/>
    <dgm:cxn modelId="{6E1A4BA3-F5D9-4C53-8EFA-BA3C40B138DC}" type="presParOf" srcId="{5E03E051-6423-4ED2-810F-4F44847CA969}" destId="{C000A20B-C27F-4FE9-81AE-D734E1E1111B}" srcOrd="1" destOrd="0" presId="urn:microsoft.com/office/officeart/2005/8/layout/process4"/>
    <dgm:cxn modelId="{166450F2-0F38-4900-BBB7-45720D198EB2}" type="presParOf" srcId="{5E03E051-6423-4ED2-810F-4F44847CA969}" destId="{2ACA7EEE-33CC-4079-86FC-89542020A4F5}" srcOrd="2" destOrd="0" presId="urn:microsoft.com/office/officeart/2005/8/layout/process4"/>
    <dgm:cxn modelId="{673FEB18-11C1-4B23-8C71-873EF3B3C432}" type="presParOf" srcId="{2ACA7EEE-33CC-4079-86FC-89542020A4F5}" destId="{19C5D2CC-A333-4029-B7DA-FA9ECEF2F675}" srcOrd="0" destOrd="0" presId="urn:microsoft.com/office/officeart/2005/8/layout/process4"/>
    <dgm:cxn modelId="{1BA740C5-1899-4365-8FA9-8B42318CD00F}" type="presParOf" srcId="{2ACA7EEE-33CC-4079-86FC-89542020A4F5}" destId="{1818217B-FF68-4E6E-95C1-9FF9281E89A0}" srcOrd="1" destOrd="0" presId="urn:microsoft.com/office/officeart/2005/8/layout/process4"/>
    <dgm:cxn modelId="{D6389394-44E7-4B26-8C51-F8796BDB87F2}" type="presParOf" srcId="{2ACA7EEE-33CC-4079-86FC-89542020A4F5}" destId="{53B364A3-799A-4BE5-B3F8-0CA3DFBA02DB}" srcOrd="2" destOrd="0" presId="urn:microsoft.com/office/officeart/2005/8/layout/process4"/>
    <dgm:cxn modelId="{931EEA84-CB76-4C23-B3D3-BDDDE0E4937E}" type="presParOf" srcId="{8ED3FDF2-4962-458A-97E7-568F1C094DE9}" destId="{67CFCECB-E9E3-424E-94BF-855059E223AC}" srcOrd="3" destOrd="0" presId="urn:microsoft.com/office/officeart/2005/8/layout/process4"/>
    <dgm:cxn modelId="{E296337F-10F2-400A-B4F0-4AC418B61F0B}" type="presParOf" srcId="{8ED3FDF2-4962-458A-97E7-568F1C094DE9}" destId="{9785A2DD-DDE8-4453-B6CF-C6720668B7ED}" srcOrd="4" destOrd="0" presId="urn:microsoft.com/office/officeart/2005/8/layout/process4"/>
    <dgm:cxn modelId="{57AC391A-D3BB-4D5E-A435-567C86FAE5A7}" type="presParOf" srcId="{9785A2DD-DDE8-4453-B6CF-C6720668B7ED}" destId="{721BF5D8-327C-4B0C-BAEB-A6FDACDB32C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DF514-AD40-41C4-B571-A27FD8BB3C67}">
      <dsp:nvSpPr>
        <dsp:cNvPr id="0" name=""/>
        <dsp:cNvSpPr/>
      </dsp:nvSpPr>
      <dsp:spPr>
        <a:xfrm>
          <a:off x="0" y="1029258"/>
          <a:ext cx="5097780" cy="23793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What is Bash?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The Interface:</a:t>
          </a:r>
          <a:r>
            <a:rPr lang="en-US" sz="1400" kern="1200" dirty="0"/>
            <a:t> A powerful text-based command-line shell that translates user input into system actions.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The Standard:</a:t>
          </a:r>
          <a:r>
            <a:rPr lang="en-US" sz="1400" kern="1200" dirty="0"/>
            <a:t> Default shell for Red Hat Enterprise Linux (RHEL), built as an upgraded release of the classic UNIX Bourne shell (</a:t>
          </a:r>
          <a:r>
            <a:rPr lang="en-US" sz="1400" kern="1200" dirty="0" err="1"/>
            <a:t>sh</a:t>
          </a:r>
          <a:r>
            <a:rPr lang="en-US" sz="1400" kern="1200" dirty="0"/>
            <a:t>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Automation Core:</a:t>
          </a:r>
          <a:r>
            <a:rPr lang="en-US" sz="1400" kern="1200" dirty="0"/>
            <a:t> Goes far beyond basic command execution with a complete scripting language built for large-scale administrative workflows.</a:t>
          </a:r>
        </a:p>
      </dsp:txBody>
      <dsp:txXfrm>
        <a:off x="69689" y="1098947"/>
        <a:ext cx="4958402" cy="22399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5EE14D-C34C-475B-8D48-10858DD8DBB1}">
      <dsp:nvSpPr>
        <dsp:cNvPr id="0" name=""/>
        <dsp:cNvSpPr/>
      </dsp:nvSpPr>
      <dsp:spPr>
        <a:xfrm>
          <a:off x="112470" y="1829682"/>
          <a:ext cx="776873" cy="77687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C6ABC-DB62-44D1-95DF-3F8492AC71C2}">
      <dsp:nvSpPr>
        <dsp:cNvPr id="0" name=""/>
        <dsp:cNvSpPr/>
      </dsp:nvSpPr>
      <dsp:spPr>
        <a:xfrm>
          <a:off x="260550" y="1985549"/>
          <a:ext cx="450586" cy="450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A204F-0902-491F-87EF-692504CBA3EB}">
      <dsp:nvSpPr>
        <dsp:cNvPr id="0" name=""/>
        <dsp:cNvSpPr/>
      </dsp:nvSpPr>
      <dsp:spPr>
        <a:xfrm>
          <a:off x="1055816" y="1829682"/>
          <a:ext cx="1831201" cy="776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vs. Windows:</a:t>
          </a:r>
          <a:r>
            <a:rPr lang="en-US" sz="2000" kern="1200"/>
            <a:t> Significantly more powerful than legacy cmd.exe; matches modern PowerShell in automation capabilities.</a:t>
          </a:r>
        </a:p>
      </dsp:txBody>
      <dsp:txXfrm>
        <a:off x="1055816" y="1829682"/>
        <a:ext cx="1831201" cy="776873"/>
      </dsp:txXfrm>
    </dsp:sp>
    <dsp:sp modelId="{6ABCB7D7-2BC5-41BB-A279-EDB0D2151367}">
      <dsp:nvSpPr>
        <dsp:cNvPr id="0" name=""/>
        <dsp:cNvSpPr/>
      </dsp:nvSpPr>
      <dsp:spPr>
        <a:xfrm>
          <a:off x="3206091" y="1829682"/>
          <a:ext cx="776873" cy="77687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542A2-5790-407E-BF95-82274FB5BD94}">
      <dsp:nvSpPr>
        <dsp:cNvPr id="0" name=""/>
        <dsp:cNvSpPr/>
      </dsp:nvSpPr>
      <dsp:spPr>
        <a:xfrm>
          <a:off x="3369234" y="1992826"/>
          <a:ext cx="450586" cy="450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33EC2-43FB-441D-A5BF-02228CCDAA6B}">
      <dsp:nvSpPr>
        <dsp:cNvPr id="0" name=""/>
        <dsp:cNvSpPr/>
      </dsp:nvSpPr>
      <dsp:spPr>
        <a:xfrm>
          <a:off x="4149438" y="1829682"/>
          <a:ext cx="1831201" cy="776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vs. macOS:</a:t>
          </a:r>
          <a:r>
            <a:rPr lang="en-US" sz="2000" kern="1200"/>
            <a:t> Served as the default macOS shell until macOS 10.15 Catalina, which switched to zsh (also supported on RHEL).</a:t>
          </a:r>
        </a:p>
      </dsp:txBody>
      <dsp:txXfrm>
        <a:off x="4149438" y="1829682"/>
        <a:ext cx="1831201" cy="776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CE737-B565-4C00-9618-887B8221C6B2}">
      <dsp:nvSpPr>
        <dsp:cNvPr id="0" name=""/>
        <dsp:cNvSpPr/>
      </dsp:nvSpPr>
      <dsp:spPr>
        <a:xfrm>
          <a:off x="0" y="0"/>
          <a:ext cx="6584912" cy="388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Purpose:</a:t>
          </a:r>
          <a:r>
            <a:rPr lang="en-US" sz="1400" kern="1200"/>
            <a:t> Isolate distinct tasks (e.g., server maintenance on one workspace, communication/email on another).</a:t>
          </a:r>
        </a:p>
      </dsp:txBody>
      <dsp:txXfrm>
        <a:off x="18955" y="18955"/>
        <a:ext cx="6547002" cy="350383"/>
      </dsp:txXfrm>
    </dsp:sp>
    <dsp:sp modelId="{B73F6351-9A4A-4F59-9AEF-DB57435B0E15}">
      <dsp:nvSpPr>
        <dsp:cNvPr id="0" name=""/>
        <dsp:cNvSpPr/>
      </dsp:nvSpPr>
      <dsp:spPr>
        <a:xfrm>
          <a:off x="0" y="399054"/>
          <a:ext cx="6584912" cy="388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Switching Methods:</a:t>
          </a:r>
          <a:endParaRPr lang="en-US" sz="1400" kern="1200"/>
        </a:p>
      </dsp:txBody>
      <dsp:txXfrm>
        <a:off x="18955" y="418009"/>
        <a:ext cx="6547002" cy="350383"/>
      </dsp:txXfrm>
    </dsp:sp>
    <dsp:sp modelId="{FF0D0EE7-B006-478E-B611-CA86CAB46C5B}">
      <dsp:nvSpPr>
        <dsp:cNvPr id="0" name=""/>
        <dsp:cNvSpPr/>
      </dsp:nvSpPr>
      <dsp:spPr>
        <a:xfrm>
          <a:off x="0" y="797304"/>
          <a:ext cx="6584912" cy="388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Keyboard: </a:t>
          </a:r>
          <a:r>
            <a:rPr lang="en-US" sz="1400" b="1" kern="1200"/>
            <a:t>Ctrl + Alt + Left / Right Arrow</a:t>
          </a:r>
          <a:endParaRPr lang="en-US" sz="1400" kern="1200"/>
        </a:p>
      </dsp:txBody>
      <dsp:txXfrm>
        <a:off x="18955" y="816259"/>
        <a:ext cx="6547002" cy="350383"/>
      </dsp:txXfrm>
    </dsp:sp>
    <dsp:sp modelId="{DFBB914F-D5EE-46A3-8B2E-3900F219358C}">
      <dsp:nvSpPr>
        <dsp:cNvPr id="0" name=""/>
        <dsp:cNvSpPr/>
      </dsp:nvSpPr>
      <dsp:spPr>
        <a:xfrm>
          <a:off x="0" y="1195554"/>
          <a:ext cx="6584912" cy="388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Graphical: Open </a:t>
          </a:r>
          <a:r>
            <a:rPr lang="en-US" sz="1400" b="1" kern="1200" dirty="0"/>
            <a:t>Activities Overview</a:t>
          </a:r>
          <a:r>
            <a:rPr lang="en-US" sz="1400" kern="1200" dirty="0"/>
            <a:t> and select from the workspace selector, or drag-and-drop windows between workspaces. </a:t>
          </a:r>
        </a:p>
      </dsp:txBody>
      <dsp:txXfrm>
        <a:off x="18955" y="1214509"/>
        <a:ext cx="6547002" cy="350383"/>
      </dsp:txXfrm>
    </dsp:sp>
    <dsp:sp modelId="{15FE88E5-D646-468F-A080-8640D59E0EBC}">
      <dsp:nvSpPr>
        <dsp:cNvPr id="0" name=""/>
        <dsp:cNvSpPr/>
      </dsp:nvSpPr>
      <dsp:spPr>
        <a:xfrm>
          <a:off x="0" y="1593804"/>
          <a:ext cx="6584912" cy="388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Modes (System menu → Settings → Multitasking):</a:t>
          </a:r>
          <a:endParaRPr lang="en-US" sz="1400" kern="1200" dirty="0"/>
        </a:p>
      </dsp:txBody>
      <dsp:txXfrm>
        <a:off x="18955" y="1612759"/>
        <a:ext cx="6547002" cy="350383"/>
      </dsp:txXfrm>
    </dsp:sp>
    <dsp:sp modelId="{13235AC0-6BE3-4C2A-B998-2C2603AE11C5}">
      <dsp:nvSpPr>
        <dsp:cNvPr id="0" name=""/>
        <dsp:cNvSpPr/>
      </dsp:nvSpPr>
      <dsp:spPr>
        <a:xfrm>
          <a:off x="0" y="1992054"/>
          <a:ext cx="6584912" cy="388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Dynamic Workspaces (Default):</a:t>
          </a:r>
          <a:r>
            <a:rPr lang="en-US" sz="1400" kern="1200"/>
            <a:t> Automatically creates workspaces when windows are dragged; removes empty ones.</a:t>
          </a:r>
        </a:p>
      </dsp:txBody>
      <dsp:txXfrm>
        <a:off x="18955" y="2011009"/>
        <a:ext cx="6547002" cy="350383"/>
      </dsp:txXfrm>
    </dsp:sp>
    <dsp:sp modelId="{2C9E2CF5-9054-4406-BE0B-C5CAE851D8A2}">
      <dsp:nvSpPr>
        <dsp:cNvPr id="0" name=""/>
        <dsp:cNvSpPr/>
      </dsp:nvSpPr>
      <dsp:spPr>
        <a:xfrm>
          <a:off x="0" y="2390304"/>
          <a:ext cx="6584912" cy="388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Fixed Number of Workspaces:</a:t>
          </a:r>
          <a:r>
            <a:rPr lang="en-US" sz="1400" kern="1200"/>
            <a:t> Keeps a static workspace count regardless of activity.</a:t>
          </a:r>
        </a:p>
      </dsp:txBody>
      <dsp:txXfrm>
        <a:off x="18955" y="2409259"/>
        <a:ext cx="6547002" cy="3503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CF4C89-79F1-44D9-87C2-A079AB3D4E13}">
      <dsp:nvSpPr>
        <dsp:cNvPr id="0" name=""/>
        <dsp:cNvSpPr/>
      </dsp:nvSpPr>
      <dsp:spPr>
        <a:xfrm>
          <a:off x="115836" y="327"/>
          <a:ext cx="2002065" cy="10713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3. Run Dialog</a:t>
          </a:r>
          <a:endParaRPr lang="en-US" sz="1500" kern="1200" dirty="0"/>
        </a:p>
      </dsp:txBody>
      <dsp:txXfrm>
        <a:off x="147214" y="31705"/>
        <a:ext cx="1939309" cy="1008583"/>
      </dsp:txXfrm>
    </dsp:sp>
    <dsp:sp modelId="{145DA448-58E0-4DF9-8DB6-EF08B6358347}">
      <dsp:nvSpPr>
        <dsp:cNvPr id="0" name=""/>
        <dsp:cNvSpPr/>
      </dsp:nvSpPr>
      <dsp:spPr>
        <a:xfrm rot="5400000">
          <a:off x="915992" y="1098450"/>
          <a:ext cx="401752" cy="4821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972237" y="1138625"/>
        <a:ext cx="289262" cy="281226"/>
      </dsp:txXfrm>
    </dsp:sp>
    <dsp:sp modelId="{76DE8CF6-275A-460D-9BB2-563193E3DB42}">
      <dsp:nvSpPr>
        <dsp:cNvPr id="0" name=""/>
        <dsp:cNvSpPr/>
      </dsp:nvSpPr>
      <dsp:spPr>
        <a:xfrm>
          <a:off x="115836" y="1607336"/>
          <a:ext cx="2002065" cy="10713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Press </a:t>
          </a:r>
          <a:r>
            <a:rPr lang="en-US" sz="1500" b="1" kern="1200" dirty="0"/>
            <a:t>Alt + F2</a:t>
          </a:r>
          <a:r>
            <a:rPr lang="en-US" sz="1500" kern="1200" dirty="0"/>
            <a:t> to open the </a:t>
          </a:r>
          <a:r>
            <a:rPr lang="en-US" sz="1500" i="1" kern="1200" dirty="0"/>
            <a:t>Run a Command</a:t>
          </a:r>
          <a:r>
            <a:rPr lang="en-US" sz="1500" kern="1200" dirty="0"/>
            <a:t> window, enter </a:t>
          </a:r>
          <a:r>
            <a:rPr lang="en-US" sz="1500" kern="1200" dirty="0" err="1"/>
            <a:t>ptyxis</a:t>
          </a:r>
          <a:r>
            <a:rPr lang="en-US" sz="1500" kern="1200" dirty="0"/>
            <a:t>, and press Enter.</a:t>
          </a:r>
        </a:p>
      </dsp:txBody>
      <dsp:txXfrm>
        <a:off x="147214" y="1638714"/>
        <a:ext cx="1939309" cy="10085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DC078-9985-48BD-89D6-D37E40FBA875}">
      <dsp:nvSpPr>
        <dsp:cNvPr id="0" name=""/>
        <dsp:cNvSpPr/>
      </dsp:nvSpPr>
      <dsp:spPr>
        <a:xfrm>
          <a:off x="0" y="121200"/>
          <a:ext cx="2223029" cy="10713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2. Via Search</a:t>
          </a:r>
          <a:endParaRPr lang="en-US" sz="1500" kern="1200" dirty="0"/>
        </a:p>
      </dsp:txBody>
      <dsp:txXfrm>
        <a:off x="31378" y="152578"/>
        <a:ext cx="2160273" cy="1008583"/>
      </dsp:txXfrm>
    </dsp:sp>
    <dsp:sp modelId="{B425E33A-28AF-4786-A287-28D485B40CAB}">
      <dsp:nvSpPr>
        <dsp:cNvPr id="0" name=""/>
        <dsp:cNvSpPr/>
      </dsp:nvSpPr>
      <dsp:spPr>
        <a:xfrm rot="5387615">
          <a:off x="958642" y="1158887"/>
          <a:ext cx="311098" cy="4821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969392" y="1244389"/>
        <a:ext cx="289262" cy="217769"/>
      </dsp:txXfrm>
    </dsp:sp>
    <dsp:sp modelId="{5F679D4F-99A1-42E6-8BF4-739EE1BB0524}">
      <dsp:nvSpPr>
        <dsp:cNvPr id="0" name=""/>
        <dsp:cNvSpPr/>
      </dsp:nvSpPr>
      <dsp:spPr>
        <a:xfrm>
          <a:off x="5354" y="1607336"/>
          <a:ext cx="2223029" cy="10713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Acion</a:t>
          </a:r>
          <a:r>
            <a:rPr lang="tr-TR" sz="1500" kern="1200" dirty="0"/>
            <a:t>: </a:t>
          </a:r>
          <a:r>
            <a:rPr lang="en-US" sz="1500" kern="1200" dirty="0"/>
            <a:t>Type terminal directly into the search field located at the top of the windows overview. </a:t>
          </a:r>
        </a:p>
      </dsp:txBody>
      <dsp:txXfrm>
        <a:off x="36732" y="1638714"/>
        <a:ext cx="2160273" cy="10085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24C0A-EA80-4719-98F0-C66F8420C718}">
      <dsp:nvSpPr>
        <dsp:cNvPr id="0" name=""/>
        <dsp:cNvSpPr/>
      </dsp:nvSpPr>
      <dsp:spPr>
        <a:xfrm>
          <a:off x="152663" y="327"/>
          <a:ext cx="1928411" cy="10713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1. Via Dash</a:t>
          </a:r>
          <a:endParaRPr lang="en-US" sz="1300" kern="1200" dirty="0"/>
        </a:p>
      </dsp:txBody>
      <dsp:txXfrm>
        <a:off x="184041" y="31705"/>
        <a:ext cx="1865655" cy="1008583"/>
      </dsp:txXfrm>
    </dsp:sp>
    <dsp:sp modelId="{0AB7D31B-B80F-4950-9BA6-91C438617764}">
      <dsp:nvSpPr>
        <dsp:cNvPr id="0" name=""/>
        <dsp:cNvSpPr/>
      </dsp:nvSpPr>
      <dsp:spPr>
        <a:xfrm rot="5400000">
          <a:off x="915992" y="1098450"/>
          <a:ext cx="401752" cy="4821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972237" y="1138625"/>
        <a:ext cx="289262" cy="281226"/>
      </dsp:txXfrm>
    </dsp:sp>
    <dsp:sp modelId="{029A9902-D2D1-417C-A758-CA702E4DAD54}">
      <dsp:nvSpPr>
        <dsp:cNvPr id="0" name=""/>
        <dsp:cNvSpPr/>
      </dsp:nvSpPr>
      <dsp:spPr>
        <a:xfrm>
          <a:off x="152663" y="1607336"/>
          <a:ext cx="1928411" cy="10713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Action: </a:t>
          </a:r>
          <a:r>
            <a:rPr lang="en-US" sz="1300" kern="1200" dirty="0"/>
            <a:t>Open </a:t>
          </a:r>
          <a:r>
            <a:rPr lang="en-US" sz="1300" b="1" kern="1200" dirty="0"/>
            <a:t>Activities Overview</a:t>
          </a:r>
          <a:r>
            <a:rPr lang="en-US" sz="1300" kern="1200" dirty="0"/>
            <a:t> → Click the </a:t>
          </a:r>
          <a:r>
            <a:rPr lang="en-US" sz="1300" b="1" kern="1200" dirty="0"/>
            <a:t>Terminal</a:t>
          </a:r>
          <a:r>
            <a:rPr lang="en-US" sz="1300" kern="1200" dirty="0"/>
            <a:t> icon in the dash (or locate it via </a:t>
          </a:r>
          <a:r>
            <a:rPr lang="en-US" sz="1300" b="1" kern="1200" dirty="0"/>
            <a:t>Show Applications</a:t>
          </a:r>
          <a:r>
            <a:rPr lang="en-US" sz="1300" kern="1200" dirty="0"/>
            <a:t>). </a:t>
          </a:r>
        </a:p>
      </dsp:txBody>
      <dsp:txXfrm>
        <a:off x="184041" y="1638714"/>
        <a:ext cx="1865655" cy="10085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01D87-AD7D-4A9E-8097-71AC3B97F292}">
      <dsp:nvSpPr>
        <dsp:cNvPr id="0" name=""/>
        <dsp:cNvSpPr/>
      </dsp:nvSpPr>
      <dsp:spPr>
        <a:xfrm>
          <a:off x="0" y="3274737"/>
          <a:ext cx="5052933" cy="1074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Formatting:</a:t>
          </a:r>
          <a:r>
            <a:rPr lang="en-US" sz="1900" kern="1200"/>
            <a:t> Words must be separated by spaces; commands are typed on separate lines and run by pressing </a:t>
          </a:r>
          <a:r>
            <a:rPr lang="en-US" sz="1900" b="1" kern="1200"/>
            <a:t>Enter</a:t>
          </a:r>
          <a:r>
            <a:rPr lang="en-US" sz="1900" kern="1200"/>
            <a:t>.</a:t>
          </a:r>
        </a:p>
      </dsp:txBody>
      <dsp:txXfrm>
        <a:off x="0" y="3274737"/>
        <a:ext cx="5052933" cy="1074841"/>
      </dsp:txXfrm>
    </dsp:sp>
    <dsp:sp modelId="{C000A20B-C27F-4FE9-81AE-D734E1E1111B}">
      <dsp:nvSpPr>
        <dsp:cNvPr id="0" name=""/>
        <dsp:cNvSpPr/>
      </dsp:nvSpPr>
      <dsp:spPr>
        <a:xfrm rot="10800000">
          <a:off x="0" y="1637753"/>
          <a:ext cx="5052933" cy="165310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3 Core Components:</a:t>
          </a:r>
          <a:endParaRPr lang="en-US" sz="1900" kern="1200"/>
        </a:p>
      </dsp:txBody>
      <dsp:txXfrm rot="-10800000">
        <a:off x="0" y="1637753"/>
        <a:ext cx="5052933" cy="580240"/>
      </dsp:txXfrm>
    </dsp:sp>
    <dsp:sp modelId="{19C5D2CC-A333-4029-B7DA-FA9ECEF2F675}">
      <dsp:nvSpPr>
        <dsp:cNvPr id="0" name=""/>
        <dsp:cNvSpPr/>
      </dsp:nvSpPr>
      <dsp:spPr>
        <a:xfrm>
          <a:off x="2467" y="2217993"/>
          <a:ext cx="1682666" cy="4942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Command:</a:t>
          </a:r>
          <a:r>
            <a:rPr lang="en-US" sz="1100" kern="1200"/>
            <a:t> The executable program name.</a:t>
          </a:r>
        </a:p>
      </dsp:txBody>
      <dsp:txXfrm>
        <a:off x="2467" y="2217993"/>
        <a:ext cx="1682666" cy="494278"/>
      </dsp:txXfrm>
    </dsp:sp>
    <dsp:sp modelId="{1818217B-FF68-4E6E-95C1-9FF9281E89A0}">
      <dsp:nvSpPr>
        <dsp:cNvPr id="0" name=""/>
        <dsp:cNvSpPr/>
      </dsp:nvSpPr>
      <dsp:spPr>
        <a:xfrm>
          <a:off x="1685133" y="2217993"/>
          <a:ext cx="1682666" cy="4942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Options:</a:t>
          </a:r>
          <a:r>
            <a:rPr lang="en-US" sz="1100" kern="1200"/>
            <a:t> Modify behavior; usually start with - (short) or -- (long).</a:t>
          </a:r>
        </a:p>
      </dsp:txBody>
      <dsp:txXfrm>
        <a:off x="1685133" y="2217993"/>
        <a:ext cx="1682666" cy="494278"/>
      </dsp:txXfrm>
    </dsp:sp>
    <dsp:sp modelId="{53B364A3-799A-4BE5-B3F8-0CA3DFBA02DB}">
      <dsp:nvSpPr>
        <dsp:cNvPr id="0" name=""/>
        <dsp:cNvSpPr/>
      </dsp:nvSpPr>
      <dsp:spPr>
        <a:xfrm>
          <a:off x="3367799" y="2217993"/>
          <a:ext cx="1682666" cy="4942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Arguments:</a:t>
          </a:r>
          <a:r>
            <a:rPr lang="en-US" sz="1100" kern="1200"/>
            <a:t> The operational targets of the command.</a:t>
          </a:r>
        </a:p>
      </dsp:txBody>
      <dsp:txXfrm>
        <a:off x="3367799" y="2217993"/>
        <a:ext cx="1682666" cy="494278"/>
      </dsp:txXfrm>
    </dsp:sp>
    <dsp:sp modelId="{721BF5D8-327C-4B0C-BAEB-A6FDACDB32CD}">
      <dsp:nvSpPr>
        <dsp:cNvPr id="0" name=""/>
        <dsp:cNvSpPr/>
      </dsp:nvSpPr>
      <dsp:spPr>
        <a:xfrm rot="10800000">
          <a:off x="0" y="768"/>
          <a:ext cx="5052933" cy="165310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Role:</a:t>
          </a:r>
          <a:r>
            <a:rPr lang="en-US" sz="1900" kern="1200"/>
            <a:t> GNU Bash interprets user-typed commands (names of installed programs).</a:t>
          </a:r>
        </a:p>
      </dsp:txBody>
      <dsp:txXfrm rot="10800000">
        <a:off x="0" y="768"/>
        <a:ext cx="5052933" cy="1074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5E7D79-1162-B331-CE56-1CEF17382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04B912F-5463-E497-86EE-8716F15BA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0C753E6-DB86-C553-82DD-2B743A7B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82D7934-A984-7047-9792-28DF02F4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EC33DE8-B3DF-430D-BEF0-038B144A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64B93F-8938-702F-08D0-51B5A893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217EE0B-6FFF-DE1A-9CEC-6F4DB223F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2608CC3-E288-A307-96D8-EF45AAEA6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18DCA9F-6003-7CEA-57E8-3335CE2E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AE95675-8E25-B862-CF5A-7643D7F4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1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B802D9-65AA-6632-FA16-E374FBB5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0A41FFC-E562-AB7D-DEE8-670E29492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DAF3FF3-A17D-AA7D-8CEB-CEC19E48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720627E-B329-9200-E8B8-54CC1739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57DA9CA-9C21-2A7E-454C-7A6DDD6A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4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86674F-6A93-1481-7C46-2AFF804C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0DEAFFD-0CD6-1C9C-4691-CE09E7B85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A44A2B5-2005-5086-87BA-6DE8C0788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1F66A9C-3DCD-901A-95E8-A2931EE69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3708D75-0817-39E6-121B-1C66D118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C17CB8D-EBF5-86D5-CF9E-C821AF63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5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6C0A61-637F-1AB0-3430-1A320505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7848A0B-2D39-C6F8-F55E-D9D1879F2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05F1B48-1683-C407-D4CA-7E41F93D8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850AD365-5980-24C6-DA4F-63EF116A4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B10BB2C-7775-3653-D1A9-EF4E0E2B9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4AE88DC-2A0D-2D4F-D236-A61A31A7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B0F378B-191A-C13C-1E64-5E2839A2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2F66A4E-68F5-FE5E-E49D-F87FE3A1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6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56B6E3-828F-C402-AD83-625E0F67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A50CEDB-8830-FD7F-9E37-CB3AB691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F91B6D8-14EC-F6C3-5B68-A241BDB9D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5EF51D8-31AE-C7CF-9C19-BFB9AAA5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79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B5A11B5-DAF1-381D-DCAD-461F828E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9D1699A-42CC-B5DC-BDE7-0817573A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63AAC7A-7062-348F-E9DD-2B2788A3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3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4D36D0-DEF5-1FF8-082D-4B320E86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82E992-8B47-A0FA-635F-921FD6F69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B115B5B-436C-C4DD-0D59-65551198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9EC0553-58D3-CA2C-5DE2-D8121BC4F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9B8EA9E-E0DF-7B2F-2852-A7486582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4067C0C-B63A-0D47-0856-A3CBF095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69C77D-43EE-9C40-C834-9A24B83B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3464187-B9F9-9AE0-6BC4-6A72BBBB49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B031986-8AA9-FD5F-0428-F09A616B7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C5D4FB9-70ED-9A98-41DB-F6177EE4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6A61891-5D94-01B9-E361-8ACAFCA2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D7748CA-A884-980A-66BC-F9F244A3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5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CA44E8-C6EC-8A2D-2F62-94178EC1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6015A13-0378-1303-F6AC-D3471CA17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57A281C-B679-265E-A9FB-A8BD87F4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12F0D9F-A5EE-CEA0-A636-764DA75F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EB2663D-0BE4-C71D-B96A-55EFA2F2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8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F3491DD-412C-933F-37A6-2FB1B03E0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F30D884-B5D9-EFCB-8F13-473A4A3B6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F5C0BB-D048-9775-10E6-008B193F4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05FDE92-EBF6-994B-63AA-7C4109C8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336D603-D4A6-74C4-6EA6-6810FFAC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7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01E303B-0439-2F59-B6DA-94BF8F55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ABF0BE2-23FD-6791-3B7A-3D96DA59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CF659AC-9DA4-B20D-0253-70380E172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FA079-CAAE-4531-8932-BD6FB441A00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5A88547-9D87-E00D-08E6-6D3F2D6AF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B822029-EC24-258D-2B40-83240B087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FB1C6-E90D-4A6F-985D-AD75D3274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2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image" Target="../media/image13.svg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17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423C9ED-D707-9AE5-83A3-C02C7048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470" y="3041077"/>
            <a:ext cx="10640754" cy="775845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Red Hat System Administration I 10.0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23D44DA-3ADE-E856-31FA-44C8B6343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9131" y="3993384"/>
            <a:ext cx="8409368" cy="825508"/>
          </a:xfrm>
        </p:spPr>
        <p:txBody>
          <a:bodyPr anchor="ctr">
            <a:normAutofit/>
          </a:bodyPr>
          <a:lstStyle/>
          <a:p>
            <a:pPr algn="r"/>
            <a:r>
              <a:rPr lang="tr-TR" sz="2000" b="1" dirty="0" err="1">
                <a:solidFill>
                  <a:schemeClr val="tx2"/>
                </a:solidFill>
              </a:rPr>
              <a:t>Chapter</a:t>
            </a:r>
            <a:r>
              <a:rPr lang="tr-TR" sz="2000" b="1" dirty="0">
                <a:solidFill>
                  <a:schemeClr val="tx2"/>
                </a:solidFill>
              </a:rPr>
              <a:t> 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5" name="Resim 4">
            <a:extLst>
              <a:ext uri="{FF2B5EF4-FFF2-40B4-BE49-F238E27FC236}">
                <a16:creationId xmlns:a16="http://schemas.microsoft.com/office/drawing/2014/main" id="{84B38AA2-095D-634B-3059-51BECAEE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9" y="375972"/>
            <a:ext cx="2916879" cy="122129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" name="Metin kutusu 5">
            <a:extLst>
              <a:ext uri="{FF2B5EF4-FFF2-40B4-BE49-F238E27FC236}">
                <a16:creationId xmlns:a16="http://schemas.microsoft.com/office/drawing/2014/main" id="{A8F42B92-EC7C-16BE-57B9-677AD7A323BA}"/>
              </a:ext>
            </a:extLst>
          </p:cNvPr>
          <p:cNvSpPr txBox="1"/>
          <p:nvPr/>
        </p:nvSpPr>
        <p:spPr>
          <a:xfrm>
            <a:off x="9413823" y="5503820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Dilara Gülenç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48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3A7005F-D7B0-F272-FA50-423761128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Introduction to the Bash Shell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İçerik Yer Tutucusu 2">
            <a:extLst>
              <a:ext uri="{FF2B5EF4-FFF2-40B4-BE49-F238E27FC236}">
                <a16:creationId xmlns:a16="http://schemas.microsoft.com/office/drawing/2014/main" id="{79D3A9AB-88C5-7814-48C8-CC32186F50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688251"/>
              </p:ext>
            </p:extLst>
          </p:nvPr>
        </p:nvGraphicFramePr>
        <p:xfrm>
          <a:off x="762000" y="1623849"/>
          <a:ext cx="5097781" cy="4758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Metin kutusu 3">
            <a:extLst>
              <a:ext uri="{FF2B5EF4-FFF2-40B4-BE49-F238E27FC236}">
                <a16:creationId xmlns:a16="http://schemas.microsoft.com/office/drawing/2014/main" id="{258D265A-FBE4-60C4-919D-8D4952348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1482853"/>
              </p:ext>
            </p:extLst>
          </p:nvPr>
        </p:nvGraphicFramePr>
        <p:xfrm>
          <a:off x="5935980" y="1740724"/>
          <a:ext cx="6093110" cy="4436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40182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94AF348-C95C-D032-B2D2-6F6DF517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Privileges &amp; The Shell Prompt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D780CBD4-EA66-DD73-481F-1310848F02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762864"/>
              </p:ext>
            </p:extLst>
          </p:nvPr>
        </p:nvGraphicFramePr>
        <p:xfrm>
          <a:off x="644056" y="2476036"/>
          <a:ext cx="10927829" cy="3465894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4985215">
                  <a:extLst>
                    <a:ext uri="{9D8B030D-6E8A-4147-A177-3AD203B41FA5}">
                      <a16:colId xmlns:a16="http://schemas.microsoft.com/office/drawing/2014/main" val="3216088091"/>
                    </a:ext>
                  </a:extLst>
                </a:gridCol>
                <a:gridCol w="5942614">
                  <a:extLst>
                    <a:ext uri="{9D8B030D-6E8A-4147-A177-3AD203B41FA5}">
                      <a16:colId xmlns:a16="http://schemas.microsoft.com/office/drawing/2014/main" val="754591253"/>
                    </a:ext>
                  </a:extLst>
                </a:gridCol>
              </a:tblGrid>
              <a:tr h="63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Regular User Shell</a:t>
                      </a:r>
                    </a:p>
                  </a:txBody>
                  <a:tcPr marL="107828" marR="154040" marT="30808" marB="23105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Superuser (root) Shell</a:t>
                      </a:r>
                    </a:p>
                  </a:txBody>
                  <a:tcPr marL="107828" marR="154040" marT="30808" marB="23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260632"/>
                  </a:ext>
                </a:extLst>
              </a:tr>
              <a:tr h="63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Prompt Format: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user@host:~$</a:t>
                      </a:r>
                      <a:endParaRPr lang="en-US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828" marR="154040" marT="30808" marB="23105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</a:rPr>
                        <a:t>Prompt Format: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root@host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:~#</a:t>
                      </a: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7828" marR="154040" marT="30808" marB="23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15918"/>
                  </a:ext>
                </a:extLst>
              </a:tr>
              <a:tr h="63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Indicator: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 Ends with a dollar sign (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$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07828" marR="154040" marT="30808" marB="23105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Indicator: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 Ends with a number sign (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#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07828" marR="154040" marT="30808" marB="23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266330"/>
                  </a:ext>
                </a:extLst>
              </a:tr>
              <a:tr h="631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Access Level: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 Standard user privileges</a:t>
                      </a:r>
                    </a:p>
                  </a:txBody>
                  <a:tcPr marL="107828" marR="154040" marT="30808" marB="23105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Access Level: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 Unrestricted system-wide control</a:t>
                      </a:r>
                    </a:p>
                  </a:txBody>
                  <a:tcPr marL="107828" marR="154040" marT="30808" marB="23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011401"/>
                  </a:ext>
                </a:extLst>
              </a:tr>
              <a:tr h="939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Safety Note:</a:t>
                      </a: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 Safe for daily operations</a:t>
                      </a:r>
                    </a:p>
                  </a:txBody>
                  <a:tcPr marL="107828" marR="154040" marT="30808" marB="23105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</a:rPr>
                        <a:t>Safety Note: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 Critical visual indicator to prevent destructive errors</a:t>
                      </a:r>
                    </a:p>
                  </a:txBody>
                  <a:tcPr marL="107828" marR="154040" marT="30808" marB="23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924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6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733E57-6C3A-FD88-6350-E98C54E9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Anatomy of a Linux Command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8E33F3-4AFA-E722-A530-A76403397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2000" b="1" dirty="0"/>
              <a:t>Command Syntax:</a:t>
            </a:r>
            <a:endParaRPr lang="en-US" sz="2000" dirty="0"/>
          </a:p>
          <a:p>
            <a:pPr>
              <a:buNone/>
            </a:pPr>
            <a:endParaRPr lang="tr-TR" sz="2000" b="1" dirty="0"/>
          </a:p>
          <a:p>
            <a:pPr>
              <a:buNone/>
            </a:pPr>
            <a:endParaRPr lang="tr-TR" sz="2000" b="1" dirty="0"/>
          </a:p>
          <a:p>
            <a:pPr>
              <a:buNone/>
            </a:pPr>
            <a:endParaRPr lang="tr-TR" sz="2000" b="1" dirty="0"/>
          </a:p>
          <a:p>
            <a:pPr>
              <a:buNone/>
            </a:pPr>
            <a:endParaRPr lang="tr-TR" sz="2000" b="1" dirty="0"/>
          </a:p>
          <a:p>
            <a:pPr>
              <a:buNone/>
            </a:pPr>
            <a:r>
              <a:rPr lang="en-US" sz="2000" b="1" dirty="0"/>
              <a:t>Component Breakdown: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Command (</a:t>
            </a:r>
            <a:r>
              <a:rPr lang="en-US" sz="2000" b="1" dirty="0" err="1">
                <a:latin typeface="Courier New" panose="02070309020205020404" pitchFamily="49" charset="0"/>
              </a:rPr>
              <a:t>usermod</a:t>
            </a:r>
            <a:r>
              <a:rPr lang="en-US" sz="2000" b="1" dirty="0"/>
              <a:t>):</a:t>
            </a:r>
            <a:r>
              <a:rPr lang="en-US" sz="2000" dirty="0"/>
              <a:t> The binary program to execute.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Option (</a:t>
            </a:r>
            <a:r>
              <a:rPr lang="en-US" sz="2000" b="1" dirty="0">
                <a:latin typeface="Courier New" panose="02070309020205020404" pitchFamily="49" charset="0"/>
              </a:rPr>
              <a:t>-L</a:t>
            </a:r>
            <a:r>
              <a:rPr lang="en-US" sz="2000" b="1" dirty="0"/>
              <a:t>):</a:t>
            </a:r>
            <a:r>
              <a:rPr lang="en-US" sz="2000" dirty="0"/>
              <a:t> Modifies execution behavior; begins with </a:t>
            </a:r>
            <a:r>
              <a:rPr lang="en-US" sz="2000" dirty="0">
                <a:latin typeface="Courier New" panose="02070309020205020404" pitchFamily="49" charset="0"/>
              </a:rPr>
              <a:t>-</a:t>
            </a:r>
            <a:r>
              <a:rPr lang="en-US" sz="2000" dirty="0"/>
              <a:t> (short) or </a:t>
            </a:r>
            <a:r>
              <a:rPr lang="en-US" sz="2000" dirty="0">
                <a:latin typeface="Courier New" panose="02070309020205020404" pitchFamily="49" charset="0"/>
              </a:rPr>
              <a:t>--</a:t>
            </a:r>
            <a:r>
              <a:rPr lang="en-US" sz="2000" dirty="0"/>
              <a:t> (long). Here, it locks the password.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Argument (</a:t>
            </a:r>
            <a:r>
              <a:rPr lang="en-US" sz="2000" b="1" dirty="0">
                <a:latin typeface="Courier New" panose="02070309020205020404" pitchFamily="49" charset="0"/>
              </a:rPr>
              <a:t>user01</a:t>
            </a:r>
            <a:r>
              <a:rPr lang="en-US" sz="2000" b="1" dirty="0"/>
              <a:t>):</a:t>
            </a:r>
            <a:r>
              <a:rPr lang="en-US" sz="2000" dirty="0"/>
              <a:t> The operational target (user, file, or resource) that the command acts upon.</a:t>
            </a:r>
          </a:p>
          <a:p>
            <a:pPr>
              <a:buNone/>
            </a:pPr>
            <a:r>
              <a:rPr lang="en-US" sz="2000" b="1" dirty="0"/>
              <a:t>Execution Result:</a:t>
            </a:r>
            <a:r>
              <a:rPr lang="en-US" sz="2000" dirty="0"/>
              <a:t> Locks the account password for </a:t>
            </a:r>
            <a:r>
              <a:rPr lang="en-US" sz="2000" dirty="0">
                <a:latin typeface="Courier New" panose="02070309020205020404" pitchFamily="49" charset="0"/>
              </a:rPr>
              <a:t>user01</a:t>
            </a:r>
            <a:r>
              <a:rPr lang="en-US" sz="2000" dirty="0"/>
              <a:t> via a single structured instruction.</a:t>
            </a:r>
          </a:p>
          <a:p>
            <a:endParaRPr lang="en-US" sz="200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0A9CCA1D-B40B-6024-1A71-F98745C7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53" t="33793" r="22248" b="32577"/>
          <a:stretch>
            <a:fillRect/>
          </a:stretch>
        </p:blipFill>
        <p:spPr>
          <a:xfrm>
            <a:off x="4673398" y="1248991"/>
            <a:ext cx="3568370" cy="148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FBE8A24-94DB-E7E7-B9C1-6C8FC663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Local System Access &amp; Virtual Consoles</a:t>
            </a:r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3D7F4644-163A-61FB-2FEB-8343912C7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lvl="0" algn="just"/>
            <a:r>
              <a:rPr lang="en-US" sz="1700" b="1" dirty="0"/>
              <a:t>Physical Console:</a:t>
            </a:r>
            <a:r>
              <a:rPr lang="en-US" sz="1700" dirty="0"/>
              <a:t> Hardware keyboard and display directly connected to the system.</a:t>
            </a:r>
          </a:p>
          <a:p>
            <a:pPr marL="342900" lvl="0" algn="just"/>
            <a:r>
              <a:rPr lang="en-US" sz="1700" b="1" dirty="0"/>
              <a:t>Virtual Consoles:</a:t>
            </a:r>
            <a:r>
              <a:rPr lang="en-US" sz="1700" dirty="0"/>
              <a:t> Multiple independent login sessions supported on separate terminals.</a:t>
            </a:r>
          </a:p>
          <a:p>
            <a:pPr marL="342900" lvl="0" algn="just"/>
            <a:r>
              <a:rPr lang="en-US" sz="1700" b="1" dirty="0"/>
              <a:t>Navigation Shortcut:</a:t>
            </a:r>
            <a:r>
              <a:rPr lang="en-US" sz="1700" dirty="0"/>
              <a:t> Press </a:t>
            </a:r>
            <a:r>
              <a:rPr lang="en-US" sz="1700" b="1" dirty="0"/>
              <a:t>Ctrl + Alt + [F1–F6]</a:t>
            </a:r>
            <a:r>
              <a:rPr lang="en-US" sz="1700" dirty="0"/>
              <a:t> to toggle between virtual consoles.</a:t>
            </a:r>
          </a:p>
          <a:p>
            <a:pPr marL="342900" lvl="0" algn="just"/>
            <a:r>
              <a:rPr lang="en-US" sz="1700" b="1" dirty="0"/>
              <a:t>Text Prompts:</a:t>
            </a:r>
            <a:r>
              <a:rPr lang="en-US" sz="1700" dirty="0"/>
              <a:t> Most virtual consoles offer a text login prompt; entering credentials successfully launches a shell prompt.</a:t>
            </a:r>
          </a:p>
          <a:p>
            <a:pPr algn="just"/>
            <a:endParaRPr lang="en-US" sz="17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etin kutusu 3">
            <a:extLst>
              <a:ext uri="{FF2B5EF4-FFF2-40B4-BE49-F238E27FC236}">
                <a16:creationId xmlns:a16="http://schemas.microsoft.com/office/drawing/2014/main" id="{6A840174-7C3E-134E-7167-C0411198ECCE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tty1:</a:t>
            </a:r>
            <a:r>
              <a:rPr lang="en-US" sz="1700" dirty="0"/>
              <a:t> Houses the graphical login screen permanently.</a:t>
            </a:r>
          </a:p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tty2 to tty6:</a:t>
            </a:r>
            <a:r>
              <a:rPr lang="en-US" sz="1700" dirty="0"/>
              <a:t> Five text login prompts available by default.</a:t>
            </a:r>
          </a:p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Graphical Session:</a:t>
            </a:r>
            <a:r>
              <a:rPr lang="en-US" sz="1700" dirty="0"/>
              <a:t> Starts on the first unused console (typically replaces </a:t>
            </a:r>
            <a:r>
              <a:rPr lang="en-US" sz="1700" b="1" dirty="0"/>
              <a:t>tty2</a:t>
            </a:r>
            <a:r>
              <a:rPr lang="en-US" sz="1700" dirty="0"/>
              <a:t>).</a:t>
            </a:r>
          </a:p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Multi-User Switching:</a:t>
            </a:r>
            <a:r>
              <a:rPr lang="en-US" sz="1700" dirty="0"/>
              <a:t> Switching users launches another graphical session on the next free virtual console.</a:t>
            </a:r>
          </a:p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Logout Behavior:</a:t>
            </a:r>
            <a:r>
              <a:rPr lang="en-US" sz="1700" dirty="0"/>
              <a:t> Logging out exits that virtual console and automatically reverts the physical display to </a:t>
            </a:r>
            <a:r>
              <a:rPr lang="en-US" sz="1700" b="1" dirty="0"/>
              <a:t>tty1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9096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ACA98F-8021-2B25-45C9-A1005668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Workloads &amp; Headless Administration</a:t>
            </a:r>
          </a:p>
        </p:txBody>
      </p:sp>
      <p:graphicFrame>
        <p:nvGraphicFramePr>
          <p:cNvPr id="8" name="İçerik Yer Tutucusu 4">
            <a:extLst>
              <a:ext uri="{FF2B5EF4-FFF2-40B4-BE49-F238E27FC236}">
                <a16:creationId xmlns:a16="http://schemas.microsoft.com/office/drawing/2014/main" id="{7B6A73C8-16DF-4B36-F757-A939D612F9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110934"/>
              </p:ext>
            </p:extLst>
          </p:nvPr>
        </p:nvGraphicFramePr>
        <p:xfrm>
          <a:off x="838200" y="1825625"/>
          <a:ext cx="10502462" cy="432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2062">
                  <a:extLst>
                    <a:ext uri="{9D8B030D-6E8A-4147-A177-3AD203B41FA5}">
                      <a16:colId xmlns:a16="http://schemas.microsoft.com/office/drawing/2014/main" val="9677631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76771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30606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Attribute</a:t>
                      </a:r>
                      <a:endParaRPr lang="en-US" b="1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Graphical Servers</a:t>
                      </a:r>
                      <a:endParaRPr lang="en-US" b="1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Headless Servers</a:t>
                      </a:r>
                      <a:endParaRPr lang="en-US" b="1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63933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Hardware Setup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Display &amp; keyboard attached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No permanently connected display or keyboard (saves data center rack space/cost)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20080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Resource Usage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Heavy; significant CPU &amp; RAM consumed by GUI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High efficiency; all resources dedicated strictly to server workloads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24265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Direct Access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Terminal application window running inside the GUI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Serial console running on a serial port via a networked console server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88312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Network Access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Remote Desktop Protocol (RDP) for remote GUI tasks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Conventional network connection (or serial access if network card is misconfigured)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8716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935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4D5858-6057-7B14-FE46-0AE2EAF1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Login via SSH &amp; Authentication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584677-3A88-EF8F-12FA-BDDB589E4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138"/>
            <a:ext cx="10749455" cy="1186008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Standard method to access remote Linux systems, virtual machines, and cloud instances.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Powered by </a:t>
            </a:r>
            <a:r>
              <a:rPr lang="en-US" sz="2000" b="1" dirty="0"/>
              <a:t>OpenSSH</a:t>
            </a:r>
            <a:r>
              <a:rPr lang="en-US" sz="2000" dirty="0"/>
              <a:t> (</a:t>
            </a:r>
            <a:r>
              <a:rPr lang="en-US" sz="2000" dirty="0">
                <a:latin typeface="Courier New" panose="02070309020205020404" pitchFamily="49" charset="0"/>
              </a:rPr>
              <a:t>ssh</a:t>
            </a:r>
            <a:r>
              <a:rPr lang="en-US" sz="2000" dirty="0"/>
              <a:t> command) on RHEL and macOS.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Fully encrypts the communication channel to prevent eavesdropping and session hijacking.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5903DF7-D6A3-C533-3CA3-FFFCBC1801EF}"/>
              </a:ext>
            </a:extLst>
          </p:cNvPr>
          <p:cNvSpPr txBox="1"/>
          <p:nvPr/>
        </p:nvSpPr>
        <p:spPr>
          <a:xfrm>
            <a:off x="1221214" y="2552348"/>
            <a:ext cx="3113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Password Authentication: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3C6330B-F0CD-0872-0BFF-0074F902490D}"/>
              </a:ext>
            </a:extLst>
          </p:cNvPr>
          <p:cNvSpPr txBox="1"/>
          <p:nvPr/>
        </p:nvSpPr>
        <p:spPr>
          <a:xfrm>
            <a:off x="6683057" y="2552348"/>
            <a:ext cx="3185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Public Key Authentication: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ABE564D-84F0-EA57-7360-E08B64EC5239}"/>
              </a:ext>
            </a:extLst>
          </p:cNvPr>
          <p:cNvSpPr txBox="1"/>
          <p:nvPr/>
        </p:nvSpPr>
        <p:spPr>
          <a:xfrm>
            <a:off x="6526924" y="4714921"/>
            <a:ext cx="50607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1600" dirty="0"/>
              <a:t>Uses a private key file (-</a:t>
            </a:r>
            <a:r>
              <a:rPr lang="en-US" sz="1600" dirty="0" err="1"/>
              <a:t>i</a:t>
            </a:r>
            <a:r>
              <a:rPr lang="en-US" sz="1600" dirty="0"/>
              <a:t> option) kept secret by the client, and a public key installed on the server.</a:t>
            </a:r>
          </a:p>
          <a:p>
            <a:pPr lvl="0" algn="just"/>
            <a:r>
              <a:rPr lang="en-US" sz="1600" dirty="0"/>
              <a:t>Common on cloud instances where password logins are forbidden.</a:t>
            </a:r>
          </a:p>
          <a:p>
            <a:pPr lvl="0" algn="just"/>
            <a:r>
              <a:rPr lang="en-US" sz="1600" b="1" dirty="0"/>
              <a:t>Permissions Enforcement:</a:t>
            </a:r>
            <a:r>
              <a:rPr lang="en-US" sz="1600" dirty="0"/>
              <a:t> OpenSSH strictly blocks insecure keys; only the file owner can have read access:</a:t>
            </a:r>
            <a:endParaRPr lang="tr-TR" sz="1600" dirty="0"/>
          </a:p>
          <a:p>
            <a:pPr lvl="0" algn="just"/>
            <a:r>
              <a:rPr lang="en-US" sz="1600" dirty="0" err="1"/>
              <a:t>chmod</a:t>
            </a:r>
            <a:r>
              <a:rPr lang="en-US" sz="1600" dirty="0"/>
              <a:t> 600 </a:t>
            </a:r>
            <a:r>
              <a:rPr lang="en-US" sz="1600" dirty="0" err="1"/>
              <a:t>mylab.pem</a:t>
            </a:r>
            <a:endParaRPr lang="en-US" sz="1600" dirty="0"/>
          </a:p>
          <a:p>
            <a:pPr algn="just"/>
            <a:endParaRPr lang="en-US" sz="12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33CEF024-A955-6611-DE38-BA005A9CE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74" y="3033434"/>
            <a:ext cx="5334795" cy="2031325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6A3F6D41-B3C3-50C6-0729-D2272B2EE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388" y="3171290"/>
            <a:ext cx="5692256" cy="15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83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0FFDC-BB46-8A45-893B-E359E56F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503F60-6D7E-3A16-96E8-4C1754ED1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103A00-0D45-5CBC-D326-EDA2FDD54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91C0F6-5C57-3A82-A213-16540C3A3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695130-9A70-F312-A864-695F9C68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FEDDFE-DE74-E8D1-CDEF-5147E626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Host Verification &amp; Session Termination</a:t>
            </a: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A16352B5-E422-8D03-AD1C-481E6EE94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27938" cy="1800444"/>
          </a:xfrm>
        </p:spPr>
        <p:txBody>
          <a:bodyPr>
            <a:normAutofit fontScale="55000" lnSpcReduction="20000"/>
          </a:bodyPr>
          <a:lstStyle/>
          <a:p>
            <a:pPr algn="just">
              <a:buNone/>
            </a:pPr>
            <a:r>
              <a:rPr lang="en-US" b="1" dirty="0"/>
              <a:t>Initial Host Key Verification (Interceptor Attack Protection):</a:t>
            </a:r>
            <a:endParaRPr lang="en-US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b="1" dirty="0"/>
              <a:t>Key Exchange:</a:t>
            </a:r>
            <a:r>
              <a:rPr lang="en-US" dirty="0"/>
              <a:t> The remote host transmits its unique host key upon connection to authenticate itself.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b="1" dirty="0"/>
              <a:t>First-Time Warning:</a:t>
            </a:r>
            <a:r>
              <a:rPr lang="en-US" dirty="0"/>
              <a:t> If the key is not in the local saved list, SSH prompts for confirmation:</a:t>
            </a:r>
          </a:p>
          <a:p>
            <a:pPr algn="just"/>
            <a:endParaRPr lang="en-US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F39A26B3-05C8-3F40-E61A-45B1592591B7}"/>
              </a:ext>
            </a:extLst>
          </p:cNvPr>
          <p:cNvSpPr txBox="1"/>
          <p:nvPr/>
        </p:nvSpPr>
        <p:spPr>
          <a:xfrm>
            <a:off x="6211613" y="1640934"/>
            <a:ext cx="55494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tr-TR" sz="1500" b="1" dirty="0"/>
              <a:t>3.    </a:t>
            </a:r>
            <a:r>
              <a:rPr lang="en-US" sz="1500" b="1" dirty="0"/>
              <a:t>Verification Logic:</a:t>
            </a:r>
            <a:endParaRPr lang="tr-TR" sz="1500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Enter yes: Key is saved locally for future logins.</a:t>
            </a:r>
            <a:endParaRPr lang="tr-TR" sz="15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Enter no: Key is rejected and connection terminates.</a:t>
            </a:r>
            <a:endParaRPr lang="tr-TR" sz="15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Mismatch detected: Automatic connection drop with warning (signals potential connection hijacking/interceptor attacks).</a:t>
            </a:r>
          </a:p>
          <a:p>
            <a:pPr algn="just"/>
            <a:r>
              <a:rPr lang="en-US" sz="1500" b="1" dirty="0"/>
              <a:t>Ending a Remote Shell Session:</a:t>
            </a:r>
            <a:endParaRPr lang="en-US" sz="1500" dirty="0"/>
          </a:p>
          <a:p>
            <a:pPr lvl="0" algn="just"/>
            <a:r>
              <a:rPr lang="en-US" sz="1500" dirty="0"/>
              <a:t>Command Option: Type exit</a:t>
            </a:r>
          </a:p>
          <a:p>
            <a:pPr lvl="0" algn="just"/>
            <a:r>
              <a:rPr lang="en-US" sz="1500" dirty="0"/>
              <a:t>Keyboard Shortcut: Press </a:t>
            </a:r>
            <a:r>
              <a:rPr lang="en-US" sz="1500" b="1" dirty="0"/>
              <a:t>Ctrl + D</a:t>
            </a:r>
            <a:endParaRPr lang="en-US" sz="1500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E9637CC-04E1-D4B2-926A-6FFA4BFE3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18" y="3755398"/>
            <a:ext cx="5469182" cy="2387388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945717F5-ACF9-8132-9592-39061A7BD2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01" t="28506" r="20596" b="28469"/>
          <a:stretch>
            <a:fillRect/>
          </a:stretch>
        </p:blipFill>
        <p:spPr>
          <a:xfrm>
            <a:off x="6261538" y="3839225"/>
            <a:ext cx="5092262" cy="221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4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FF5E9D4-8418-EB8B-8D5C-069BD22B7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The GNOME Desktop &amp; Interface Overview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9C6DC5-50D2-0F46-8AA5-981A00EE8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Google Sans Text"/>
              </a:rPr>
              <a:t>Framework:</a:t>
            </a:r>
            <a:r>
              <a:rPr lang="en-US" sz="2000" dirty="0">
                <a:effectLst/>
                <a:latin typeface="Google Sans Text"/>
              </a:rPr>
              <a:t> GNOME 47 is the default GUI, powered by the Wayland graphical display framework.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Google Sans Text"/>
              </a:rPr>
              <a:t>Themes:</a:t>
            </a:r>
            <a:r>
              <a:rPr lang="en-US" sz="2000" dirty="0">
                <a:effectLst/>
                <a:latin typeface="Google Sans Text"/>
              </a:rPr>
              <a:t> Default standard GNOME theme; switchable to </a:t>
            </a:r>
            <a:r>
              <a:rPr lang="en-US" sz="2000" b="1" dirty="0">
                <a:effectLst/>
                <a:latin typeface="Google Sans Text"/>
              </a:rPr>
              <a:t>GNOME Classic</a:t>
            </a:r>
            <a:r>
              <a:rPr lang="en-US" sz="2000" dirty="0">
                <a:effectLst/>
                <a:latin typeface="Google Sans Text"/>
              </a:rPr>
              <a:t> via the Settings icon on the login screen. 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Google Sans Text"/>
              </a:rPr>
              <a:t>Tour Program:</a:t>
            </a:r>
            <a:r>
              <a:rPr lang="en-US" sz="2000" dirty="0">
                <a:effectLst/>
                <a:latin typeface="Google Sans Text"/>
              </a:rPr>
              <a:t> Automatically launches on first user login to highlight new features (optional, can be closed/skipped).</a:t>
            </a:r>
          </a:p>
          <a:p>
            <a:endParaRPr lang="en-US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28DD5D2-2D54-94C4-4920-9FF78BF8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261197"/>
            <a:ext cx="4788505" cy="3603349"/>
          </a:xfrm>
          <a:prstGeom prst="rect">
            <a:avLst/>
          </a:prstGeom>
        </p:spPr>
      </p:pic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7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34A48-8979-6864-FE42-1A8BC76B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ABAE623-9E2B-6CC3-35CC-B9D7AB35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The GNOME Desktop &amp; Interface Overview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AE65ACF-BD4A-9C24-D5D1-53390DDD0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10" y="2291640"/>
            <a:ext cx="4958966" cy="39177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300" b="1" dirty="0"/>
              <a:t>1. Top bar:</a:t>
            </a:r>
            <a:r>
              <a:rPr lang="en-US" sz="1300" dirty="0"/>
              <a:t> Stays visible continuously across workspaces; hosts Activities, notifications, and settings. </a:t>
            </a:r>
          </a:p>
          <a:p>
            <a:pPr marL="0" lvl="0" indent="0">
              <a:buNone/>
            </a:pPr>
            <a:r>
              <a:rPr lang="en-US" sz="1300" b="1" dirty="0"/>
              <a:t>2. Activities Overview:</a:t>
            </a:r>
            <a:r>
              <a:rPr lang="en-US" sz="1300" dirty="0"/>
              <a:t> Accessed via upper-left Red Hat logo or </a:t>
            </a:r>
            <a:r>
              <a:rPr lang="en-US" sz="1300" b="1" dirty="0"/>
              <a:t>Super</a:t>
            </a:r>
            <a:r>
              <a:rPr lang="en-US" sz="1300" dirty="0"/>
              <a:t> key to organize windows and launch apps. </a:t>
            </a:r>
          </a:p>
          <a:p>
            <a:pPr marL="0" lvl="0" indent="0">
              <a:buNone/>
            </a:pPr>
            <a:r>
              <a:rPr lang="en-US" sz="1300" b="1" dirty="0"/>
              <a:t>3. Message tray:</a:t>
            </a:r>
            <a:r>
              <a:rPr lang="en-US" sz="1300" dirty="0"/>
              <a:t> Displays notifications and calendar; toggled by clicking the clock or pressing </a:t>
            </a:r>
            <a:r>
              <a:rPr lang="en-US" sz="1300" b="1" dirty="0"/>
              <a:t>Super + M</a:t>
            </a:r>
            <a:r>
              <a:rPr lang="en-US" sz="1300" dirty="0"/>
              <a:t> . </a:t>
            </a:r>
          </a:p>
          <a:p>
            <a:pPr marL="0" lvl="0" indent="0">
              <a:buNone/>
            </a:pPr>
            <a:r>
              <a:rPr lang="en-US" sz="1300" b="1" dirty="0"/>
              <a:t>4. Windows overview:</a:t>
            </a:r>
            <a:r>
              <a:rPr lang="en-US" sz="1300" dirty="0"/>
              <a:t> Displays open window thumbnails in the current workspace to manage or move them. </a:t>
            </a:r>
          </a:p>
          <a:p>
            <a:pPr marL="0" lvl="0" indent="0">
              <a:buNone/>
            </a:pPr>
            <a:r>
              <a:rPr lang="en-US" sz="1300" b="1" dirty="0"/>
              <a:t>5. Dash (Dock):</a:t>
            </a:r>
            <a:r>
              <a:rPr lang="en-US" sz="1300" dirty="0"/>
              <a:t> Configurable list showing favorites, active applications, and the </a:t>
            </a:r>
            <a:r>
              <a:rPr lang="en-US" sz="1300" b="1" dirty="0"/>
              <a:t>Show Applications</a:t>
            </a:r>
            <a:r>
              <a:rPr lang="en-US" sz="1300" dirty="0"/>
              <a:t> icon. </a:t>
            </a:r>
          </a:p>
          <a:p>
            <a:pPr marL="0" lvl="0" indent="0">
              <a:buNone/>
            </a:pPr>
            <a:r>
              <a:rPr lang="en-US" sz="1300" b="1" dirty="0"/>
              <a:t>6. Workspace selector:</a:t>
            </a:r>
            <a:r>
              <a:rPr lang="en-US" sz="1300" dirty="0"/>
              <a:t> Located right of the windows overview to preview and toggle workspaces. </a:t>
            </a:r>
          </a:p>
          <a:p>
            <a:pPr marL="0" lvl="0" indent="0">
              <a:buNone/>
            </a:pPr>
            <a:r>
              <a:rPr lang="en-US" sz="1300" b="1" dirty="0"/>
              <a:t>7. System menu:</a:t>
            </a:r>
            <a:r>
              <a:rPr lang="en-US" sz="1300" dirty="0"/>
              <a:t> Upper-right controls for brightness, network/VPN toggles, dark style, screen recording, locking, and power. 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421F8EBD-1A6B-F654-013A-00BC056C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311" y="2550035"/>
            <a:ext cx="5755202" cy="4302013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7F0D394-B7DA-F67C-4816-41E4263F6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413" y="215317"/>
            <a:ext cx="2762084" cy="20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98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7F827BD-21CE-2802-DBAC-2DB5830B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4100"/>
              <a:t>Workspace Management &amp; Keyboard Navigation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3F23D90-0427-6F6A-927E-183AFF887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1" y="140367"/>
            <a:ext cx="5069664" cy="381492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16" name="İçerik Yer Tutucusu 2">
            <a:extLst>
              <a:ext uri="{FF2B5EF4-FFF2-40B4-BE49-F238E27FC236}">
                <a16:creationId xmlns:a16="http://schemas.microsoft.com/office/drawing/2014/main" id="{FC98E835-D5B2-1013-C1B7-5DCDB24AA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434334"/>
              </p:ext>
            </p:extLst>
          </p:nvPr>
        </p:nvGraphicFramePr>
        <p:xfrm>
          <a:off x="5207695" y="1655380"/>
          <a:ext cx="6584912" cy="2779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47F311C0-AABF-405F-1649-9D90DBD59214}"/>
              </a:ext>
            </a:extLst>
          </p:cNvPr>
          <p:cNvSpPr txBox="1"/>
          <p:nvPr/>
        </p:nvSpPr>
        <p:spPr>
          <a:xfrm>
            <a:off x="2867001" y="4341045"/>
            <a:ext cx="913086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600" b="1" dirty="0"/>
              <a:t>Shortcut Customization:</a:t>
            </a:r>
            <a:r>
              <a:rPr lang="en-US" sz="1600" dirty="0"/>
              <a:t> System menu → Settings → Keyboard → </a:t>
            </a:r>
            <a:r>
              <a:rPr lang="en-US" sz="1600" i="1" dirty="0"/>
              <a:t>View and Customize Shortcuts</a:t>
            </a:r>
            <a:r>
              <a:rPr lang="en-US" sz="1600" dirty="0"/>
              <a:t>.</a:t>
            </a:r>
          </a:p>
          <a:p>
            <a:pPr lvl="0" algn="just"/>
            <a:r>
              <a:rPr lang="en-US" sz="1600" b="1" dirty="0"/>
              <a:t>Virtual Machine Shortcut Challenge:</a:t>
            </a:r>
            <a:r>
              <a:rPr lang="en-US" sz="1600" dirty="0"/>
              <a:t> The host OS or browser often intercepts special keys (e.g., </a:t>
            </a:r>
            <a:r>
              <a:rPr lang="en-US" sz="1600" b="1" dirty="0"/>
              <a:t>Super</a:t>
            </a:r>
            <a:r>
              <a:rPr lang="en-US" sz="1600" dirty="0"/>
              <a:t>, </a:t>
            </a:r>
            <a:r>
              <a:rPr lang="en-US" sz="1600" b="1" dirty="0"/>
              <a:t>Ctrl + Alt</a:t>
            </a:r>
            <a:r>
              <a:rPr lang="en-US" sz="1600" dirty="0"/>
              <a:t>).</a:t>
            </a:r>
          </a:p>
          <a:p>
            <a:pPr lvl="0" algn="just"/>
            <a:r>
              <a:rPr lang="en-US" sz="1600" b="1" dirty="0"/>
              <a:t>On-Screen Keyboard Solution:</a:t>
            </a:r>
            <a:r>
              <a:rPr lang="tr-TR" sz="1600" b="1" dirty="0"/>
              <a:t> </a:t>
            </a:r>
            <a:r>
              <a:rPr lang="en-US" sz="1600" dirty="0"/>
              <a:t>Launch via the keyboard icon at the top right of the lab browser interface.</a:t>
            </a:r>
            <a:endParaRPr lang="tr-TR" sz="1600" dirty="0"/>
          </a:p>
          <a:p>
            <a:pPr lvl="0" algn="just"/>
            <a:r>
              <a:rPr lang="en-US" sz="1600" dirty="0"/>
              <a:t>Treats modifier keys (</a:t>
            </a:r>
            <a:r>
              <a:rPr lang="en-US" sz="1600" b="1" dirty="0"/>
              <a:t>Super</a:t>
            </a:r>
            <a:r>
              <a:rPr lang="en-US" sz="1600" dirty="0"/>
              <a:t>, </a:t>
            </a:r>
            <a:r>
              <a:rPr lang="en-US" sz="1600" b="1" dirty="0"/>
              <a:t>Shift</a:t>
            </a:r>
            <a:r>
              <a:rPr lang="en-US" sz="1600" dirty="0"/>
              <a:t>, </a:t>
            </a:r>
            <a:r>
              <a:rPr lang="en-US" sz="1600" b="1" dirty="0"/>
              <a:t>Ctrl</a:t>
            </a:r>
            <a:r>
              <a:rPr lang="en-US" sz="1600" dirty="0"/>
              <a:t>, </a:t>
            </a:r>
            <a:r>
              <a:rPr lang="en-US" sz="1600" b="1" dirty="0"/>
              <a:t>Alt</a:t>
            </a:r>
            <a:r>
              <a:rPr lang="en-US" sz="1600" dirty="0"/>
              <a:t>, </a:t>
            </a:r>
            <a:r>
              <a:rPr lang="en-US" sz="1600" b="1" dirty="0"/>
              <a:t>Caps</a:t>
            </a:r>
            <a:r>
              <a:rPr lang="en-US" sz="1600" dirty="0"/>
              <a:t>) as sticky: click once to hold down (turns yellow), click twice to release.</a:t>
            </a:r>
            <a:endParaRPr lang="tr-TR" sz="1600" dirty="0"/>
          </a:p>
          <a:p>
            <a:pPr lvl="0" algn="just"/>
            <a:r>
              <a:rPr lang="en-US" sz="1600" i="1" dirty="0"/>
              <a:t>Tip:</a:t>
            </a:r>
            <a:r>
              <a:rPr lang="en-US" sz="1600" dirty="0"/>
              <a:t> Using the graphical workspace selector is easier in training labs than using intercepted key bindings.</a:t>
            </a:r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2484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50FD807-B0A2-751F-F080-4DDA11C44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Launching the Terminal in RHEL 10</a:t>
            </a:r>
          </a:p>
        </p:txBody>
      </p:sp>
      <p:graphicFrame>
        <p:nvGraphicFramePr>
          <p:cNvPr id="19" name="Metin kutusu 15">
            <a:extLst>
              <a:ext uri="{FF2B5EF4-FFF2-40B4-BE49-F238E27FC236}">
                <a16:creationId xmlns:a16="http://schemas.microsoft.com/office/drawing/2014/main" id="{3B413531-B0B9-B711-367C-EB6013393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6526366"/>
              </p:ext>
            </p:extLst>
          </p:nvPr>
        </p:nvGraphicFramePr>
        <p:xfrm>
          <a:off x="9700759" y="819807"/>
          <a:ext cx="2233738" cy="2679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1" name="Metin kutusu 15">
            <a:extLst>
              <a:ext uri="{FF2B5EF4-FFF2-40B4-BE49-F238E27FC236}">
                <a16:creationId xmlns:a16="http://schemas.microsoft.com/office/drawing/2014/main" id="{A1751439-AE5D-F6FC-B29A-A2D8DBB10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077456"/>
              </p:ext>
            </p:extLst>
          </p:nvPr>
        </p:nvGraphicFramePr>
        <p:xfrm>
          <a:off x="7085534" y="2365963"/>
          <a:ext cx="2233738" cy="2679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3" name="Metin kutusu 15">
            <a:extLst>
              <a:ext uri="{FF2B5EF4-FFF2-40B4-BE49-F238E27FC236}">
                <a16:creationId xmlns:a16="http://schemas.microsoft.com/office/drawing/2014/main" id="{514F3F98-69E4-9BC5-4BF9-8D5E44BF38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5859790"/>
              </p:ext>
            </p:extLst>
          </p:nvPr>
        </p:nvGraphicFramePr>
        <p:xfrm>
          <a:off x="4419311" y="819807"/>
          <a:ext cx="2233738" cy="2679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27" name="Metin kutusu 26">
            <a:extLst>
              <a:ext uri="{FF2B5EF4-FFF2-40B4-BE49-F238E27FC236}">
                <a16:creationId xmlns:a16="http://schemas.microsoft.com/office/drawing/2014/main" id="{822DC59B-C9D9-173E-69B6-CA0DA33A044C}"/>
              </a:ext>
            </a:extLst>
          </p:cNvPr>
          <p:cNvSpPr txBox="1"/>
          <p:nvPr/>
        </p:nvSpPr>
        <p:spPr>
          <a:xfrm>
            <a:off x="5427712" y="5576528"/>
            <a:ext cx="61643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Shell Indicator:</a:t>
            </a:r>
            <a:r>
              <a:rPr lang="en-US" dirty="0"/>
              <a:t> When launched, the shell prompt and title bar immediately display the active </a:t>
            </a:r>
            <a:r>
              <a:rPr lang="en-US" b="1" dirty="0"/>
              <a:t>username</a:t>
            </a:r>
            <a:r>
              <a:rPr lang="en-US" dirty="0"/>
              <a:t>, </a:t>
            </a:r>
            <a:r>
              <a:rPr lang="en-US" b="1" dirty="0"/>
              <a:t>hostname</a:t>
            </a:r>
            <a:r>
              <a:rPr lang="en-US" dirty="0"/>
              <a:t>, and </a:t>
            </a:r>
            <a:r>
              <a:rPr lang="en-US" b="1" dirty="0"/>
              <a:t>current working directory</a:t>
            </a:r>
            <a:r>
              <a:rPr lang="en-US" dirty="0"/>
              <a:t>.</a:t>
            </a:r>
          </a:p>
        </p:txBody>
      </p:sp>
      <p:pic>
        <p:nvPicPr>
          <p:cNvPr id="31" name="Grafik 30" descr="Yapışkan Not Kağıdı düz dolguyla">
            <a:extLst>
              <a:ext uri="{FF2B5EF4-FFF2-40B4-BE49-F238E27FC236}">
                <a16:creationId xmlns:a16="http://schemas.microsoft.com/office/drawing/2014/main" id="{A74D1583-6ADA-6518-B1C9-8F87B18E2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0502" y="5638536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91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3D4727-27E8-4720-ECCE-FFBA73CC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4530"/>
            <a:ext cx="10515600" cy="1325563"/>
          </a:xfrm>
        </p:spPr>
        <p:txBody>
          <a:bodyPr/>
          <a:lstStyle/>
          <a:p>
            <a:r>
              <a:rPr lang="en-US" dirty="0"/>
              <a:t>Session Security &amp; Power Controls</a:t>
            </a:r>
          </a:p>
        </p:txBody>
      </p:sp>
      <p:graphicFrame>
        <p:nvGraphicFramePr>
          <p:cNvPr id="7" name="İçerik Yer Tutucusu 6">
            <a:extLst>
              <a:ext uri="{FF2B5EF4-FFF2-40B4-BE49-F238E27FC236}">
                <a16:creationId xmlns:a16="http://schemas.microsoft.com/office/drawing/2014/main" id="{7EA6FB87-3F4C-6938-8D42-FA9AFF1EE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980299"/>
              </p:ext>
            </p:extLst>
          </p:nvPr>
        </p:nvGraphicFramePr>
        <p:xfrm>
          <a:off x="838200" y="1066984"/>
          <a:ext cx="10515600" cy="48974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3636637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137757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3099799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Screen Lock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Log Out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Power Off / Reboot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524049424"/>
                  </a:ext>
                </a:extLst>
              </a:tr>
              <a:tr h="35743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Action: Locks display to curtain mode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Action: Ends current graphical session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Action: Shuts down or restarts the machine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1267122673"/>
                  </a:ext>
                </a:extLst>
              </a:tr>
              <a:tr h="240877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Execution: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System menu → Lock icon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Shortcut: Super + L (or Win + L)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Auto-locks after idle period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Execution: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System menu → Power icon → Log Out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Confirm in modal dialog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Execution:</a:t>
                      </a:r>
                      <a:endParaRPr lang="tr-TR" sz="1600" dirty="0">
                        <a:effectLst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System menu → Power icon → Power Off / Restart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Shortcut: Ctrl + Alt + Del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521127281"/>
                  </a:ext>
                </a:extLst>
              </a:tr>
              <a:tr h="136756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Unlock: Press Enter/Space or click; then type user password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Outcome: Closes active session; returns to RHEL 10 login screen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Auto-Trigger: Runs automatically after 60 seconds if unconfirmed.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Option: Uncheck "Install pending software updates" if updates are not desired.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4014772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652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29B0533-8E2F-BE69-27E0-8AA15CD9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Guided Exercise: Access the Command Line with Desktop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502D279-C930-3164-95CF-36B8A3616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lvl="0"/>
            <a:r>
              <a:rPr lang="en-US" sz="2000" b="1"/>
              <a:t>Goal:</a:t>
            </a:r>
            <a:r>
              <a:rPr lang="en-US" sz="2000"/>
              <a:t> Log in to a Linux system with the GNOME desktop environment and run commands from a shell prompt in a terminal program.</a:t>
            </a:r>
          </a:p>
          <a:p>
            <a:pPr marL="342900" lvl="0"/>
            <a:r>
              <a:rPr lang="en-US" sz="2000" b="1"/>
              <a:t>Outcomes:</a:t>
            </a:r>
            <a:endParaRPr lang="en-US" sz="2000"/>
          </a:p>
          <a:p>
            <a:pPr marL="742950" lvl="1"/>
            <a:r>
              <a:rPr lang="en-US" sz="2000"/>
              <a:t>Log in to a Linux system by using the GNOME desktop environment.</a:t>
            </a:r>
          </a:p>
          <a:p>
            <a:pPr marL="742950" lvl="1"/>
            <a:r>
              <a:rPr lang="en-US" sz="2000"/>
              <a:t>Run commands from a shell prompt in a terminal program.</a:t>
            </a:r>
          </a:p>
          <a:p>
            <a:pPr marL="0"/>
            <a:endParaRPr lang="en-US" sz="2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etin kutusu 4">
            <a:extLst>
              <a:ext uri="{FF2B5EF4-FFF2-40B4-BE49-F238E27FC236}">
                <a16:creationId xmlns:a16="http://schemas.microsoft.com/office/drawing/2014/main" id="{F3EC5A08-74C5-B4F0-52F9-AD23DB29FE4E}"/>
              </a:ext>
            </a:extLst>
          </p:cNvPr>
          <p:cNvSpPr txBox="1"/>
          <p:nvPr/>
        </p:nvSpPr>
        <p:spPr>
          <a:xfrm>
            <a:off x="8451605" y="1412488"/>
            <a:ext cx="3197701" cy="23975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Machine:</a:t>
            </a:r>
            <a:r>
              <a:rPr lang="en-US" sz="2000" dirty="0"/>
              <a:t> workstation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User Account:</a:t>
            </a:r>
            <a:r>
              <a:rPr lang="en-US" sz="2000" dirty="0"/>
              <a:t> student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Initialization Command:</a:t>
            </a:r>
            <a:r>
              <a:rPr lang="en-US" sz="2000" dirty="0"/>
              <a:t> Run on workstation to prepare environment and ensure all resources are available: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9A63658-0306-A94B-0363-EEBC76052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00" t="32455" r="17250" b="33430"/>
          <a:stretch>
            <a:fillRect/>
          </a:stretch>
        </p:blipFill>
        <p:spPr>
          <a:xfrm>
            <a:off x="8176989" y="3820408"/>
            <a:ext cx="4023704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14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4B1AC84-96D3-E2B2-7146-B855F1A6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633" y="51983"/>
            <a:ext cx="5635728" cy="2148841"/>
          </a:xfrm>
        </p:spPr>
        <p:txBody>
          <a:bodyPr>
            <a:normAutofit/>
          </a:bodyPr>
          <a:lstStyle/>
          <a:p>
            <a:r>
              <a:rPr lang="en-US" sz="4100" dirty="0"/>
              <a:t>Hands-on Steps: Session &amp; Password Management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067B65B-F51B-3F88-DE29-5543457B2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16" t="27199" r="11012" b="28362"/>
          <a:stretch>
            <a:fillRect/>
          </a:stretch>
        </p:blipFill>
        <p:spPr>
          <a:xfrm>
            <a:off x="2447887" y="5062492"/>
            <a:ext cx="5126636" cy="1795506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27E8102-E860-8871-7A44-29EC4A38A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65" y="1861917"/>
            <a:ext cx="7512291" cy="3507345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tr-TR" sz="2000" b="1" dirty="0"/>
              <a:t>1. </a:t>
            </a:r>
            <a:r>
              <a:rPr lang="en-US" sz="2000" b="1" dirty="0"/>
              <a:t>Log Out &amp; Initial Login:</a:t>
            </a:r>
            <a:endParaRPr lang="en-US" sz="20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Click upper-right system menu → Power icon → </a:t>
            </a:r>
            <a:r>
              <a:rPr lang="en-US" sz="2000" b="1" dirty="0"/>
              <a:t>Log Out</a:t>
            </a:r>
            <a:r>
              <a:rPr lang="en-US" sz="2000" dirty="0"/>
              <a:t> → Confirm </a:t>
            </a:r>
            <a:r>
              <a:rPr lang="en-US" sz="2000" b="1" dirty="0"/>
              <a:t>Log Out</a:t>
            </a:r>
            <a:r>
              <a:rPr lang="en-US" sz="20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Select </a:t>
            </a:r>
            <a:r>
              <a:rPr lang="en-US" sz="2000" b="1" dirty="0"/>
              <a:t>student</a:t>
            </a:r>
            <a:r>
              <a:rPr lang="en-US" sz="2000" dirty="0"/>
              <a:t> on GNOME login screen → Enter password: </a:t>
            </a:r>
            <a:r>
              <a:rPr lang="en-US" sz="2000" dirty="0">
                <a:latin typeface="Courier New" panose="02070309020205020404" pitchFamily="49" charset="0"/>
              </a:rPr>
              <a:t>student</a:t>
            </a:r>
            <a:r>
              <a:rPr lang="en-US" sz="2000" dirty="0"/>
              <a:t> → Press Enter.</a:t>
            </a:r>
          </a:p>
          <a:p>
            <a:pPr algn="just">
              <a:buNone/>
            </a:pPr>
            <a:r>
              <a:rPr lang="en-US" sz="2000" b="1" dirty="0"/>
              <a:t>2. Open Terminal &amp; Change Password:</a:t>
            </a:r>
            <a:endParaRPr lang="en-US" sz="20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Press </a:t>
            </a:r>
            <a:r>
              <a:rPr lang="en-US" sz="2000" b="1" dirty="0"/>
              <a:t>Super key twice</a:t>
            </a:r>
            <a:r>
              <a:rPr lang="en-US" sz="2000" dirty="0"/>
              <a:t> (or click upper-left Red Hat logo) → Type </a:t>
            </a:r>
            <a:r>
              <a:rPr lang="en-US" sz="2000" dirty="0">
                <a:latin typeface="Courier New" panose="02070309020205020404" pitchFamily="49" charset="0"/>
              </a:rPr>
              <a:t>terminal</a:t>
            </a:r>
            <a:r>
              <a:rPr lang="en-US" sz="2000" dirty="0"/>
              <a:t> → Press Enter.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Run </a:t>
            </a:r>
            <a:r>
              <a:rPr lang="en-US" sz="2000" dirty="0">
                <a:latin typeface="Courier New" panose="02070309020205020404" pitchFamily="49" charset="0"/>
              </a:rPr>
              <a:t>passwd</a:t>
            </a:r>
            <a:r>
              <a:rPr lang="en-US" sz="2000" dirty="0"/>
              <a:t> command at prompt to update password to </a:t>
            </a:r>
            <a:r>
              <a:rPr lang="en-US" sz="2000" dirty="0">
                <a:latin typeface="Courier New" panose="02070309020205020404" pitchFamily="49" charset="0"/>
              </a:rPr>
              <a:t>redhat!23</a:t>
            </a:r>
            <a:r>
              <a:rPr lang="en-US" sz="2000" dirty="0"/>
              <a:t>:</a:t>
            </a:r>
          </a:p>
          <a:p>
            <a:pPr algn="just"/>
            <a:endParaRPr lang="en-US" sz="20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905FD20-1BE8-0D18-8871-9C767956F1EA}"/>
              </a:ext>
            </a:extLst>
          </p:cNvPr>
          <p:cNvSpPr txBox="1"/>
          <p:nvPr/>
        </p:nvSpPr>
        <p:spPr>
          <a:xfrm>
            <a:off x="8292497" y="1644028"/>
            <a:ext cx="35719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/>
              <a:t>3. Password Verification:</a:t>
            </a:r>
            <a:endParaRPr lang="en-US" sz="20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Log out from system menu.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Log back in as </a:t>
            </a:r>
            <a:r>
              <a:rPr lang="en-US" sz="2000" b="1" dirty="0"/>
              <a:t>student</a:t>
            </a:r>
            <a:r>
              <a:rPr lang="en-US" sz="2000" dirty="0"/>
              <a:t> using new password: </a:t>
            </a:r>
            <a:r>
              <a:rPr lang="en-US" sz="2000" dirty="0">
                <a:latin typeface="Courier New" panose="02070309020205020404" pitchFamily="49" charset="0"/>
              </a:rPr>
              <a:t>redhat!23</a:t>
            </a:r>
            <a:r>
              <a:rPr lang="en-US" sz="2000" dirty="0"/>
              <a:t> → Press Enter.</a:t>
            </a:r>
          </a:p>
        </p:txBody>
      </p:sp>
    </p:spTree>
    <p:extLst>
      <p:ext uri="{BB962C8B-B14F-4D97-AF65-F5344CB8AC3E}">
        <p14:creationId xmlns:p14="http://schemas.microsoft.com/office/powerpoint/2010/main" val="185709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E7EE48-69EA-F664-DE58-684AD933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Locking, Power Verification &amp; Lab Cleanup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5D0127E5-54AE-546B-638F-A443B7D27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646183"/>
              </p:ext>
            </p:extLst>
          </p:nvPr>
        </p:nvGraphicFramePr>
        <p:xfrm>
          <a:off x="389745" y="1690688"/>
          <a:ext cx="7015395" cy="49638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8465">
                  <a:extLst>
                    <a:ext uri="{9D8B030D-6E8A-4147-A177-3AD203B41FA5}">
                      <a16:colId xmlns:a16="http://schemas.microsoft.com/office/drawing/2014/main" val="117893898"/>
                    </a:ext>
                  </a:extLst>
                </a:gridCol>
                <a:gridCol w="2338465">
                  <a:extLst>
                    <a:ext uri="{9D8B030D-6E8A-4147-A177-3AD203B41FA5}">
                      <a16:colId xmlns:a16="http://schemas.microsoft.com/office/drawing/2014/main" val="2668817036"/>
                    </a:ext>
                  </a:extLst>
                </a:gridCol>
                <a:gridCol w="2338465">
                  <a:extLst>
                    <a:ext uri="{9D8B030D-6E8A-4147-A177-3AD203B41FA5}">
                      <a16:colId xmlns:a16="http://schemas.microsoft.com/office/drawing/2014/main" val="911215513"/>
                    </a:ext>
                  </a:extLst>
                </a:gridCol>
              </a:tblGrid>
              <a:tr h="85039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1. Screen Lock &amp; Unlock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91" marR="59991" marT="39994" marB="3999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2. Shutdown Inspection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91" marR="59991" marT="39994" marB="3999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3. Finish &amp; Clean-up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91" marR="59991" marT="39994" marB="39994" anchor="ctr"/>
                </a:tc>
                <a:extLst>
                  <a:ext uri="{0D108BD9-81ED-4DB2-BD59-A6C34878D82A}">
                    <a16:rowId xmlns:a16="http://schemas.microsoft.com/office/drawing/2014/main" val="692209040"/>
                  </a:ext>
                </a:extLst>
              </a:tr>
              <a:tr h="41134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Lock: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System menu → Click Lock icon.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Unlock: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Press Enter.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Password field: enter redhat!23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Press Enter.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91" marR="59991" marT="39994" marB="3999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Action: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System menu → Power icon → Power Off.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Dialog displays options: Cancel or Power Off.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Click Cancel (inspect without shutting down).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91" marR="59991" marT="39994" marB="3999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Importance: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Resets student password back to student.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• Prevents previous exercise resources from impacting upcoming exercises.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9991" marR="59991" marT="39994" marB="39994" anchor="ctr"/>
                </a:tc>
                <a:extLst>
                  <a:ext uri="{0D108BD9-81ED-4DB2-BD59-A6C34878D82A}">
                    <a16:rowId xmlns:a16="http://schemas.microsoft.com/office/drawing/2014/main" val="3420845954"/>
                  </a:ext>
                </a:extLst>
              </a:tr>
            </a:tbl>
          </a:graphicData>
        </a:graphic>
      </p:graphicFrame>
      <p:sp>
        <p:nvSpPr>
          <p:cNvPr id="6" name="Metin kutusu 5">
            <a:extLst>
              <a:ext uri="{FF2B5EF4-FFF2-40B4-BE49-F238E27FC236}">
                <a16:creationId xmlns:a16="http://schemas.microsoft.com/office/drawing/2014/main" id="{247568DF-9723-C464-5A82-C84A00DE7828}"/>
              </a:ext>
            </a:extLst>
          </p:cNvPr>
          <p:cNvSpPr txBox="1"/>
          <p:nvPr/>
        </p:nvSpPr>
        <p:spPr>
          <a:xfrm>
            <a:off x="7676212" y="3105834"/>
            <a:ext cx="4103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Lab Finish Command (Run in terminal):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369D017-C93E-CCEA-2520-A655BB023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67" t="32362" r="17992" b="32361"/>
          <a:stretch>
            <a:fillRect/>
          </a:stretch>
        </p:blipFill>
        <p:spPr>
          <a:xfrm>
            <a:off x="7676212" y="4046225"/>
            <a:ext cx="4378377" cy="119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07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53CCA9-D3F3-F98C-A92E-531C6436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Bash Command Syntax &amp; Execution Rules</a:t>
            </a:r>
          </a:p>
        </p:txBody>
      </p:sp>
      <p:graphicFrame>
        <p:nvGraphicFramePr>
          <p:cNvPr id="10" name="İçerik Yer Tutucusu 2">
            <a:extLst>
              <a:ext uri="{FF2B5EF4-FFF2-40B4-BE49-F238E27FC236}">
                <a16:creationId xmlns:a16="http://schemas.microsoft.com/office/drawing/2014/main" id="{D7BF7CC7-EC26-8A09-E50A-72D38CCA66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712" y="1822424"/>
          <a:ext cx="5052933" cy="4350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Metin kutusu 4">
            <a:extLst>
              <a:ext uri="{FF2B5EF4-FFF2-40B4-BE49-F238E27FC236}">
                <a16:creationId xmlns:a16="http://schemas.microsoft.com/office/drawing/2014/main" id="{0BB20DC8-7CC0-733E-148F-541669CD9BDB}"/>
              </a:ext>
            </a:extLst>
          </p:cNvPr>
          <p:cNvSpPr txBox="1"/>
          <p:nvPr/>
        </p:nvSpPr>
        <p:spPr>
          <a:xfrm>
            <a:off x="5561350" y="1640878"/>
            <a:ext cx="5981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Single Command:</a:t>
            </a:r>
            <a:r>
              <a:rPr lang="en-US" dirty="0"/>
              <a:t> Produces output, followed by a new prompt: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534CCF55-F34A-0517-CC8F-E32CB753A04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497" t="31476" r="23060" b="30054"/>
          <a:stretch>
            <a:fillRect/>
          </a:stretch>
        </p:blipFill>
        <p:spPr>
          <a:xfrm>
            <a:off x="7886795" y="1988523"/>
            <a:ext cx="2718217" cy="1440477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FE3D0E0B-C99B-EE11-DAC8-9470AE2A7487}"/>
              </a:ext>
            </a:extLst>
          </p:cNvPr>
          <p:cNvSpPr txBox="1"/>
          <p:nvPr/>
        </p:nvSpPr>
        <p:spPr>
          <a:xfrm>
            <a:off x="5703228" y="3429000"/>
            <a:ext cx="5426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Command Chaining (Semicolon ;):</a:t>
            </a:r>
            <a:endParaRPr lang="en-US" dirty="0"/>
          </a:p>
          <a:p>
            <a:pPr lvl="0"/>
            <a:r>
              <a:rPr lang="en-US" dirty="0"/>
              <a:t>Semicolon is a </a:t>
            </a:r>
            <a:r>
              <a:rPr lang="en-US" b="1" dirty="0"/>
              <a:t>metacharacter</a:t>
            </a:r>
            <a:r>
              <a:rPr lang="en-US" dirty="0"/>
              <a:t> with special interpretation in Bash.</a:t>
            </a:r>
          </a:p>
          <a:p>
            <a:pPr lvl="0"/>
            <a:r>
              <a:rPr lang="en-US" dirty="0"/>
              <a:t>Combines multiple commands on a single line; outputs from all commands display before the next prompt appears:</a:t>
            </a: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37E6674E-DC84-CA8B-22E3-F13EB49D93E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487" t="28639" r="21296" b="28962"/>
          <a:stretch>
            <a:fillRect/>
          </a:stretch>
        </p:blipFill>
        <p:spPr>
          <a:xfrm>
            <a:off x="7567005" y="4969330"/>
            <a:ext cx="3357798" cy="169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31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C11373-75E6-FA23-3568-6B50242B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Utility Commands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1FA02E-CD70-B9E9-825E-E5376C42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23" y="1690688"/>
            <a:ext cx="5712502" cy="160337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/>
              <a:t>1. </a:t>
            </a:r>
            <a:r>
              <a:rPr lang="en-US" b="1" dirty="0">
                <a:latin typeface="Courier New" panose="02070309020205020404" pitchFamily="49" charset="0"/>
              </a:rPr>
              <a:t>date</a:t>
            </a:r>
            <a:r>
              <a:rPr lang="en-US" b="1" dirty="0"/>
              <a:t> (System Clock &amp; Time)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Displays current date and time (superuser/privileged users can set system clock).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Use the plus sign (</a:t>
            </a:r>
            <a:r>
              <a:rPr lang="en-US" dirty="0">
                <a:latin typeface="Courier New" panose="02070309020205020404" pitchFamily="49" charset="0"/>
              </a:rPr>
              <a:t>+</a:t>
            </a:r>
            <a:r>
              <a:rPr lang="en-US" dirty="0"/>
              <a:t>) argument for custom format strings:</a:t>
            </a:r>
          </a:p>
          <a:p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C1FA2EF-EDD3-C389-D664-0E85B2045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53" t="26621" r="22009" b="26222"/>
          <a:stretch>
            <a:fillRect/>
          </a:stretch>
        </p:blipFill>
        <p:spPr>
          <a:xfrm>
            <a:off x="1106774" y="3479089"/>
            <a:ext cx="3429000" cy="2281074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85C827F3-71B0-899E-91DC-E0B0120B961B}"/>
              </a:ext>
            </a:extLst>
          </p:cNvPr>
          <p:cNvSpPr txBox="1"/>
          <p:nvPr/>
        </p:nvSpPr>
        <p:spPr>
          <a:xfrm>
            <a:off x="6420787" y="1476713"/>
            <a:ext cx="57712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</a:t>
            </a:r>
            <a:r>
              <a:rPr lang="en-US" b="1" dirty="0">
                <a:latin typeface="Courier New" panose="02070309020205020404" pitchFamily="49" charset="0"/>
              </a:rPr>
              <a:t>passwd</a:t>
            </a:r>
            <a:r>
              <a:rPr lang="en-US" b="1" dirty="0"/>
              <a:t> (Credential Management)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Changes current user's password (requires entering current password first).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Superuser/privileged user can change another user's password.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Default policy enforces strong passwords (mixed case, numbers, symbols; no dictionary words):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C4C5109F-8C22-692B-415C-3973AFC57B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58" t="28634" r="19162" b="29519"/>
          <a:stretch>
            <a:fillRect/>
          </a:stretch>
        </p:blipFill>
        <p:spPr>
          <a:xfrm>
            <a:off x="6610662" y="3748906"/>
            <a:ext cx="3747541" cy="174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42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D3D87-7F0E-639D-C540-595AE2D2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A1ECFE-3DA5-5B01-053D-93C5CA9F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Utility Commands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07699A-E6F0-F654-83B6-FDE4D92F1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712502" cy="16033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3. file (File Type Identification)</a:t>
            </a:r>
            <a:endParaRPr lang="en-US" dirty="0"/>
          </a:p>
          <a:p>
            <a:r>
              <a:rPr lang="en-US" dirty="0"/>
              <a:t>Linux does </a:t>
            </a:r>
            <a:r>
              <a:rPr lang="en-US" b="1" dirty="0"/>
              <a:t>not</a:t>
            </a:r>
            <a:r>
              <a:rPr lang="en-US" dirty="0"/>
              <a:t> rely on file extensions to determine types.</a:t>
            </a:r>
          </a:p>
          <a:p>
            <a:r>
              <a:rPr lang="en-US" dirty="0"/>
              <a:t>Scans the compiled header for a 2-digit magic number; recognizes uncompiled text files: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67AF7D1-77D6-C35C-4183-99C2A98E93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19" t="24840" r="15419" b="26417"/>
          <a:stretch>
            <a:fillRect/>
          </a:stretch>
        </p:blipFill>
        <p:spPr>
          <a:xfrm>
            <a:off x="838200" y="3563938"/>
            <a:ext cx="5712502" cy="235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EDCCF8-BF90-A844-6ADC-51855BB2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File Contents: Full, Paged &amp; Sectioned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416B9B8-A3FB-4C1F-C702-5A53CFF0B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68120" cy="1133649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cat</a:t>
            </a:r>
            <a:r>
              <a:rPr lang="en-US" b="1" dirty="0"/>
              <a:t> Utility: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Concatenates, creates, and views full file contents; redirects output to files or terminal.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Can display multiple files sequentially:</a:t>
            </a:r>
          </a:p>
          <a:p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D75F42F-7CAF-FE47-C18B-8E1898F12C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43" t="31112" r="20966" b="31554"/>
          <a:stretch>
            <a:fillRect/>
          </a:stretch>
        </p:blipFill>
        <p:spPr>
          <a:xfrm>
            <a:off x="1422817" y="3094211"/>
            <a:ext cx="3119203" cy="1293892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7FB05BFA-2795-9EAD-22B2-741AF256EF44}"/>
              </a:ext>
            </a:extLst>
          </p:cNvPr>
          <p:cNvSpPr txBox="1"/>
          <p:nvPr/>
        </p:nvSpPr>
        <p:spPr>
          <a:xfrm>
            <a:off x="838200" y="4832523"/>
            <a:ext cx="5257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500" b="1" dirty="0">
                <a:latin typeface="Courier New" panose="02070309020205020404" pitchFamily="49" charset="0"/>
              </a:rPr>
              <a:t>less</a:t>
            </a:r>
            <a:r>
              <a:rPr lang="en-US" sz="1500" b="1" dirty="0"/>
              <a:t> Pager:</a:t>
            </a:r>
            <a:endParaRPr lang="en-US" sz="15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500" dirty="0"/>
              <a:t>For long files exceeding terminal window height (</a:t>
            </a:r>
            <a:r>
              <a:rPr lang="en-US" sz="1500" dirty="0">
                <a:latin typeface="Courier New" panose="02070309020205020404" pitchFamily="49" charset="0"/>
              </a:rPr>
              <a:t>cat</a:t>
            </a:r>
            <a:r>
              <a:rPr lang="en-US" sz="1500" dirty="0"/>
              <a:t> does not paginate).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500" dirty="0"/>
              <a:t>Displays one page at a time with scroll controls: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500" b="1" dirty="0" err="1"/>
              <a:t>UpArrow</a:t>
            </a:r>
            <a:r>
              <a:rPr lang="en-US" sz="1500" b="1" dirty="0"/>
              <a:t> / </a:t>
            </a:r>
            <a:r>
              <a:rPr lang="en-US" sz="1500" b="1" dirty="0" err="1"/>
              <a:t>DownArrow</a:t>
            </a:r>
            <a:r>
              <a:rPr lang="en-US" sz="1500" b="1" dirty="0"/>
              <a:t>:</a:t>
            </a:r>
            <a:r>
              <a:rPr lang="en-US" sz="1500" dirty="0"/>
              <a:t> Scroll up and down.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500" b="1" dirty="0"/>
              <a:t>Q:</a:t>
            </a:r>
            <a:r>
              <a:rPr lang="en-US" sz="1500" dirty="0"/>
              <a:t> Exit the viewer.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C54C2CFB-8C88-02EC-7497-07A9990C70A5}"/>
              </a:ext>
            </a:extLst>
          </p:cNvPr>
          <p:cNvSpPr txBox="1"/>
          <p:nvPr/>
        </p:nvSpPr>
        <p:spPr>
          <a:xfrm>
            <a:off x="6250898" y="1690688"/>
            <a:ext cx="60935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latin typeface="Courier New" panose="02070309020205020404" pitchFamily="49" charset="0"/>
              </a:rPr>
              <a:t>head</a:t>
            </a:r>
            <a:r>
              <a:rPr lang="en-US" sz="1500" b="1" dirty="0"/>
              <a:t>:</a:t>
            </a:r>
            <a:r>
              <a:rPr lang="en-US" sz="1500" dirty="0"/>
              <a:t> Displays file beginning (default: first 10 lines).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latin typeface="Courier New" panose="02070309020205020404" pitchFamily="49" charset="0"/>
              </a:rPr>
              <a:t>tail</a:t>
            </a:r>
            <a:r>
              <a:rPr lang="en-US" sz="1500" b="1" dirty="0"/>
              <a:t>:</a:t>
            </a:r>
            <a:r>
              <a:rPr lang="en-US" sz="1500" dirty="0"/>
              <a:t> Displays file ending (default: last 10 lines).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500" b="1" dirty="0">
                <a:latin typeface="Courier New" panose="02070309020205020404" pitchFamily="49" charset="0"/>
              </a:rPr>
              <a:t>-n</a:t>
            </a:r>
            <a:r>
              <a:rPr lang="en-US" sz="1500" b="1" dirty="0"/>
              <a:t> Option:</a:t>
            </a:r>
            <a:r>
              <a:rPr lang="en-US" sz="1500" dirty="0"/>
              <a:t> Customizes the number of output lines:</a:t>
            </a: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5CE82C2A-314E-4D40-F8D0-590EA6D59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00" y="2956099"/>
            <a:ext cx="4544520" cy="154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58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9F1DEB-6F12-8EF8-D1DB-719EB056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File Statistics with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06526D8-3E9E-3AB0-0DAD-3CE8AE47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005997" cy="524655"/>
          </a:xfrm>
        </p:spPr>
        <p:txBody>
          <a:bodyPr>
            <a:normAutofit/>
          </a:bodyPr>
          <a:lstStyle/>
          <a:p>
            <a:r>
              <a:rPr lang="en-US" sz="1800" b="1" dirty="0"/>
              <a:t>The </a:t>
            </a:r>
            <a:r>
              <a:rPr lang="en-US" sz="1800" b="1" dirty="0" err="1">
                <a:latin typeface="Courier New" panose="02070309020205020404" pitchFamily="49" charset="0"/>
              </a:rPr>
              <a:t>wc</a:t>
            </a:r>
            <a:r>
              <a:rPr lang="en-US" sz="1800" b="1" dirty="0"/>
              <a:t> Command:</a:t>
            </a:r>
            <a:r>
              <a:rPr lang="en-US" sz="1800" dirty="0"/>
              <a:t> Counts lines, words, and characters within target files.</a:t>
            </a: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214A1FA3-FD38-4782-E3B7-DAFB06E22C5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23014"/>
          <a:ext cx="10515600" cy="3230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266346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927887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53242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Option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Flag Description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Output Detail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34976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(None)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Default execution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Prints line count, word count, byte/char count, and filename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53866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25">
                          <a:effectLst/>
                        </a:rPr>
                        <a:t>-l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Lines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Displays only the number of newline lines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7961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25">
                          <a:effectLst/>
                        </a:rPr>
                        <a:t>-w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Words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Displays only the number of words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64883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25">
                          <a:effectLst/>
                        </a:rPr>
                        <a:t>-m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Characters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Displays only the total character count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56034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34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0D9C9-1872-5E6E-DAA7-5170A66C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88B7FB4-6CF9-F6D0-FAAD-9716E3E9E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Counting File Statistics with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A22B423-B2E6-9239-A200-0550B2753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908" y="5086350"/>
            <a:ext cx="2446465" cy="11782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 Variations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C99C68BA-1706-BFE8-8263-69427CFC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343664"/>
            <a:ext cx="7608304" cy="4241628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02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79EFA30-3199-8359-D5A3-6E2C4E7C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Speeding Up Input with Tab Completion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5ACB5C-18AA-BA3F-C628-1630A4FED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19007" cy="4215410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en-US" b="1" dirty="0"/>
              <a:t>The Tab Key Functionality:</a:t>
            </a:r>
            <a:endParaRPr lang="en-US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Unique Match:</a:t>
            </a:r>
            <a:r>
              <a:rPr lang="en-US" dirty="0"/>
              <a:t> Automatically completes command names, file paths, or option flags.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Non-Unique Match:</a:t>
            </a:r>
            <a:r>
              <a:rPr lang="en-US" dirty="0"/>
              <a:t> Pressing </a:t>
            </a:r>
            <a:r>
              <a:rPr lang="en-US" b="1" dirty="0"/>
              <a:t>Tab twice</a:t>
            </a:r>
            <a:r>
              <a:rPr lang="en-US" dirty="0"/>
              <a:t> lists all possible completions matching the entered characters.</a:t>
            </a:r>
          </a:p>
          <a:p>
            <a:endParaRPr lang="en-US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C6400B10-DFED-C45D-3F90-EE2BF51DB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84971"/>
              </p:ext>
            </p:extLst>
          </p:nvPr>
        </p:nvGraphicFramePr>
        <p:xfrm>
          <a:off x="5583128" y="1825624"/>
          <a:ext cx="5899338" cy="42154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6446">
                  <a:extLst>
                    <a:ext uri="{9D8B030D-6E8A-4147-A177-3AD203B41FA5}">
                      <a16:colId xmlns:a16="http://schemas.microsoft.com/office/drawing/2014/main" val="573407804"/>
                    </a:ext>
                  </a:extLst>
                </a:gridCol>
                <a:gridCol w="1966446">
                  <a:extLst>
                    <a:ext uri="{9D8B030D-6E8A-4147-A177-3AD203B41FA5}">
                      <a16:colId xmlns:a16="http://schemas.microsoft.com/office/drawing/2014/main" val="347076421"/>
                    </a:ext>
                  </a:extLst>
                </a:gridCol>
                <a:gridCol w="1966446">
                  <a:extLst>
                    <a:ext uri="{9D8B030D-6E8A-4147-A177-3AD203B41FA5}">
                      <a16:colId xmlns:a16="http://schemas.microsoft.com/office/drawing/2014/main" val="1549188032"/>
                    </a:ext>
                  </a:extLst>
                </a:gridCol>
              </a:tblGrid>
              <a:tr h="29793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Target Type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Shell Input &amp; Action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Output / Behavior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extLst>
                  <a:ext uri="{0D108BD9-81ED-4DB2-BD59-A6C34878D82A}">
                    <a16:rowId xmlns:a16="http://schemas.microsoft.com/office/drawing/2014/main" val="2732726136"/>
                  </a:ext>
                </a:extLst>
              </a:tr>
              <a:tr h="180977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Commands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600" dirty="0" err="1">
                          <a:effectLst/>
                        </a:rPr>
                        <a:t>user@host</a:t>
                      </a:r>
                      <a:r>
                        <a:rPr lang="en-US" sz="600" dirty="0">
                          <a:effectLst/>
                        </a:rPr>
                        <a:t>:~$ pas</a:t>
                      </a:r>
                      <a:r>
                        <a:rPr lang="en-US" sz="1000" dirty="0">
                          <a:effectLst/>
                        </a:rPr>
                        <a:t> + [Tab][Tab]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600" dirty="0" err="1">
                          <a:effectLst/>
                        </a:rPr>
                        <a:t>user@host</a:t>
                      </a:r>
                      <a:r>
                        <a:rPr lang="en-US" sz="600" dirty="0">
                          <a:effectLst/>
                        </a:rPr>
                        <a:t>:~$ pass</a:t>
                      </a:r>
                      <a:r>
                        <a:rPr lang="en-US" sz="1000" dirty="0">
                          <a:effectLst/>
                        </a:rPr>
                        <a:t> + [Tab][Tab]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600" dirty="0" err="1">
                          <a:effectLst/>
                        </a:rPr>
                        <a:t>user@host</a:t>
                      </a:r>
                      <a:r>
                        <a:rPr lang="en-US" sz="600" dirty="0">
                          <a:effectLst/>
                        </a:rPr>
                        <a:t>:~$ </a:t>
                      </a:r>
                      <a:r>
                        <a:rPr lang="en-US" sz="600" dirty="0" err="1">
                          <a:effectLst/>
                        </a:rPr>
                        <a:t>passw</a:t>
                      </a:r>
                      <a:r>
                        <a:rPr lang="en-US" sz="1000" dirty="0">
                          <a:effectLst/>
                        </a:rPr>
                        <a:t> + [Tab]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Lists matching binaries (</a:t>
                      </a:r>
                      <a:r>
                        <a:rPr lang="en-US" sz="600" dirty="0" err="1">
                          <a:effectLst/>
                        </a:rPr>
                        <a:t>passt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600" dirty="0">
                          <a:effectLst/>
                        </a:rPr>
                        <a:t>passwd</a:t>
                      </a:r>
                      <a:r>
                        <a:rPr lang="en-US" sz="1000" dirty="0">
                          <a:effectLst/>
                        </a:rPr>
                        <a:t>, etc.)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Narrows choices down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Auto-completes to </a:t>
                      </a:r>
                      <a:r>
                        <a:rPr lang="en-US" sz="600" dirty="0">
                          <a:effectLst/>
                        </a:rPr>
                        <a:t>passwd</a:t>
                      </a:r>
                      <a:r>
                        <a:rPr lang="en-US" sz="1000" dirty="0">
                          <a:effectLst/>
                        </a:rPr>
                        <a:t> and triggers prompt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extLst>
                  <a:ext uri="{0D108BD9-81ED-4DB2-BD59-A6C34878D82A}">
                    <a16:rowId xmlns:a16="http://schemas.microsoft.com/office/drawing/2014/main" val="157442370"/>
                  </a:ext>
                </a:extLst>
              </a:tr>
              <a:tr h="124283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File Arguments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600" dirty="0" err="1">
                          <a:effectLst/>
                        </a:rPr>
                        <a:t>user@host</a:t>
                      </a:r>
                      <a:r>
                        <a:rPr lang="en-US" sz="600" dirty="0">
                          <a:effectLst/>
                        </a:rPr>
                        <a:t>:~$ ls /</a:t>
                      </a:r>
                      <a:r>
                        <a:rPr lang="en-US" sz="600" dirty="0" err="1">
                          <a:effectLst/>
                        </a:rPr>
                        <a:t>etc</a:t>
                      </a:r>
                      <a:r>
                        <a:rPr lang="en-US" sz="600" dirty="0">
                          <a:effectLst/>
                        </a:rPr>
                        <a:t>/pas</a:t>
                      </a:r>
                      <a:r>
                        <a:rPr lang="en-US" sz="1000" dirty="0">
                          <a:effectLst/>
                        </a:rPr>
                        <a:t> + [Tab]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600" dirty="0" err="1">
                          <a:effectLst/>
                        </a:rPr>
                        <a:t>user@host</a:t>
                      </a:r>
                      <a:r>
                        <a:rPr lang="en-US" sz="600" dirty="0">
                          <a:effectLst/>
                        </a:rPr>
                        <a:t>:~$ ls /</a:t>
                      </a:r>
                      <a:r>
                        <a:rPr lang="en-US" sz="600" dirty="0" err="1">
                          <a:effectLst/>
                        </a:rPr>
                        <a:t>etc</a:t>
                      </a:r>
                      <a:r>
                        <a:rPr lang="en-US" sz="600" dirty="0">
                          <a:effectLst/>
                        </a:rPr>
                        <a:t>/passwd</a:t>
                      </a:r>
                      <a:r>
                        <a:rPr lang="en-US" sz="1000" dirty="0">
                          <a:effectLst/>
                        </a:rPr>
                        <a:t> + [Tab]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Auto-completes up to common prefix </a:t>
                      </a:r>
                      <a:r>
                        <a:rPr lang="en-US" sz="600" dirty="0">
                          <a:effectLst/>
                        </a:rPr>
                        <a:t>/</a:t>
                      </a:r>
                      <a:r>
                        <a:rPr lang="en-US" sz="600" dirty="0" err="1">
                          <a:effectLst/>
                        </a:rPr>
                        <a:t>etc</a:t>
                      </a:r>
                      <a:r>
                        <a:rPr lang="en-US" sz="600" dirty="0">
                          <a:effectLst/>
                        </a:rPr>
                        <a:t>/passwd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Pressing Tab again displays: </a:t>
                      </a:r>
                      <a:r>
                        <a:rPr lang="en-US" sz="600" dirty="0">
                          <a:effectLst/>
                        </a:rPr>
                        <a:t>passwd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600" dirty="0" err="1">
                          <a:effectLst/>
                        </a:rPr>
                        <a:t>passwd</a:t>
                      </a:r>
                      <a:r>
                        <a:rPr lang="en-US" sz="600" dirty="0">
                          <a:effectLst/>
                        </a:rPr>
                        <a:t>-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extLst>
                  <a:ext uri="{0D108BD9-81ED-4DB2-BD59-A6C34878D82A}">
                    <a16:rowId xmlns:a16="http://schemas.microsoft.com/office/drawing/2014/main" val="879417884"/>
                  </a:ext>
                </a:extLst>
              </a:tr>
              <a:tr h="86487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Long Options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600" dirty="0" err="1">
                          <a:effectLst/>
                        </a:rPr>
                        <a:t>root@host</a:t>
                      </a:r>
                      <a:r>
                        <a:rPr lang="en-US" sz="600" dirty="0">
                          <a:effectLst/>
                        </a:rPr>
                        <a:t>:~# </a:t>
                      </a:r>
                      <a:r>
                        <a:rPr lang="en-US" sz="600" dirty="0" err="1">
                          <a:effectLst/>
                        </a:rPr>
                        <a:t>useradd</a:t>
                      </a:r>
                      <a:r>
                        <a:rPr lang="en-US" sz="600" dirty="0">
                          <a:effectLst/>
                        </a:rPr>
                        <a:t> --</a:t>
                      </a:r>
                      <a:r>
                        <a:rPr lang="en-US" sz="1000" dirty="0">
                          <a:effectLst/>
                        </a:rPr>
                        <a:t> + [Tab][Tab]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Displays all available long flags (</a:t>
                      </a:r>
                      <a:r>
                        <a:rPr lang="en-US" sz="600" dirty="0">
                          <a:effectLst/>
                        </a:rPr>
                        <a:t>--home-</a:t>
                      </a:r>
                      <a:r>
                        <a:rPr lang="en-US" sz="600" dirty="0" err="1">
                          <a:effectLst/>
                        </a:rPr>
                        <a:t>dir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600" dirty="0">
                          <a:effectLst/>
                        </a:rPr>
                        <a:t>--shell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600" dirty="0">
                          <a:effectLst/>
                        </a:rPr>
                        <a:t>--</a:t>
                      </a:r>
                      <a:r>
                        <a:rPr lang="en-US" sz="600" dirty="0" err="1">
                          <a:effectLst/>
                        </a:rPr>
                        <a:t>uid</a:t>
                      </a:r>
                      <a:r>
                        <a:rPr lang="en-US" sz="1000" dirty="0">
                          <a:effectLst/>
                        </a:rPr>
                        <a:t>, etc.) without needing manual lookup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896" marR="65896" marT="43931" marB="43931" anchor="ctr"/>
                </a:tc>
                <a:extLst>
                  <a:ext uri="{0D108BD9-81ED-4DB2-BD59-A6C34878D82A}">
                    <a16:rowId xmlns:a16="http://schemas.microsoft.com/office/drawing/2014/main" val="1755445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877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7E95AF1-1D16-8159-56A9-E1D700B7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>
            <a:normAutofit/>
          </a:bodyPr>
          <a:lstStyle/>
          <a:p>
            <a:r>
              <a:rPr lang="en-US" dirty="0"/>
              <a:t>Multi-Line Long Commands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43FD47B-A47A-A8A3-86F5-EA94FC9FE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10" b="19956"/>
          <a:stretch>
            <a:fillRect/>
          </a:stretch>
        </p:blipFill>
        <p:spPr>
          <a:xfrm>
            <a:off x="-119921" y="1994230"/>
            <a:ext cx="7495082" cy="4361982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B06A28-942E-4D6F-3788-8C265204C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/>
              <a:t>The Problem:</a:t>
            </a:r>
            <a:r>
              <a:rPr lang="en-US" sz="2000"/>
              <a:t> Commands with multiple options and targets grow long and wrap awkwardly at the terminal margin.</a:t>
            </a:r>
          </a:p>
          <a:p>
            <a:pPr marL="0" lvl="0" indent="0">
              <a:buNone/>
            </a:pPr>
            <a:r>
              <a:rPr lang="en-US" sz="2000" b="1"/>
              <a:t>The Solution:</a:t>
            </a:r>
            <a:r>
              <a:rPr lang="en-US" sz="2000"/>
              <a:t> Use the backslash (</a:t>
            </a:r>
            <a:r>
              <a:rPr lang="en-US" sz="2000">
                <a:latin typeface="Courier New" panose="02070309020205020404" pitchFamily="49" charset="0"/>
              </a:rPr>
              <a:t>\</a:t>
            </a:r>
            <a:r>
              <a:rPr lang="en-US" sz="2000"/>
              <a:t>) escape character at the end of a line.</a:t>
            </a:r>
          </a:p>
          <a:p>
            <a:pPr marL="0" lvl="0" indent="0">
              <a:buNone/>
            </a:pPr>
            <a:r>
              <a:rPr lang="en-US" sz="2000" b="1"/>
              <a:t>Mechanics:</a:t>
            </a:r>
            <a:endParaRPr lang="en-US" sz="2000"/>
          </a:p>
          <a:p>
            <a:pPr lvl="1"/>
            <a:r>
              <a:rPr lang="en-US" sz="2000"/>
              <a:t>Escapes the newline character (Enter).</a:t>
            </a:r>
          </a:p>
          <a:p>
            <a:pPr lvl="1"/>
            <a:r>
              <a:rPr lang="en-US" sz="2000"/>
              <a:t>Moves the cursor to a new line without executing the command.</a:t>
            </a:r>
          </a:p>
          <a:p>
            <a:pPr lvl="1"/>
            <a:r>
              <a:rPr lang="en-US" sz="2000"/>
              <a:t>Spawns a secondary continuation prompt (</a:t>
            </a:r>
            <a:r>
              <a:rPr lang="en-US" sz="2000">
                <a:latin typeface="Courier New" panose="02070309020205020404" pitchFamily="49" charset="0"/>
              </a:rPr>
              <a:t>&gt;</a:t>
            </a:r>
            <a:r>
              <a:rPr lang="en-US" sz="2000"/>
              <a:t> by default).</a:t>
            </a:r>
          </a:p>
          <a:p>
            <a:endParaRPr lang="en-US" sz="200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82437E6-9959-4692-C805-02FA8724EBBB}"/>
              </a:ext>
            </a:extLst>
          </p:cNvPr>
          <p:cNvSpPr txBox="1"/>
          <p:nvPr/>
        </p:nvSpPr>
        <p:spPr>
          <a:xfrm>
            <a:off x="6791500" y="5396459"/>
            <a:ext cx="5224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Important Caution on </a:t>
            </a:r>
            <a:r>
              <a:rPr lang="en-US" b="1" dirty="0">
                <a:latin typeface="Courier New" panose="02070309020205020404" pitchFamily="49" charset="0"/>
              </a:rPr>
              <a:t>&gt;</a:t>
            </a:r>
            <a:r>
              <a:rPr lang="en-US" b="1" dirty="0"/>
              <a:t> Prompt:</a:t>
            </a:r>
            <a:r>
              <a:rPr lang="en-US" dirty="0"/>
              <a:t> The shell automatically presents </a:t>
            </a:r>
            <a:r>
              <a:rPr lang="en-US" dirty="0">
                <a:latin typeface="Courier New" panose="02070309020205020404" pitchFamily="49" charset="0"/>
              </a:rPr>
              <a:t>&gt;</a:t>
            </a:r>
            <a:r>
              <a:rPr lang="en-US" dirty="0"/>
              <a:t> as the continuation prompt. Do </a:t>
            </a:r>
            <a:r>
              <a:rPr lang="en-US" b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anose="02070309020205020404" pitchFamily="49" charset="0"/>
              </a:rPr>
              <a:t>&gt;</a:t>
            </a:r>
            <a:r>
              <a:rPr lang="en-US" dirty="0"/>
              <a:t>; entering </a:t>
            </a:r>
            <a:r>
              <a:rPr lang="en-US" dirty="0">
                <a:latin typeface="Courier New" panose="02070309020205020404" pitchFamily="49" charset="0"/>
              </a:rPr>
              <a:t>&gt;</a:t>
            </a:r>
            <a:r>
              <a:rPr lang="en-US" dirty="0"/>
              <a:t> manually causes unintentional shell output redirection.</a:t>
            </a:r>
          </a:p>
        </p:txBody>
      </p:sp>
      <p:pic>
        <p:nvPicPr>
          <p:cNvPr id="9" name="Grafik 8" descr="Ataş düz dolguyla">
            <a:extLst>
              <a:ext uri="{FF2B5EF4-FFF2-40B4-BE49-F238E27FC236}">
                <a16:creationId xmlns:a16="http://schemas.microsoft.com/office/drawing/2014/main" id="{5C0F454B-DBF7-4ABA-24DA-81195F2FF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1608" y="5703447"/>
            <a:ext cx="486787" cy="4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29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AF8267-3F6E-E71C-3058-B709B935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History &amp; Navigation Shortcuts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D1205CE1-3F26-7087-CFE3-6F82E3AD52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8980357" cy="1487201"/>
              </a:xfrm>
            </p:spPr>
            <p:txBody>
              <a:bodyPr>
                <a:normAutofit fontScale="55000" lnSpcReduction="20000"/>
              </a:bodyPr>
              <a:lstStyle/>
              <a:p>
                <a:pPr marL="0" marR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History Inspection &amp; Expansion:</a:t>
                </a:r>
                <a:endParaRPr lang="en-US" dirty="0">
                  <a:effectLst/>
                  <a:latin typeface="Google Sans Text"/>
                </a:endParaRPr>
              </a:p>
              <a:p>
                <a:pPr marL="0" marR="0" lvl="0" indent="-342900" algn="just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history Command:</a:t>
                </a:r>
                <a:r>
                  <a:rPr lang="en-US" dirty="0">
                    <a:effectLst/>
                    <a:latin typeface="Google Sans Text"/>
                  </a:rPr>
                  <a:t> Lists previously run commands prefixed with an index number.</a:t>
                </a:r>
              </a:p>
              <a:p>
                <a:pPr marL="0" marR="0" lvl="0" indent="-342900" algn="just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!string Metacharacter:</a:t>
                </a:r>
                <a:r>
                  <a:rPr lang="en-US" dirty="0">
                    <a:effectLst/>
                    <a:latin typeface="Google Sans Text"/>
                  </a:rPr>
                  <a:t> Re-executes the most recent command starting with string (e.g., !ls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effectLst/>
                    <a:latin typeface="Google Sans Text"/>
                  </a:rPr>
                  <a:t>runs ls -l).</a:t>
                </a:r>
              </a:p>
              <a:p>
                <a:pPr marL="0" marR="0" lvl="0" indent="-342900" algn="just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Google Sans Text"/>
                  </a:rPr>
                  <a:t>!number Metacharacter:</a:t>
                </a:r>
                <a:r>
                  <a:rPr lang="en-US" dirty="0">
                    <a:effectLst/>
                    <a:latin typeface="Google Sans Text"/>
                  </a:rPr>
                  <a:t> Re-executes the exact command matching that number (e.g., !26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effectLst/>
                    <a:latin typeface="Google Sans Text"/>
                  </a:rPr>
                  <a:t>runs ls /</a:t>
                </a:r>
                <a:r>
                  <a:rPr lang="en-US" dirty="0" err="1">
                    <a:effectLst/>
                    <a:latin typeface="Google Sans Text"/>
                  </a:rPr>
                  <a:t>etc</a:t>
                </a:r>
                <a:r>
                  <a:rPr lang="en-US" dirty="0">
                    <a:effectLst/>
                    <a:latin typeface="Google Sans Text"/>
                  </a:rPr>
                  <a:t>).</a:t>
                </a:r>
              </a:p>
              <a:p>
                <a:pPr marL="0" indent="0" algn="just">
                  <a:buNone/>
                </a:pPr>
                <a:r>
                  <a:rPr lang="en-US" dirty="0"/>
                  <a:t>Navigation &amp; Parameter Recall Shortcuts:</a:t>
                </a:r>
              </a:p>
            </p:txBody>
          </p:sp>
        </mc:Choice>
        <mc:Fallback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D1205CE1-3F26-7087-CFE3-6F82E3AD52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8980357" cy="1487201"/>
              </a:xfrm>
              <a:blipFill>
                <a:blip r:embed="rId2"/>
                <a:stretch>
                  <a:fillRect l="-272" t="-4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o 3">
                <a:extLst>
                  <a:ext uri="{FF2B5EF4-FFF2-40B4-BE49-F238E27FC236}">
                    <a16:creationId xmlns:a16="http://schemas.microsoft.com/office/drawing/2014/main" id="{E6E38038-258A-191C-FE14-573970217B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3589372"/>
                  </p:ext>
                </p:extLst>
              </p:nvPr>
            </p:nvGraphicFramePr>
            <p:xfrm>
              <a:off x="2970550" y="3177889"/>
              <a:ext cx="6503232" cy="3680113"/>
            </p:xfrm>
            <a:graphic>
              <a:graphicData uri="http://schemas.openxmlformats.org/drawingml/2006/table">
                <a:tbl>
                  <a:tblPr/>
                  <a:tblGrid>
                    <a:gridCol w="3251616">
                      <a:extLst>
                        <a:ext uri="{9D8B030D-6E8A-4147-A177-3AD203B41FA5}">
                          <a16:colId xmlns:a16="http://schemas.microsoft.com/office/drawing/2014/main" val="1085286937"/>
                        </a:ext>
                      </a:extLst>
                    </a:gridCol>
                    <a:gridCol w="3251616">
                      <a:extLst>
                        <a:ext uri="{9D8B030D-6E8A-4147-A177-3AD203B41FA5}">
                          <a16:colId xmlns:a16="http://schemas.microsoft.com/office/drawing/2014/main" val="2147324589"/>
                        </a:ext>
                      </a:extLst>
                    </a:gridCol>
                  </a:tblGrid>
                  <a:tr h="41272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Key Combination</a:t>
                          </a:r>
                          <a:endParaRPr lang="en-US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Functional Action</a:t>
                          </a:r>
                          <a:endParaRPr lang="en-US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003593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Up Arrow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smtClean="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)</a:t>
                          </a:r>
                          <a:endParaRPr lang="en-US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Moves backward to navigate and edit previous commands in history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3782995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Down Arrow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smtClean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)</a:t>
                          </a:r>
                          <a:endParaRPr lang="en-US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Moves forward to navigate next commands in history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042115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Left / Right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smtClean="0"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/→</m:t>
                              </m:r>
                            </m:oMath>
                          </a14:m>
                          <a:r>
                            <a:rPr lang="en-US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)</a:t>
                          </a:r>
                          <a:endParaRPr lang="en-US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Moves cursor within the active command line for in-place editing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9094827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Alt + .</a:t>
                          </a: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400" i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(or Esc + .)</a:t>
                          </a:r>
                          <a:endParaRPr lang="en-US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Inserts the </a:t>
                          </a:r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last argument/word</a:t>
                          </a: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of the previous command at the cursor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37103630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Holding Alt and pressing </a:t>
                          </a:r>
                          <a:r>
                            <a:rPr lang="en-US" sz="1400" b="0" i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.</a:t>
                          </a:r>
                          <a:endParaRPr lang="en-US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Rapidly cycles backward through last arguments of older commands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52010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o 3">
                <a:extLst>
                  <a:ext uri="{FF2B5EF4-FFF2-40B4-BE49-F238E27FC236}">
                    <a16:creationId xmlns:a16="http://schemas.microsoft.com/office/drawing/2014/main" id="{E6E38038-258A-191C-FE14-573970217B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3589372"/>
                  </p:ext>
                </p:extLst>
              </p:nvPr>
            </p:nvGraphicFramePr>
            <p:xfrm>
              <a:off x="2970550" y="3177889"/>
              <a:ext cx="6503232" cy="3680113"/>
            </p:xfrm>
            <a:graphic>
              <a:graphicData uri="http://schemas.openxmlformats.org/drawingml/2006/table">
                <a:tbl>
                  <a:tblPr/>
                  <a:tblGrid>
                    <a:gridCol w="3251616">
                      <a:extLst>
                        <a:ext uri="{9D8B030D-6E8A-4147-A177-3AD203B41FA5}">
                          <a16:colId xmlns:a16="http://schemas.microsoft.com/office/drawing/2014/main" val="1085286937"/>
                        </a:ext>
                      </a:extLst>
                    </a:gridCol>
                    <a:gridCol w="3251616">
                      <a:extLst>
                        <a:ext uri="{9D8B030D-6E8A-4147-A177-3AD203B41FA5}">
                          <a16:colId xmlns:a16="http://schemas.microsoft.com/office/drawing/2014/main" val="2147324589"/>
                        </a:ext>
                      </a:extLst>
                    </a:gridCol>
                  </a:tblGrid>
                  <a:tr h="41272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Key Combination</a:t>
                          </a:r>
                          <a:endParaRPr lang="en-US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Functional Action</a:t>
                          </a:r>
                          <a:endParaRPr lang="en-US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003593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" t="-64486" r="-100187" b="-402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Moves backward to navigate and edit previous commands in history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3782995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" t="-162963" r="-100187" b="-299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Moves forward to navigate next commands in history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042115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7" t="-265421" r="-100187" b="-2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Moves cursor within the active command line for in-place editing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9094827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Alt + .</a:t>
                          </a: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400" i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(or Esc + .)</a:t>
                          </a:r>
                          <a:endParaRPr lang="en-US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Inserts the </a:t>
                          </a:r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last argument/word</a:t>
                          </a:r>
                          <a:r>
                            <a:rPr lang="en-US" sz="140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of the previous command at the cursor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37103630"/>
                      </a:ext>
                    </a:extLst>
                  </a:tr>
                  <a:tr h="653478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Holding Alt and pressing </a:t>
                          </a:r>
                          <a:r>
                            <a:rPr lang="en-US" sz="1400" b="0" i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.</a:t>
                          </a:r>
                          <a:endParaRPr lang="en-US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Rapidly cycles backward through last arguments of older commands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52010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3453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326C04-504C-4922-0335-2882E94D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Command-Line Editing Shortcuts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9A1BAE-D192-0031-1FB2-A9CB9D2CA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398" y="1523974"/>
            <a:ext cx="7691203" cy="13255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Core Principle:</a:t>
            </a:r>
            <a:endParaRPr lang="en-US" dirty="0"/>
          </a:p>
          <a:p>
            <a:r>
              <a:rPr lang="en-US" dirty="0"/>
              <a:t>Bash provides built-in text-editing controls to quickly navigate, modify, and search commands interactively without manual retyping.</a:t>
            </a:r>
          </a:p>
          <a:p>
            <a:pPr marL="0" indent="0">
              <a:buNone/>
            </a:pPr>
            <a:r>
              <a:rPr lang="en-US" b="1" dirty="0"/>
              <a:t>Key Editing &amp; Navigation Shortcuts:</a:t>
            </a:r>
            <a:endParaRPr lang="en-US" dirty="0"/>
          </a:p>
          <a:p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6BA6959-AF28-7333-6906-F233D7D93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440" y="2942679"/>
            <a:ext cx="9145276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81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6073A2-29BE-D8D5-8A42-6015CEF1D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 Overview: Access the Command Line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1C836D-F882-74D5-ECC1-07665942D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8377" cy="3990559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Access the CLI:</a:t>
            </a:r>
            <a:r>
              <a:rPr lang="en-US" dirty="0"/>
              <a:t> Access the command line on a Linux system and use the Bash shell to run commands.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Core Outcomes: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Successfully run simple programs from the Bash shell command 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Execute commands to identify file types and display parts of text files.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Practice Bash command history shortcuts to repeat commands or arguments efficiently.</a:t>
            </a:r>
          </a:p>
          <a:p>
            <a:endParaRPr lang="en-US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7BC95FC-212A-95B1-323E-ABC2970D9CA8}"/>
              </a:ext>
            </a:extLst>
          </p:cNvPr>
          <p:cNvSpPr txBox="1"/>
          <p:nvPr/>
        </p:nvSpPr>
        <p:spPr>
          <a:xfrm>
            <a:off x="6254646" y="1690688"/>
            <a:ext cx="55326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/>
              <a:t>Host:</a:t>
            </a:r>
            <a:r>
              <a:rPr lang="en-US" sz="2400" dirty="0"/>
              <a:t> </a:t>
            </a:r>
            <a:r>
              <a:rPr lang="en-US" sz="2400" dirty="0">
                <a:latin typeface="Courier New" panose="02070309020205020404" pitchFamily="49" charset="0"/>
              </a:rPr>
              <a:t>workstation</a:t>
            </a:r>
            <a:endParaRPr lang="en-US" sz="2400" dirty="0"/>
          </a:p>
          <a:p>
            <a:pPr lvl="0"/>
            <a:r>
              <a:rPr lang="en-US" sz="2400" b="1" dirty="0"/>
              <a:t>Account:</a:t>
            </a:r>
            <a:r>
              <a:rPr lang="en-US" sz="2400" dirty="0"/>
              <a:t> </a:t>
            </a:r>
            <a:r>
              <a:rPr lang="en-US" sz="2400" dirty="0">
                <a:latin typeface="Courier New" panose="02070309020205020404" pitchFamily="49" charset="0"/>
              </a:rPr>
              <a:t>student</a:t>
            </a:r>
            <a:endParaRPr lang="en-US" sz="2400" dirty="0"/>
          </a:p>
          <a:p>
            <a:pPr lvl="0"/>
            <a:r>
              <a:rPr lang="en-US" sz="2400" b="1" dirty="0"/>
              <a:t>Setup Action:</a:t>
            </a:r>
            <a:r>
              <a:rPr lang="en-US" sz="2400" dirty="0"/>
              <a:t> Prepares the environment and ensures required resources are present: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1E82B7B-B9A8-2B1C-9B31-7CBF170FC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354" y="3016252"/>
            <a:ext cx="6075097" cy="311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0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3A1DCA-6791-6979-05F6-AC9DAA8F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Formatting, File Inspection &amp; Argument Reuse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İçerik Yer Tutucusu 3">
                <a:extLst>
                  <a:ext uri="{FF2B5EF4-FFF2-40B4-BE49-F238E27FC236}">
                    <a16:creationId xmlns:a16="http://schemas.microsoft.com/office/drawing/2014/main" id="{2B304584-8AAC-CA71-FCDA-7BA747E9941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83253733"/>
                  </p:ext>
                </p:extLst>
              </p:nvPr>
            </p:nvGraphicFramePr>
            <p:xfrm>
              <a:off x="1175657" y="1842738"/>
              <a:ext cx="9608457" cy="4477787"/>
            </p:xfrm>
            <a:graphic>
              <a:graphicData uri="http://schemas.openxmlformats.org/drawingml/2006/table">
                <a:tbl>
                  <a:tblPr/>
                  <a:tblGrid>
                    <a:gridCol w="3202819">
                      <a:extLst>
                        <a:ext uri="{9D8B030D-6E8A-4147-A177-3AD203B41FA5}">
                          <a16:colId xmlns:a16="http://schemas.microsoft.com/office/drawing/2014/main" val="4266175065"/>
                        </a:ext>
                      </a:extLst>
                    </a:gridCol>
                    <a:gridCol w="3202819">
                      <a:extLst>
                        <a:ext uri="{9D8B030D-6E8A-4147-A177-3AD203B41FA5}">
                          <a16:colId xmlns:a16="http://schemas.microsoft.com/office/drawing/2014/main" val="1439233723"/>
                        </a:ext>
                      </a:extLst>
                    </a:gridCol>
                    <a:gridCol w="3202819">
                      <a:extLst>
                        <a:ext uri="{9D8B030D-6E8A-4147-A177-3AD203B41FA5}">
                          <a16:colId xmlns:a16="http://schemas.microsoft.com/office/drawing/2014/main" val="317518081"/>
                        </a:ext>
                      </a:extLst>
                    </a:gridCol>
                  </a:tblGrid>
                  <a:tr h="23002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1. Date &amp; Time Formats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2. File Type Identification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3. Argument Reuse (Esc + .)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6228394"/>
                      </a:ext>
                    </a:extLst>
                  </a:tr>
                  <a:tr h="4121315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Default Display: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$ date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Thu May 1 15:49:31 UTC 2025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24-Hour Clock (</a:t>
                          </a: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+%R</a:t>
                          </a: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):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$ date +%R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15:49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Command: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$ file 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zcat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Output: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zcat</a:t>
                          </a: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: a /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usr</a:t>
                          </a: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/bin/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sh</a:t>
                          </a: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script, ASCII text executable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Human Readable:</a:t>
                          </a: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Yes (ASCII text)</a:t>
                          </a: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Tool:</a:t>
                          </a: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wc</a:t>
                          </a: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(lines, words, bytes)</a:t>
                          </a: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Shortcut Action:</a:t>
                          </a: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Type 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wc</a:t>
                          </a: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and press </a:t>
                          </a: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Esc + .</a:t>
                          </a: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to automatically insert 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zcat</a:t>
                          </a: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from the previous command:</a:t>
                          </a: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$ 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wc</a:t>
                          </a: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zcat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51 298 1977 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zcat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03854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İçerik Yer Tutucusu 3">
                <a:extLst>
                  <a:ext uri="{FF2B5EF4-FFF2-40B4-BE49-F238E27FC236}">
                    <a16:creationId xmlns:a16="http://schemas.microsoft.com/office/drawing/2014/main" id="{2B304584-8AAC-CA71-FCDA-7BA747E9941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83253733"/>
                  </p:ext>
                </p:extLst>
              </p:nvPr>
            </p:nvGraphicFramePr>
            <p:xfrm>
              <a:off x="1175657" y="1842738"/>
              <a:ext cx="9608457" cy="4477787"/>
            </p:xfrm>
            <a:graphic>
              <a:graphicData uri="http://schemas.openxmlformats.org/drawingml/2006/table">
                <a:tbl>
                  <a:tblPr/>
                  <a:tblGrid>
                    <a:gridCol w="3202819">
                      <a:extLst>
                        <a:ext uri="{9D8B030D-6E8A-4147-A177-3AD203B41FA5}">
                          <a16:colId xmlns:a16="http://schemas.microsoft.com/office/drawing/2014/main" val="4266175065"/>
                        </a:ext>
                      </a:extLst>
                    </a:gridCol>
                    <a:gridCol w="3202819">
                      <a:extLst>
                        <a:ext uri="{9D8B030D-6E8A-4147-A177-3AD203B41FA5}">
                          <a16:colId xmlns:a16="http://schemas.microsoft.com/office/drawing/2014/main" val="1439233723"/>
                        </a:ext>
                      </a:extLst>
                    </a:gridCol>
                    <a:gridCol w="3202819">
                      <a:extLst>
                        <a:ext uri="{9D8B030D-6E8A-4147-A177-3AD203B41FA5}">
                          <a16:colId xmlns:a16="http://schemas.microsoft.com/office/drawing/2014/main" val="317518081"/>
                        </a:ext>
                      </a:extLst>
                    </a:gridCol>
                  </a:tblGrid>
                  <a:tr h="356472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1. Date &amp; Time Formats</a:t>
                          </a:r>
                          <a:endParaRPr lang="en-US" sz="18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2. File Type Identification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3. Argument Reuse (Esc + .)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6228394"/>
                      </a:ext>
                    </a:extLst>
                  </a:tr>
                  <a:tr h="41213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9615" r="-200190" b="-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Command: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$ file 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zcat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Output: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zcat</a:t>
                          </a: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: a /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usr</a:t>
                          </a: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/bin/</a:t>
                          </a:r>
                          <a:r>
                            <a:rPr lang="en-US" sz="1800" b="0" i="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sh</a:t>
                          </a:r>
                          <a:r>
                            <a:rPr lang="en-US" sz="1800" b="0" i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script, ASCII text executable</a:t>
                          </a:r>
                          <a:endParaRPr lang="en-US" sz="18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8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Human Readable:</a:t>
                          </a:r>
                          <a:r>
                            <a:rPr lang="en-US" sz="18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Yes (ASCII text)</a:t>
                          </a:r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613" marR="61613" marT="41076" marB="41076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9615" r="-190" b="-2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3854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4920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3F3FDB-5E03-513A-A625-86D5C513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Inspection &amp; Fast Command Repetition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EEA8E80-7B13-45E4-9472-8B870D19F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6257" cy="87403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/>
              <a:t>Display First 10 Lines: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dirty="0">
                <a:latin typeface="Courier New" panose="02070309020205020404" pitchFamily="49" charset="0"/>
              </a:rPr>
              <a:t>head</a:t>
            </a:r>
            <a:r>
              <a:rPr lang="en-US" dirty="0"/>
              <a:t> with argument recall (</a:t>
            </a:r>
            <a:r>
              <a:rPr lang="en-US" b="1" dirty="0"/>
              <a:t>Esc + .</a:t>
            </a:r>
            <a:r>
              <a:rPr lang="en-US" dirty="0"/>
              <a:t>):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E8AD53E-562E-B0AC-EC83-59AFE33DD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85" y="2359409"/>
            <a:ext cx="4252026" cy="1798934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7E6274D6-86AB-41D4-22BB-D641EC440710}"/>
              </a:ext>
            </a:extLst>
          </p:cNvPr>
          <p:cNvSpPr txBox="1">
            <a:spLocks/>
          </p:cNvSpPr>
          <p:nvPr/>
        </p:nvSpPr>
        <p:spPr>
          <a:xfrm>
            <a:off x="6773885" y="1690688"/>
            <a:ext cx="4706256" cy="8740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Display Last 10 Lines:</a:t>
            </a:r>
            <a:endParaRPr lang="en-US" dirty="0"/>
          </a:p>
          <a:p>
            <a:pPr lvl="0"/>
            <a:r>
              <a:rPr lang="en-US" dirty="0"/>
              <a:t>Uses tail with argument recall (</a:t>
            </a:r>
            <a:r>
              <a:rPr lang="en-US" b="1" dirty="0"/>
              <a:t>Esc + .</a:t>
            </a:r>
            <a:r>
              <a:rPr lang="en-US" dirty="0"/>
              <a:t>):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6DACC6A-C07D-3B6F-9AFB-52662B8B8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772" y="1324204"/>
            <a:ext cx="5634632" cy="36503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İçerik Yer Tutucusu 2">
                <a:extLst>
                  <a:ext uri="{FF2B5EF4-FFF2-40B4-BE49-F238E27FC236}">
                    <a16:creationId xmlns:a16="http://schemas.microsoft.com/office/drawing/2014/main" id="{8C47AA75-F605-8859-ABAE-B95134806C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78684" y="4216628"/>
                <a:ext cx="5402404" cy="10089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b="1" dirty="0"/>
                  <a:t>Method 1 (2 Keystrokes):</a:t>
                </a:r>
                <a:endParaRPr lang="en-US" dirty="0"/>
              </a:p>
              <a:p>
                <a:pPr lvl="1"/>
                <a:r>
                  <a:rPr lang="en-US" dirty="0"/>
                  <a:t>Press </a:t>
                </a:r>
                <a:r>
                  <a:rPr lang="en-US" b="1" dirty="0"/>
                  <a:t>Up Arrow (</a:t>
                </a:r>
                <a14:m>
                  <m:oMath xmlns:m="http://schemas.openxmlformats.org/officeDocument/2006/math">
                    <m:r>
                      <a:rPr lang="en-US"/>
                      <m:t>↑</m:t>
                    </m:r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 once </a:t>
                </a:r>
                <a14:m>
                  <m:oMath xmlns:m="http://schemas.openxmlformats.org/officeDocument/2006/math">
                    <m:r>
                      <a:rPr lang="en-US"/>
                      <m:t>→</m:t>
                    </m:r>
                  </m:oMath>
                </a14:m>
                <a:r>
                  <a:rPr lang="en-US" dirty="0"/>
                  <a:t>press </a:t>
                </a:r>
                <a:r>
                  <a:rPr lang="en-US" b="1" dirty="0"/>
                  <a:t>Enter</a:t>
                </a:r>
                <a:r>
                  <a:rPr lang="en-US" dirty="0"/>
                  <a:t>.</a:t>
                </a:r>
              </a:p>
              <a:p>
                <a:pPr lvl="0"/>
                <a:r>
                  <a:rPr lang="en-US" b="1" dirty="0"/>
                  <a:t>Method 2 (4 Keystrokes):</a:t>
                </a:r>
                <a:endParaRPr lang="en-US" dirty="0"/>
              </a:p>
              <a:p>
                <a:pPr lvl="1"/>
                <a:r>
                  <a:rPr lang="en-US" dirty="0"/>
                  <a:t>Type !! </a:t>
                </a:r>
                <a14:m>
                  <m:oMath xmlns:m="http://schemas.openxmlformats.org/officeDocument/2006/math">
                    <m:r>
                      <a:rPr lang="en-US"/>
                      <m:t>→</m:t>
                    </m:r>
                  </m:oMath>
                </a14:m>
                <a:r>
                  <a:rPr lang="en-US" dirty="0"/>
                  <a:t>press </a:t>
                </a:r>
                <a:r>
                  <a:rPr lang="en-US" b="1" dirty="0"/>
                  <a:t>Enter</a:t>
                </a:r>
                <a:r>
                  <a:rPr lang="en-US" dirty="0"/>
                  <a:t> (expands to the most recent command):</a:t>
                </a:r>
              </a:p>
            </p:txBody>
          </p:sp>
        </mc:Choice>
        <mc:Fallback>
          <p:sp>
            <p:nvSpPr>
              <p:cNvPr id="9" name="İçerik Yer Tutucusu 2">
                <a:extLst>
                  <a:ext uri="{FF2B5EF4-FFF2-40B4-BE49-F238E27FC236}">
                    <a16:creationId xmlns:a16="http://schemas.microsoft.com/office/drawing/2014/main" id="{8C47AA75-F605-8859-ABAE-B9513480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684" y="4216628"/>
                <a:ext cx="5402404" cy="1008968"/>
              </a:xfrm>
              <a:prstGeom prst="rect">
                <a:avLst/>
              </a:prstGeom>
              <a:blipFill>
                <a:blip r:embed="rId4"/>
                <a:stretch>
                  <a:fillRect l="-339" t="-6667" b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Resim 10">
            <a:extLst>
              <a:ext uri="{FF2B5EF4-FFF2-40B4-BE49-F238E27FC236}">
                <a16:creationId xmlns:a16="http://schemas.microsoft.com/office/drawing/2014/main" id="{2CCAC24F-C2BE-592F-0797-123585776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874" y="4216627"/>
            <a:ext cx="4595796" cy="364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125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894677-D454-AAE9-C4AD-B2CD7A31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Line Editing, History Recall &amp; Lab Completion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6DF91C9-C770-8769-91D6-631352AF7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44657" cy="33700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In-Place Editing Workflow (Showing Last 20 Lines):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o 3">
                <a:extLst>
                  <a:ext uri="{FF2B5EF4-FFF2-40B4-BE49-F238E27FC236}">
                    <a16:creationId xmlns:a16="http://schemas.microsoft.com/office/drawing/2014/main" id="{72128787-70EE-AF8B-D7F0-90940F973E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9473420"/>
                  </p:ext>
                </p:extLst>
              </p:nvPr>
            </p:nvGraphicFramePr>
            <p:xfrm>
              <a:off x="838200" y="2370296"/>
              <a:ext cx="10515600" cy="3203189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57680404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61330911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4284427384"/>
                        </a:ext>
                      </a:extLst>
                    </a:gridCol>
                  </a:tblGrid>
                  <a:tr h="462316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Step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Keystroke / Input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Action / Purpose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3777992409"/>
                      </a:ext>
                    </a:extLst>
                  </a:tr>
                  <a:tr h="462316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1. Recall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Up Arrow (</a:t>
                          </a:r>
                          <a14:m>
                            <m:oMath xmlns:m="http://schemas.openxmlformats.org/officeDocument/2006/math">
                              <m:r>
                                <a:rPr lang="en-US" smtClean="0"/>
                                <m:t>↑</m:t>
                              </m:r>
                            </m:oMath>
                          </a14:m>
                          <a:r>
                            <a:rPr lang="en-US">
                              <a:effectLst/>
                            </a:rPr>
                            <a:t>)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Retrieves </a:t>
                          </a:r>
                          <a:r>
                            <a:rPr lang="en-US" sz="1125" dirty="0">
                              <a:effectLst/>
                            </a:rPr>
                            <a:t>tail </a:t>
                          </a:r>
                          <a:r>
                            <a:rPr lang="en-US" sz="1125" dirty="0" err="1">
                              <a:effectLst/>
                            </a:rPr>
                            <a:t>zcat</a:t>
                          </a:r>
                          <a:r>
                            <a:rPr lang="en-US" dirty="0">
                              <a:effectLst/>
                            </a:rPr>
                            <a:t> from history</a:t>
                          </a:r>
                          <a:endParaRPr lang="en-US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404654300"/>
                      </a:ext>
                    </a:extLst>
                  </a:tr>
                  <a:tr h="759519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2. Navigate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Ctrl + A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Snaps cursor to the beginning of the line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367724131"/>
                      </a:ext>
                    </a:extLst>
                  </a:tr>
                  <a:tr h="759519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3. Jump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Ctrl + Right Arrow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Jumps cursor past </a:t>
                          </a:r>
                          <a:r>
                            <a:rPr lang="en-US" sz="1125">
                              <a:effectLst/>
                            </a:rPr>
                            <a:t>tail</a:t>
                          </a:r>
                          <a:r>
                            <a:rPr lang="en-US">
                              <a:effectLst/>
                            </a:rPr>
                            <a:t> to the next word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830004544"/>
                      </a:ext>
                    </a:extLst>
                  </a:tr>
                  <a:tr h="759519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4. Modify &amp; Run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Type </a:t>
                          </a:r>
                          <a:r>
                            <a:rPr lang="en-US" sz="1125">
                              <a:effectLst/>
                            </a:rPr>
                            <a:t>-n 20 </a:t>
                          </a:r>
                          <a:r>
                            <a:rPr lang="en-US">
                              <a:effectLst/>
                            </a:rPr>
                            <a:t>+ Enter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Executes </a:t>
                          </a:r>
                          <a:r>
                            <a:rPr lang="en-US" sz="1125" dirty="0">
                              <a:effectLst/>
                            </a:rPr>
                            <a:t>tail -n 20 </a:t>
                          </a:r>
                          <a:r>
                            <a:rPr lang="en-US" sz="1125" dirty="0" err="1">
                              <a:effectLst/>
                            </a:rPr>
                            <a:t>zcat</a:t>
                          </a:r>
                          <a:r>
                            <a:rPr lang="en-US" dirty="0">
                              <a:effectLst/>
                            </a:rPr>
                            <a:t> with minimal keystrokes</a:t>
                          </a:r>
                          <a:endParaRPr lang="en-US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8224269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o 3">
                <a:extLst>
                  <a:ext uri="{FF2B5EF4-FFF2-40B4-BE49-F238E27FC236}">
                    <a16:creationId xmlns:a16="http://schemas.microsoft.com/office/drawing/2014/main" id="{72128787-70EE-AF8B-D7F0-90940F973E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9473420"/>
                  </p:ext>
                </p:extLst>
              </p:nvPr>
            </p:nvGraphicFramePr>
            <p:xfrm>
              <a:off x="838200" y="2370296"/>
              <a:ext cx="10515600" cy="3203189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57680404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61330911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4284427384"/>
                        </a:ext>
                      </a:extLst>
                    </a:gridCol>
                  </a:tblGrid>
                  <a:tr h="462316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Step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Keystroke / Input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Action / Purpose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3777992409"/>
                      </a:ext>
                    </a:extLst>
                  </a:tr>
                  <a:tr h="462316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1. Recall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100000" t="-101316" r="-100174" b="-5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Retrieves </a:t>
                          </a:r>
                          <a:r>
                            <a:rPr lang="en-US" sz="1125" dirty="0">
                              <a:effectLst/>
                            </a:rPr>
                            <a:t>tail </a:t>
                          </a:r>
                          <a:r>
                            <a:rPr lang="en-US" sz="1125" dirty="0" err="1">
                              <a:effectLst/>
                            </a:rPr>
                            <a:t>zcat</a:t>
                          </a:r>
                          <a:r>
                            <a:rPr lang="en-US" dirty="0">
                              <a:effectLst/>
                            </a:rPr>
                            <a:t> from history</a:t>
                          </a:r>
                          <a:endParaRPr lang="en-US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404654300"/>
                      </a:ext>
                    </a:extLst>
                  </a:tr>
                  <a:tr h="759519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2. Navigate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Ctrl + A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Snaps cursor to the beginning of the line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367724131"/>
                      </a:ext>
                    </a:extLst>
                  </a:tr>
                  <a:tr h="759519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3. Jump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Ctrl + Right Arrow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Jumps cursor past </a:t>
                          </a:r>
                          <a:r>
                            <a:rPr lang="en-US" sz="1125">
                              <a:effectLst/>
                            </a:rPr>
                            <a:t>tail</a:t>
                          </a:r>
                          <a:r>
                            <a:rPr lang="en-US">
                              <a:effectLst/>
                            </a:rPr>
                            <a:t> to the next word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830004544"/>
                      </a:ext>
                    </a:extLst>
                  </a:tr>
                  <a:tr h="759519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4. Modify &amp; Run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>
                              <a:effectLst/>
                            </a:rPr>
                            <a:t>Type </a:t>
                          </a:r>
                          <a:r>
                            <a:rPr lang="en-US" sz="1125">
                              <a:effectLst/>
                            </a:rPr>
                            <a:t>-n 20 </a:t>
                          </a:r>
                          <a:r>
                            <a:rPr lang="en-US">
                              <a:effectLst/>
                            </a:rPr>
                            <a:t>+ Enter</a:t>
                          </a:r>
                          <a:endParaRPr lang="en-US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Executes </a:t>
                          </a:r>
                          <a:r>
                            <a:rPr lang="en-US" sz="1125" dirty="0">
                              <a:effectLst/>
                            </a:rPr>
                            <a:t>tail -n 20 </a:t>
                          </a:r>
                          <a:r>
                            <a:rPr lang="en-US" sz="1125" dirty="0" err="1">
                              <a:effectLst/>
                            </a:rPr>
                            <a:t>zcat</a:t>
                          </a:r>
                          <a:r>
                            <a:rPr lang="en-US" dirty="0">
                              <a:effectLst/>
                            </a:rPr>
                            <a:t> with minimal keystrokes</a:t>
                          </a:r>
                          <a:endParaRPr lang="en-US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8224269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84774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DCED70-9ECA-5CF5-CFD9-A81E6B53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Line Editing, History Recall &amp; Lab Completion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FE62FB-770E-F99E-1E69-E9F964D1D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66538"/>
            <a:ext cx="10515600" cy="2306297"/>
          </a:xfrm>
        </p:spPr>
        <p:txBody>
          <a:bodyPr>
            <a:normAutofit/>
          </a:bodyPr>
          <a:lstStyle/>
          <a:p>
            <a:r>
              <a:rPr lang="en-US" sz="2400" b="1" dirty="0"/>
              <a:t>Evaluation &amp; Environment Teardown:</a:t>
            </a:r>
            <a:endParaRPr lang="en-US" sz="2400" dirty="0"/>
          </a:p>
          <a:p>
            <a:pPr lvl="0"/>
            <a:r>
              <a:rPr lang="en-US" sz="2400" b="1" dirty="0"/>
              <a:t>Grade Lab:</a:t>
            </a:r>
            <a:r>
              <a:rPr lang="en-US" sz="2400" dirty="0"/>
              <a:t> Run $ lab grade cli-review (correct any reported failures until successful).</a:t>
            </a:r>
          </a:p>
          <a:p>
            <a:pPr lvl="0"/>
            <a:r>
              <a:rPr lang="en-US" sz="2400" b="1" dirty="0"/>
              <a:t>Finish &amp; Reset:</a:t>
            </a:r>
            <a:r>
              <a:rPr lang="en-US" sz="2400" dirty="0"/>
              <a:t> Change to home directory and run $ lab finish cli-review to clear resources.</a:t>
            </a:r>
          </a:p>
          <a:p>
            <a:endParaRPr lang="en-US" sz="24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437D230-CB28-6215-D844-2A09B55B1251}"/>
              </a:ext>
            </a:extLst>
          </p:cNvPr>
          <p:cNvSpPr txBox="1"/>
          <p:nvPr/>
        </p:nvSpPr>
        <p:spPr>
          <a:xfrm>
            <a:off x="838200" y="2228671"/>
            <a:ext cx="65205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History Execution by Index Number: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Run </a:t>
            </a:r>
            <a:r>
              <a:rPr lang="en-US" sz="2400" dirty="0">
                <a:latin typeface="Courier New" panose="02070309020205020404" pitchFamily="49" charset="0"/>
              </a:rPr>
              <a:t>history</a:t>
            </a:r>
            <a:r>
              <a:rPr lang="en-US" sz="2400" dirty="0"/>
              <a:t> to identify the command index.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Re-execute target entry using </a:t>
            </a:r>
            <a:r>
              <a:rPr lang="en-US" sz="2400" dirty="0">
                <a:latin typeface="Courier New" panose="02070309020205020404" pitchFamily="49" charset="0"/>
              </a:rPr>
              <a:t>!number</a:t>
            </a:r>
            <a:r>
              <a:rPr lang="en-US" sz="2400" dirty="0"/>
              <a:t>: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4F0945C-1F2B-3AB8-BEBE-C65BB5607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164" y="277185"/>
            <a:ext cx="5474836" cy="464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6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3046</Words>
  <Application>Microsoft Office PowerPoint</Application>
  <PresentationFormat>Geniş ekran</PresentationFormat>
  <Paragraphs>336</Paragraphs>
  <Slides>31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Cambria Math</vt:lpstr>
      <vt:lpstr>Courier New</vt:lpstr>
      <vt:lpstr>Google Sans Text</vt:lpstr>
      <vt:lpstr>Office Teması</vt:lpstr>
      <vt:lpstr>Red Hat System Administration I 10.0</vt:lpstr>
      <vt:lpstr>Introduction to the Bash Shell</vt:lpstr>
      <vt:lpstr>Privileges &amp; The Shell Prompt</vt:lpstr>
      <vt:lpstr>Anatomy of a Linux Command</vt:lpstr>
      <vt:lpstr>Local System Access &amp; Virtual Consoles</vt:lpstr>
      <vt:lpstr>Server Workloads &amp; Headless Administration</vt:lpstr>
      <vt:lpstr>Remote Login via SSH &amp; Authentication</vt:lpstr>
      <vt:lpstr>Host Verification &amp; Session Termination</vt:lpstr>
      <vt:lpstr>The GNOME Desktop &amp; Interface Overview</vt:lpstr>
      <vt:lpstr>The GNOME Desktop &amp; Interface Overview</vt:lpstr>
      <vt:lpstr>Workspace Management &amp; Keyboard Navigation</vt:lpstr>
      <vt:lpstr>Launching the Terminal in RHEL 10</vt:lpstr>
      <vt:lpstr>Session Security &amp; Power Controls</vt:lpstr>
      <vt:lpstr>Guided Exercise: Access the Command Line with Desktop</vt:lpstr>
      <vt:lpstr>Hands-on Steps: Session &amp; Password Management</vt:lpstr>
      <vt:lpstr>Screen Locking, Power Verification &amp; Lab Cleanup</vt:lpstr>
      <vt:lpstr>Bash Command Syntax &amp; Execution Rules</vt:lpstr>
      <vt:lpstr>Simple Utility Commands</vt:lpstr>
      <vt:lpstr>Simple Utility Commands</vt:lpstr>
      <vt:lpstr>Viewing File Contents: Full, Paged &amp; Sectioned</vt:lpstr>
      <vt:lpstr>Counting File Statistics with</vt:lpstr>
      <vt:lpstr>Counting File Statistics with</vt:lpstr>
      <vt:lpstr>Speeding Up Input with Tab Completion</vt:lpstr>
      <vt:lpstr>Multi-Line Long Commands</vt:lpstr>
      <vt:lpstr>Command History &amp; Navigation Shortcuts</vt:lpstr>
      <vt:lpstr>Interactive Command-Line Editing Shortcuts</vt:lpstr>
      <vt:lpstr>Lab Overview: Access the Command Line</vt:lpstr>
      <vt:lpstr>Time Formatting, File Inspection &amp; Argument Reuse</vt:lpstr>
      <vt:lpstr>File Inspection &amp; Fast Command Repetition</vt:lpstr>
      <vt:lpstr>Interactive Line Editing, History Recall &amp; Lab Completion</vt:lpstr>
      <vt:lpstr>Interactive Line Editing, History Recall &amp; Lab Completion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Dilara Gülenç</dc:creator>
  <cp:lastModifiedBy>Dilara Gülenç</cp:lastModifiedBy>
  <cp:revision>2</cp:revision>
  <dcterms:created xsi:type="dcterms:W3CDTF">2026-10-19T08:21:46Z</dcterms:created>
  <dcterms:modified xsi:type="dcterms:W3CDTF">2026-10-20T11:32:38Z</dcterms:modified>
</cp:coreProperties>
</file>