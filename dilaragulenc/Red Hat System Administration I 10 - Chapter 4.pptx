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0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0C181F-4168-4CF5-ACAF-C37918FEF66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BAE6C1-8FD6-45E6-A681-6AB1B2754F08}">
      <dgm:prSet/>
      <dgm:spPr/>
      <dgm:t>
        <a:bodyPr/>
        <a:lstStyle/>
        <a:p>
          <a:r>
            <a:rPr lang="en-US" b="1"/>
            <a:t>Role:</a:t>
          </a:r>
          <a:endParaRPr lang="en-US"/>
        </a:p>
      </dgm:t>
    </dgm:pt>
    <dgm:pt modelId="{159934FA-95CC-4EEE-95DA-358F8AFC2DDC}" type="parTrans" cxnId="{19B208C8-2909-4B8C-B919-7277E692C92C}">
      <dgm:prSet/>
      <dgm:spPr/>
      <dgm:t>
        <a:bodyPr/>
        <a:lstStyle/>
        <a:p>
          <a:endParaRPr lang="en-US"/>
        </a:p>
      </dgm:t>
    </dgm:pt>
    <dgm:pt modelId="{711F401B-EF56-451E-A0C8-68D49448C161}" type="sibTrans" cxnId="{19B208C8-2909-4B8C-B919-7277E692C92C}">
      <dgm:prSet/>
      <dgm:spPr/>
      <dgm:t>
        <a:bodyPr/>
        <a:lstStyle/>
        <a:p>
          <a:endParaRPr lang="en-US"/>
        </a:p>
      </dgm:t>
    </dgm:pt>
    <dgm:pt modelId="{D8AACD7A-1C88-4103-8447-84136C161BA1}">
      <dgm:prSet/>
      <dgm:spPr/>
      <dgm:t>
        <a:bodyPr/>
        <a:lstStyle/>
        <a:p>
          <a:r>
            <a:rPr lang="en-US"/>
            <a:t>Red Hat Enterprise Linux Server</a:t>
          </a:r>
        </a:p>
      </dgm:t>
    </dgm:pt>
    <dgm:pt modelId="{0F17F4E4-FA02-4ACC-9019-60E1F358BE04}" type="parTrans" cxnId="{C58524B8-3B03-4FC8-91EB-2807E26DBFE3}">
      <dgm:prSet/>
      <dgm:spPr/>
      <dgm:t>
        <a:bodyPr/>
        <a:lstStyle/>
        <a:p>
          <a:endParaRPr lang="en-US"/>
        </a:p>
      </dgm:t>
    </dgm:pt>
    <dgm:pt modelId="{269B4FCC-66E2-4968-B20F-77355B7AA09A}" type="sibTrans" cxnId="{C58524B8-3B03-4FC8-91EB-2807E26DBFE3}">
      <dgm:prSet/>
      <dgm:spPr/>
      <dgm:t>
        <a:bodyPr/>
        <a:lstStyle/>
        <a:p>
          <a:endParaRPr lang="en-US"/>
        </a:p>
      </dgm:t>
    </dgm:pt>
    <dgm:pt modelId="{7BC6831E-0941-4853-8079-D12E78B9B0A9}">
      <dgm:prSet/>
      <dgm:spPr/>
      <dgm:t>
        <a:bodyPr/>
        <a:lstStyle/>
        <a:p>
          <a:r>
            <a:rPr lang="en-US"/>
            <a:t>Red Hat Enterprise Linux Workstation</a:t>
          </a:r>
        </a:p>
      </dgm:t>
    </dgm:pt>
    <dgm:pt modelId="{792056F6-8631-4985-A96C-5805EF979B1A}" type="parTrans" cxnId="{02E630E0-7D6A-4830-8B77-33CE9738D92C}">
      <dgm:prSet/>
      <dgm:spPr/>
      <dgm:t>
        <a:bodyPr/>
        <a:lstStyle/>
        <a:p>
          <a:endParaRPr lang="en-US"/>
        </a:p>
      </dgm:t>
    </dgm:pt>
    <dgm:pt modelId="{79A28CA6-A1BF-4162-97E4-18DD7AFBD53A}" type="sibTrans" cxnId="{02E630E0-7D6A-4830-8B77-33CE9738D92C}">
      <dgm:prSet/>
      <dgm:spPr/>
      <dgm:t>
        <a:bodyPr/>
        <a:lstStyle/>
        <a:p>
          <a:endParaRPr lang="en-US"/>
        </a:p>
      </dgm:t>
    </dgm:pt>
    <dgm:pt modelId="{F8CCFF98-AF1E-4BE7-8184-3C3922F60479}">
      <dgm:prSet/>
      <dgm:spPr/>
      <dgm:t>
        <a:bodyPr/>
        <a:lstStyle/>
        <a:p>
          <a:r>
            <a:rPr lang="en-US"/>
            <a:t>Red Hat Enterprise Linux Compute Node</a:t>
          </a:r>
        </a:p>
      </dgm:t>
    </dgm:pt>
    <dgm:pt modelId="{7EF1E97A-7C1A-4864-91D8-1949E10E1F7A}" type="parTrans" cxnId="{C32D26EA-4229-4885-B9AE-583627D70F78}">
      <dgm:prSet/>
      <dgm:spPr/>
      <dgm:t>
        <a:bodyPr/>
        <a:lstStyle/>
        <a:p>
          <a:endParaRPr lang="en-US"/>
        </a:p>
      </dgm:t>
    </dgm:pt>
    <dgm:pt modelId="{FD6B1614-CC81-4DB1-AEDF-992FAD4D1812}" type="sibTrans" cxnId="{C32D26EA-4229-4885-B9AE-583627D70F78}">
      <dgm:prSet/>
      <dgm:spPr/>
      <dgm:t>
        <a:bodyPr/>
        <a:lstStyle/>
        <a:p>
          <a:endParaRPr lang="en-US"/>
        </a:p>
      </dgm:t>
    </dgm:pt>
    <dgm:pt modelId="{B7BDAEBD-A1C7-481C-B273-2911E59A44C6}">
      <dgm:prSet/>
      <dgm:spPr/>
      <dgm:t>
        <a:bodyPr/>
        <a:lstStyle/>
        <a:p>
          <a:r>
            <a:rPr lang="en-US" b="1"/>
            <a:t>Service-Level Agreement (SLA):</a:t>
          </a:r>
          <a:endParaRPr lang="en-US"/>
        </a:p>
      </dgm:t>
    </dgm:pt>
    <dgm:pt modelId="{2A488002-899F-4F27-B6B0-94A60ED1C188}" type="parTrans" cxnId="{F528CB5C-8675-4EA9-A34F-52E93DB3E301}">
      <dgm:prSet/>
      <dgm:spPr/>
      <dgm:t>
        <a:bodyPr/>
        <a:lstStyle/>
        <a:p>
          <a:endParaRPr lang="en-US"/>
        </a:p>
      </dgm:t>
    </dgm:pt>
    <dgm:pt modelId="{9E0AA416-EA2A-4E9F-A2C1-EFAF337E5835}" type="sibTrans" cxnId="{F528CB5C-8675-4EA9-A34F-52E93DB3E301}">
      <dgm:prSet/>
      <dgm:spPr/>
      <dgm:t>
        <a:bodyPr/>
        <a:lstStyle/>
        <a:p>
          <a:endParaRPr lang="en-US"/>
        </a:p>
      </dgm:t>
    </dgm:pt>
    <dgm:pt modelId="{3E0FE057-6B32-4ACD-A2A9-715D2D194F27}">
      <dgm:prSet/>
      <dgm:spPr/>
      <dgm:t>
        <a:bodyPr/>
        <a:lstStyle/>
        <a:p>
          <a:r>
            <a:rPr lang="en-US"/>
            <a:t>Premium</a:t>
          </a:r>
        </a:p>
      </dgm:t>
    </dgm:pt>
    <dgm:pt modelId="{E971D8F9-FA35-41C9-8D4E-102AAE4B6DE7}" type="parTrans" cxnId="{FC828DF5-7B4D-4ABF-B239-51025ADAD6D9}">
      <dgm:prSet/>
      <dgm:spPr/>
      <dgm:t>
        <a:bodyPr/>
        <a:lstStyle/>
        <a:p>
          <a:endParaRPr lang="en-US"/>
        </a:p>
      </dgm:t>
    </dgm:pt>
    <dgm:pt modelId="{6D5EB947-43B2-4F59-8ED2-CDB664DE1AB6}" type="sibTrans" cxnId="{FC828DF5-7B4D-4ABF-B239-51025ADAD6D9}">
      <dgm:prSet/>
      <dgm:spPr/>
      <dgm:t>
        <a:bodyPr/>
        <a:lstStyle/>
        <a:p>
          <a:endParaRPr lang="en-US"/>
        </a:p>
      </dgm:t>
    </dgm:pt>
    <dgm:pt modelId="{A3C68A48-7A8B-4018-8C02-1C20406CF24C}">
      <dgm:prSet/>
      <dgm:spPr/>
      <dgm:t>
        <a:bodyPr/>
        <a:lstStyle/>
        <a:p>
          <a:r>
            <a:rPr lang="en-US"/>
            <a:t>Standard</a:t>
          </a:r>
        </a:p>
      </dgm:t>
    </dgm:pt>
    <dgm:pt modelId="{183951D0-73D5-41BB-8F47-6298DE520004}" type="parTrans" cxnId="{1D83C938-5D0B-4C22-98A5-E416FE8D561B}">
      <dgm:prSet/>
      <dgm:spPr/>
      <dgm:t>
        <a:bodyPr/>
        <a:lstStyle/>
        <a:p>
          <a:endParaRPr lang="en-US"/>
        </a:p>
      </dgm:t>
    </dgm:pt>
    <dgm:pt modelId="{9AE99A97-787E-4425-989E-A9E2CFC13F68}" type="sibTrans" cxnId="{1D83C938-5D0B-4C22-98A5-E416FE8D561B}">
      <dgm:prSet/>
      <dgm:spPr/>
      <dgm:t>
        <a:bodyPr/>
        <a:lstStyle/>
        <a:p>
          <a:endParaRPr lang="en-US"/>
        </a:p>
      </dgm:t>
    </dgm:pt>
    <dgm:pt modelId="{9DDEED36-F90E-4A11-9303-6520C7D1FDA5}">
      <dgm:prSet/>
      <dgm:spPr/>
      <dgm:t>
        <a:bodyPr/>
        <a:lstStyle/>
        <a:p>
          <a:r>
            <a:rPr lang="en-US"/>
            <a:t>Self-Support</a:t>
          </a:r>
        </a:p>
      </dgm:t>
    </dgm:pt>
    <dgm:pt modelId="{2377F5B9-3C91-41DA-A5C7-E39C978D141D}" type="parTrans" cxnId="{650361FF-1189-4A86-B1EB-EE7FB8CBE243}">
      <dgm:prSet/>
      <dgm:spPr/>
      <dgm:t>
        <a:bodyPr/>
        <a:lstStyle/>
        <a:p>
          <a:endParaRPr lang="en-US"/>
        </a:p>
      </dgm:t>
    </dgm:pt>
    <dgm:pt modelId="{EBAA6BFD-8708-47A7-9B53-B1DCD9912D3B}" type="sibTrans" cxnId="{650361FF-1189-4A86-B1EB-EE7FB8CBE243}">
      <dgm:prSet/>
      <dgm:spPr/>
      <dgm:t>
        <a:bodyPr/>
        <a:lstStyle/>
        <a:p>
          <a:endParaRPr lang="en-US"/>
        </a:p>
      </dgm:t>
    </dgm:pt>
    <dgm:pt modelId="{545578A1-80D0-49C8-B4B6-C1FCAE861456}">
      <dgm:prSet/>
      <dgm:spPr/>
      <dgm:t>
        <a:bodyPr/>
        <a:lstStyle/>
        <a:p>
          <a:r>
            <a:rPr lang="en-US" b="1"/>
            <a:t>Usage:</a:t>
          </a:r>
          <a:endParaRPr lang="en-US"/>
        </a:p>
      </dgm:t>
    </dgm:pt>
    <dgm:pt modelId="{B7E9A1E4-3202-4C33-AE97-8396AA933F30}" type="parTrans" cxnId="{937191A9-6709-4E1D-85F8-8955C8EB8562}">
      <dgm:prSet/>
      <dgm:spPr/>
      <dgm:t>
        <a:bodyPr/>
        <a:lstStyle/>
        <a:p>
          <a:endParaRPr lang="en-US"/>
        </a:p>
      </dgm:t>
    </dgm:pt>
    <dgm:pt modelId="{AAAF9AD9-95D6-45B9-83BA-18B6813E0BF4}" type="sibTrans" cxnId="{937191A9-6709-4E1D-85F8-8955C8EB8562}">
      <dgm:prSet/>
      <dgm:spPr/>
      <dgm:t>
        <a:bodyPr/>
        <a:lstStyle/>
        <a:p>
          <a:endParaRPr lang="en-US"/>
        </a:p>
      </dgm:t>
    </dgm:pt>
    <dgm:pt modelId="{B29AE964-5F4C-4645-AD22-93919E995DB4}">
      <dgm:prSet/>
      <dgm:spPr/>
      <dgm:t>
        <a:bodyPr/>
        <a:lstStyle/>
        <a:p>
          <a:r>
            <a:rPr lang="en-US"/>
            <a:t>Production</a:t>
          </a:r>
        </a:p>
      </dgm:t>
    </dgm:pt>
    <dgm:pt modelId="{E2760F37-E49A-478C-9596-7EB565C0D2EE}" type="parTrans" cxnId="{89606DFB-083A-4609-B56E-927F0936F3F3}">
      <dgm:prSet/>
      <dgm:spPr/>
      <dgm:t>
        <a:bodyPr/>
        <a:lstStyle/>
        <a:p>
          <a:endParaRPr lang="en-US"/>
        </a:p>
      </dgm:t>
    </dgm:pt>
    <dgm:pt modelId="{F16E0D38-A13D-4B1C-B1D2-F92CF66F9450}" type="sibTrans" cxnId="{89606DFB-083A-4609-B56E-927F0936F3F3}">
      <dgm:prSet/>
      <dgm:spPr/>
      <dgm:t>
        <a:bodyPr/>
        <a:lstStyle/>
        <a:p>
          <a:endParaRPr lang="en-US"/>
        </a:p>
      </dgm:t>
    </dgm:pt>
    <dgm:pt modelId="{E1670DB1-CD1A-43E7-82BE-726DB28A32A8}">
      <dgm:prSet/>
      <dgm:spPr/>
      <dgm:t>
        <a:bodyPr/>
        <a:lstStyle/>
        <a:p>
          <a:r>
            <a:rPr lang="en-US"/>
            <a:t>Development/Test</a:t>
          </a:r>
        </a:p>
      </dgm:t>
    </dgm:pt>
    <dgm:pt modelId="{57D7F5D1-2433-43F6-8A76-6A7E5BC8940F}" type="parTrans" cxnId="{CCEDAF3F-6497-469B-9EC5-F4CAA43F8CB1}">
      <dgm:prSet/>
      <dgm:spPr/>
      <dgm:t>
        <a:bodyPr/>
        <a:lstStyle/>
        <a:p>
          <a:endParaRPr lang="en-US"/>
        </a:p>
      </dgm:t>
    </dgm:pt>
    <dgm:pt modelId="{0A2A240E-95D0-4768-9BFD-350A3E4BA0D8}" type="sibTrans" cxnId="{CCEDAF3F-6497-469B-9EC5-F4CAA43F8CB1}">
      <dgm:prSet/>
      <dgm:spPr/>
      <dgm:t>
        <a:bodyPr/>
        <a:lstStyle/>
        <a:p>
          <a:endParaRPr lang="en-US"/>
        </a:p>
      </dgm:t>
    </dgm:pt>
    <dgm:pt modelId="{A2EA854F-7A23-44D7-AFF9-CCF61E82C057}">
      <dgm:prSet/>
      <dgm:spPr/>
      <dgm:t>
        <a:bodyPr/>
        <a:lstStyle/>
        <a:p>
          <a:r>
            <a:rPr lang="en-US"/>
            <a:t>Disaster Recovery</a:t>
          </a:r>
        </a:p>
      </dgm:t>
    </dgm:pt>
    <dgm:pt modelId="{5C16BE30-6DA8-45F1-9DF6-FDFEF2EFDA89}" type="parTrans" cxnId="{22FC1027-E2DD-4F93-9A9D-B3331127B30A}">
      <dgm:prSet/>
      <dgm:spPr/>
      <dgm:t>
        <a:bodyPr/>
        <a:lstStyle/>
        <a:p>
          <a:endParaRPr lang="en-US"/>
        </a:p>
      </dgm:t>
    </dgm:pt>
    <dgm:pt modelId="{511497C9-6AD3-44A3-B0D4-4A45E0BE27AD}" type="sibTrans" cxnId="{22FC1027-E2DD-4F93-9A9D-B3331127B30A}">
      <dgm:prSet/>
      <dgm:spPr/>
      <dgm:t>
        <a:bodyPr/>
        <a:lstStyle/>
        <a:p>
          <a:endParaRPr lang="en-US"/>
        </a:p>
      </dgm:t>
    </dgm:pt>
    <dgm:pt modelId="{B2E2C4DA-AE33-4FB8-9096-0D0B69E44352}" type="pres">
      <dgm:prSet presAssocID="{360C181F-4168-4CF5-ACAF-C37918FEF66C}" presName="Name0" presStyleCnt="0">
        <dgm:presLayoutVars>
          <dgm:dir/>
          <dgm:animLvl val="lvl"/>
          <dgm:resizeHandles val="exact"/>
        </dgm:presLayoutVars>
      </dgm:prSet>
      <dgm:spPr/>
    </dgm:pt>
    <dgm:pt modelId="{EC22E17F-EE74-46FC-9BEC-841191D71FA6}" type="pres">
      <dgm:prSet presAssocID="{80BAE6C1-8FD6-45E6-A681-6AB1B2754F08}" presName="composite" presStyleCnt="0"/>
      <dgm:spPr/>
    </dgm:pt>
    <dgm:pt modelId="{F34C4E7A-0B8A-4510-A82A-3B76CB8D8123}" type="pres">
      <dgm:prSet presAssocID="{80BAE6C1-8FD6-45E6-A681-6AB1B2754F0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CE10B26-8562-4789-BDE5-3FABABA5322F}" type="pres">
      <dgm:prSet presAssocID="{80BAE6C1-8FD6-45E6-A681-6AB1B2754F08}" presName="desTx" presStyleLbl="alignAccFollowNode1" presStyleIdx="0" presStyleCnt="3">
        <dgm:presLayoutVars>
          <dgm:bulletEnabled val="1"/>
        </dgm:presLayoutVars>
      </dgm:prSet>
      <dgm:spPr/>
    </dgm:pt>
    <dgm:pt modelId="{F9D7E6E3-26CD-4356-A20A-7AA986BF4509}" type="pres">
      <dgm:prSet presAssocID="{711F401B-EF56-451E-A0C8-68D49448C161}" presName="space" presStyleCnt="0"/>
      <dgm:spPr/>
    </dgm:pt>
    <dgm:pt modelId="{B2B24A1D-9575-4F80-BEE9-C06137FAAC7F}" type="pres">
      <dgm:prSet presAssocID="{B7BDAEBD-A1C7-481C-B273-2911E59A44C6}" presName="composite" presStyleCnt="0"/>
      <dgm:spPr/>
    </dgm:pt>
    <dgm:pt modelId="{BADBDD9B-258B-4A5D-8583-1628B6AE901C}" type="pres">
      <dgm:prSet presAssocID="{B7BDAEBD-A1C7-481C-B273-2911E59A44C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21F2BF77-57DA-4C25-BB3D-B4A3FABD2AA1}" type="pres">
      <dgm:prSet presAssocID="{B7BDAEBD-A1C7-481C-B273-2911E59A44C6}" presName="desTx" presStyleLbl="alignAccFollowNode1" presStyleIdx="1" presStyleCnt="3">
        <dgm:presLayoutVars>
          <dgm:bulletEnabled val="1"/>
        </dgm:presLayoutVars>
      </dgm:prSet>
      <dgm:spPr/>
    </dgm:pt>
    <dgm:pt modelId="{EAF3BDDA-8D24-4299-9B75-2B02A8483C53}" type="pres">
      <dgm:prSet presAssocID="{9E0AA416-EA2A-4E9F-A2C1-EFAF337E5835}" presName="space" presStyleCnt="0"/>
      <dgm:spPr/>
    </dgm:pt>
    <dgm:pt modelId="{6DF82256-CF5C-4614-918F-8902905E0E8F}" type="pres">
      <dgm:prSet presAssocID="{545578A1-80D0-49C8-B4B6-C1FCAE861456}" presName="composite" presStyleCnt="0"/>
      <dgm:spPr/>
    </dgm:pt>
    <dgm:pt modelId="{5BA52C8B-8AF7-4C30-A298-ACFD4C238FC0}" type="pres">
      <dgm:prSet presAssocID="{545578A1-80D0-49C8-B4B6-C1FCAE86145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67BC518-5434-45C7-A568-D85977922FDF}" type="pres">
      <dgm:prSet presAssocID="{545578A1-80D0-49C8-B4B6-C1FCAE86145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B9E5C02-CDE7-472A-B5E2-8828D0E3EAE8}" type="presOf" srcId="{7BC6831E-0941-4853-8079-D12E78B9B0A9}" destId="{3CE10B26-8562-4789-BDE5-3FABABA5322F}" srcOrd="0" destOrd="1" presId="urn:microsoft.com/office/officeart/2005/8/layout/hList1"/>
    <dgm:cxn modelId="{A788B704-6B53-460B-BB4C-CC6637B31BFB}" type="presOf" srcId="{3E0FE057-6B32-4ACD-A2A9-715D2D194F27}" destId="{21F2BF77-57DA-4C25-BB3D-B4A3FABD2AA1}" srcOrd="0" destOrd="0" presId="urn:microsoft.com/office/officeart/2005/8/layout/hList1"/>
    <dgm:cxn modelId="{B223061B-12CB-4533-BFD8-8337FB290749}" type="presOf" srcId="{545578A1-80D0-49C8-B4B6-C1FCAE861456}" destId="{5BA52C8B-8AF7-4C30-A298-ACFD4C238FC0}" srcOrd="0" destOrd="0" presId="urn:microsoft.com/office/officeart/2005/8/layout/hList1"/>
    <dgm:cxn modelId="{395CE723-4DD5-412D-B4D1-0864D10756A1}" type="presOf" srcId="{360C181F-4168-4CF5-ACAF-C37918FEF66C}" destId="{B2E2C4DA-AE33-4FB8-9096-0D0B69E44352}" srcOrd="0" destOrd="0" presId="urn:microsoft.com/office/officeart/2005/8/layout/hList1"/>
    <dgm:cxn modelId="{22FC1027-E2DD-4F93-9A9D-B3331127B30A}" srcId="{545578A1-80D0-49C8-B4B6-C1FCAE861456}" destId="{A2EA854F-7A23-44D7-AFF9-CCF61E82C057}" srcOrd="2" destOrd="0" parTransId="{5C16BE30-6DA8-45F1-9DF6-FDFEF2EFDA89}" sibTransId="{511497C9-6AD3-44A3-B0D4-4A45E0BE27AD}"/>
    <dgm:cxn modelId="{1D83C938-5D0B-4C22-98A5-E416FE8D561B}" srcId="{B7BDAEBD-A1C7-481C-B273-2911E59A44C6}" destId="{A3C68A48-7A8B-4018-8C02-1C20406CF24C}" srcOrd="1" destOrd="0" parTransId="{183951D0-73D5-41BB-8F47-6298DE520004}" sibTransId="{9AE99A97-787E-4425-989E-A9E2CFC13F68}"/>
    <dgm:cxn modelId="{CCEDAF3F-6497-469B-9EC5-F4CAA43F8CB1}" srcId="{545578A1-80D0-49C8-B4B6-C1FCAE861456}" destId="{E1670DB1-CD1A-43E7-82BE-726DB28A32A8}" srcOrd="1" destOrd="0" parTransId="{57D7F5D1-2433-43F6-8A76-6A7E5BC8940F}" sibTransId="{0A2A240E-95D0-4768-9BFD-350A3E4BA0D8}"/>
    <dgm:cxn modelId="{F528CB5C-8675-4EA9-A34F-52E93DB3E301}" srcId="{360C181F-4168-4CF5-ACAF-C37918FEF66C}" destId="{B7BDAEBD-A1C7-481C-B273-2911E59A44C6}" srcOrd="1" destOrd="0" parTransId="{2A488002-899F-4F27-B6B0-94A60ED1C188}" sibTransId="{9E0AA416-EA2A-4E9F-A2C1-EFAF337E5835}"/>
    <dgm:cxn modelId="{2D30686D-95CB-4A05-82F5-6BA9912677E0}" type="presOf" srcId="{80BAE6C1-8FD6-45E6-A681-6AB1B2754F08}" destId="{F34C4E7A-0B8A-4510-A82A-3B76CB8D8123}" srcOrd="0" destOrd="0" presId="urn:microsoft.com/office/officeart/2005/8/layout/hList1"/>
    <dgm:cxn modelId="{F3F51071-9666-4ED4-B8C1-D3800133C473}" type="presOf" srcId="{B7BDAEBD-A1C7-481C-B273-2911E59A44C6}" destId="{BADBDD9B-258B-4A5D-8583-1628B6AE901C}" srcOrd="0" destOrd="0" presId="urn:microsoft.com/office/officeart/2005/8/layout/hList1"/>
    <dgm:cxn modelId="{98EF6B51-64B9-4C17-AA21-6CAA68C95E63}" type="presOf" srcId="{D8AACD7A-1C88-4103-8447-84136C161BA1}" destId="{3CE10B26-8562-4789-BDE5-3FABABA5322F}" srcOrd="0" destOrd="0" presId="urn:microsoft.com/office/officeart/2005/8/layout/hList1"/>
    <dgm:cxn modelId="{D0BB79A4-8282-43CB-BA00-8EBF5A1EA8C6}" type="presOf" srcId="{E1670DB1-CD1A-43E7-82BE-726DB28A32A8}" destId="{167BC518-5434-45C7-A568-D85977922FDF}" srcOrd="0" destOrd="1" presId="urn:microsoft.com/office/officeart/2005/8/layout/hList1"/>
    <dgm:cxn modelId="{F029A1A7-DA72-4457-B3AA-D6B062CE2A2A}" type="presOf" srcId="{9DDEED36-F90E-4A11-9303-6520C7D1FDA5}" destId="{21F2BF77-57DA-4C25-BB3D-B4A3FABD2AA1}" srcOrd="0" destOrd="2" presId="urn:microsoft.com/office/officeart/2005/8/layout/hList1"/>
    <dgm:cxn modelId="{937191A9-6709-4E1D-85F8-8955C8EB8562}" srcId="{360C181F-4168-4CF5-ACAF-C37918FEF66C}" destId="{545578A1-80D0-49C8-B4B6-C1FCAE861456}" srcOrd="2" destOrd="0" parTransId="{B7E9A1E4-3202-4C33-AE97-8396AA933F30}" sibTransId="{AAAF9AD9-95D6-45B9-83BA-18B6813E0BF4}"/>
    <dgm:cxn modelId="{FB0287B2-23E6-4AAE-9119-7FA850508340}" type="presOf" srcId="{F8CCFF98-AF1E-4BE7-8184-3C3922F60479}" destId="{3CE10B26-8562-4789-BDE5-3FABABA5322F}" srcOrd="0" destOrd="2" presId="urn:microsoft.com/office/officeart/2005/8/layout/hList1"/>
    <dgm:cxn modelId="{AD5254B5-AA6D-45C3-97F7-F924F9077EE8}" type="presOf" srcId="{B29AE964-5F4C-4645-AD22-93919E995DB4}" destId="{167BC518-5434-45C7-A568-D85977922FDF}" srcOrd="0" destOrd="0" presId="urn:microsoft.com/office/officeart/2005/8/layout/hList1"/>
    <dgm:cxn modelId="{C58524B8-3B03-4FC8-91EB-2807E26DBFE3}" srcId="{80BAE6C1-8FD6-45E6-A681-6AB1B2754F08}" destId="{D8AACD7A-1C88-4103-8447-84136C161BA1}" srcOrd="0" destOrd="0" parTransId="{0F17F4E4-FA02-4ACC-9019-60E1F358BE04}" sibTransId="{269B4FCC-66E2-4968-B20F-77355B7AA09A}"/>
    <dgm:cxn modelId="{19B208C8-2909-4B8C-B919-7277E692C92C}" srcId="{360C181F-4168-4CF5-ACAF-C37918FEF66C}" destId="{80BAE6C1-8FD6-45E6-A681-6AB1B2754F08}" srcOrd="0" destOrd="0" parTransId="{159934FA-95CC-4EEE-95DA-358F8AFC2DDC}" sibTransId="{711F401B-EF56-451E-A0C8-68D49448C161}"/>
    <dgm:cxn modelId="{02E630E0-7D6A-4830-8B77-33CE9738D92C}" srcId="{80BAE6C1-8FD6-45E6-A681-6AB1B2754F08}" destId="{7BC6831E-0941-4853-8079-D12E78B9B0A9}" srcOrd="1" destOrd="0" parTransId="{792056F6-8631-4985-A96C-5805EF979B1A}" sibTransId="{79A28CA6-A1BF-4162-97E4-18DD7AFBD53A}"/>
    <dgm:cxn modelId="{C32D26EA-4229-4885-B9AE-583627D70F78}" srcId="{80BAE6C1-8FD6-45E6-A681-6AB1B2754F08}" destId="{F8CCFF98-AF1E-4BE7-8184-3C3922F60479}" srcOrd="2" destOrd="0" parTransId="{7EF1E97A-7C1A-4864-91D8-1949E10E1F7A}" sibTransId="{FD6B1614-CC81-4DB1-AEDF-992FAD4D1812}"/>
    <dgm:cxn modelId="{49B05BEA-2CB0-4D9D-B417-EDAC2243169A}" type="presOf" srcId="{A3C68A48-7A8B-4018-8C02-1C20406CF24C}" destId="{21F2BF77-57DA-4C25-BB3D-B4A3FABD2AA1}" srcOrd="0" destOrd="1" presId="urn:microsoft.com/office/officeart/2005/8/layout/hList1"/>
    <dgm:cxn modelId="{FC828DF5-7B4D-4ABF-B239-51025ADAD6D9}" srcId="{B7BDAEBD-A1C7-481C-B273-2911E59A44C6}" destId="{3E0FE057-6B32-4ACD-A2A9-715D2D194F27}" srcOrd="0" destOrd="0" parTransId="{E971D8F9-FA35-41C9-8D4E-102AAE4B6DE7}" sibTransId="{6D5EB947-43B2-4F59-8ED2-CDB664DE1AB6}"/>
    <dgm:cxn modelId="{079BD9F6-C0F7-4F1B-A468-815F71B0AF47}" type="presOf" srcId="{A2EA854F-7A23-44D7-AFF9-CCF61E82C057}" destId="{167BC518-5434-45C7-A568-D85977922FDF}" srcOrd="0" destOrd="2" presId="urn:microsoft.com/office/officeart/2005/8/layout/hList1"/>
    <dgm:cxn modelId="{89606DFB-083A-4609-B56E-927F0936F3F3}" srcId="{545578A1-80D0-49C8-B4B6-C1FCAE861456}" destId="{B29AE964-5F4C-4645-AD22-93919E995DB4}" srcOrd="0" destOrd="0" parTransId="{E2760F37-E49A-478C-9596-7EB565C0D2EE}" sibTransId="{F16E0D38-A13D-4B1C-B1D2-F92CF66F9450}"/>
    <dgm:cxn modelId="{650361FF-1189-4A86-B1EB-EE7FB8CBE243}" srcId="{B7BDAEBD-A1C7-481C-B273-2911E59A44C6}" destId="{9DDEED36-F90E-4A11-9303-6520C7D1FDA5}" srcOrd="2" destOrd="0" parTransId="{2377F5B9-3C91-41DA-A5C7-E39C978D141D}" sibTransId="{EBAA6BFD-8708-47A7-9B53-B1DCD9912D3B}"/>
    <dgm:cxn modelId="{F116029D-6D8A-4D98-9AE5-1CF16A5CBF0E}" type="presParOf" srcId="{B2E2C4DA-AE33-4FB8-9096-0D0B69E44352}" destId="{EC22E17F-EE74-46FC-9BEC-841191D71FA6}" srcOrd="0" destOrd="0" presId="urn:microsoft.com/office/officeart/2005/8/layout/hList1"/>
    <dgm:cxn modelId="{F4548BAF-2887-4B24-853C-3F4E247D618A}" type="presParOf" srcId="{EC22E17F-EE74-46FC-9BEC-841191D71FA6}" destId="{F34C4E7A-0B8A-4510-A82A-3B76CB8D8123}" srcOrd="0" destOrd="0" presId="urn:microsoft.com/office/officeart/2005/8/layout/hList1"/>
    <dgm:cxn modelId="{06CD5161-7825-42DB-85D3-CF1964632B19}" type="presParOf" srcId="{EC22E17F-EE74-46FC-9BEC-841191D71FA6}" destId="{3CE10B26-8562-4789-BDE5-3FABABA5322F}" srcOrd="1" destOrd="0" presId="urn:microsoft.com/office/officeart/2005/8/layout/hList1"/>
    <dgm:cxn modelId="{1F1BD12E-2E6E-4C9C-8E90-BB7026451227}" type="presParOf" srcId="{B2E2C4DA-AE33-4FB8-9096-0D0B69E44352}" destId="{F9D7E6E3-26CD-4356-A20A-7AA986BF4509}" srcOrd="1" destOrd="0" presId="urn:microsoft.com/office/officeart/2005/8/layout/hList1"/>
    <dgm:cxn modelId="{F41A8014-96A0-45CF-AF5C-97E90881227B}" type="presParOf" srcId="{B2E2C4DA-AE33-4FB8-9096-0D0B69E44352}" destId="{B2B24A1D-9575-4F80-BEE9-C06137FAAC7F}" srcOrd="2" destOrd="0" presId="urn:microsoft.com/office/officeart/2005/8/layout/hList1"/>
    <dgm:cxn modelId="{01479E1B-958E-48F3-9E76-7AE082B9FB6D}" type="presParOf" srcId="{B2B24A1D-9575-4F80-BEE9-C06137FAAC7F}" destId="{BADBDD9B-258B-4A5D-8583-1628B6AE901C}" srcOrd="0" destOrd="0" presId="urn:microsoft.com/office/officeart/2005/8/layout/hList1"/>
    <dgm:cxn modelId="{5FA48CAC-A506-418D-96EB-851170B6BE85}" type="presParOf" srcId="{B2B24A1D-9575-4F80-BEE9-C06137FAAC7F}" destId="{21F2BF77-57DA-4C25-BB3D-B4A3FABD2AA1}" srcOrd="1" destOrd="0" presId="urn:microsoft.com/office/officeart/2005/8/layout/hList1"/>
    <dgm:cxn modelId="{6FBD414C-77D7-479C-89BE-D650EAE88AEE}" type="presParOf" srcId="{B2E2C4DA-AE33-4FB8-9096-0D0B69E44352}" destId="{EAF3BDDA-8D24-4299-9B75-2B02A8483C53}" srcOrd="3" destOrd="0" presId="urn:microsoft.com/office/officeart/2005/8/layout/hList1"/>
    <dgm:cxn modelId="{FA764E56-9244-4E36-A81A-B03E0065BB23}" type="presParOf" srcId="{B2E2C4DA-AE33-4FB8-9096-0D0B69E44352}" destId="{6DF82256-CF5C-4614-918F-8902905E0E8F}" srcOrd="4" destOrd="0" presId="urn:microsoft.com/office/officeart/2005/8/layout/hList1"/>
    <dgm:cxn modelId="{EBA5CE65-5B41-495C-A710-DCA988B382AE}" type="presParOf" srcId="{6DF82256-CF5C-4614-918F-8902905E0E8F}" destId="{5BA52C8B-8AF7-4C30-A298-ACFD4C238FC0}" srcOrd="0" destOrd="0" presId="urn:microsoft.com/office/officeart/2005/8/layout/hList1"/>
    <dgm:cxn modelId="{92C6DDFC-D4A3-4FE7-864B-EF8192F008B4}" type="presParOf" srcId="{6DF82256-CF5C-4614-918F-8902905E0E8F}" destId="{167BC518-5434-45C7-A568-D85977922FD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4C4E7A-0B8A-4510-A82A-3B76CB8D8123}">
      <dsp:nvSpPr>
        <dsp:cNvPr id="0" name=""/>
        <dsp:cNvSpPr/>
      </dsp:nvSpPr>
      <dsp:spPr>
        <a:xfrm>
          <a:off x="1752" y="140749"/>
          <a:ext cx="1708784" cy="4709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Role:</a:t>
          </a:r>
          <a:endParaRPr lang="en-US" sz="1300" kern="1200"/>
        </a:p>
      </dsp:txBody>
      <dsp:txXfrm>
        <a:off x="1752" y="140749"/>
        <a:ext cx="1708784" cy="470998"/>
      </dsp:txXfrm>
    </dsp:sp>
    <dsp:sp modelId="{3CE10B26-8562-4789-BDE5-3FABABA5322F}">
      <dsp:nvSpPr>
        <dsp:cNvPr id="0" name=""/>
        <dsp:cNvSpPr/>
      </dsp:nvSpPr>
      <dsp:spPr>
        <a:xfrm>
          <a:off x="1752" y="611747"/>
          <a:ext cx="1708784" cy="15344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Red Hat Enterprise Linux Server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Red Hat Enterprise Linux Workstation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Red Hat Enterprise Linux Compute Node</a:t>
          </a:r>
        </a:p>
      </dsp:txBody>
      <dsp:txXfrm>
        <a:off x="1752" y="611747"/>
        <a:ext cx="1708784" cy="1534454"/>
      </dsp:txXfrm>
    </dsp:sp>
    <dsp:sp modelId="{BADBDD9B-258B-4A5D-8583-1628B6AE901C}">
      <dsp:nvSpPr>
        <dsp:cNvPr id="0" name=""/>
        <dsp:cNvSpPr/>
      </dsp:nvSpPr>
      <dsp:spPr>
        <a:xfrm>
          <a:off x="1949767" y="140749"/>
          <a:ext cx="1708784" cy="4709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Service-Level Agreement (SLA):</a:t>
          </a:r>
          <a:endParaRPr lang="en-US" sz="1300" kern="1200"/>
        </a:p>
      </dsp:txBody>
      <dsp:txXfrm>
        <a:off x="1949767" y="140749"/>
        <a:ext cx="1708784" cy="470998"/>
      </dsp:txXfrm>
    </dsp:sp>
    <dsp:sp modelId="{21F2BF77-57DA-4C25-BB3D-B4A3FABD2AA1}">
      <dsp:nvSpPr>
        <dsp:cNvPr id="0" name=""/>
        <dsp:cNvSpPr/>
      </dsp:nvSpPr>
      <dsp:spPr>
        <a:xfrm>
          <a:off x="1949767" y="611747"/>
          <a:ext cx="1708784" cy="15344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Premium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Standard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Self-Support</a:t>
          </a:r>
        </a:p>
      </dsp:txBody>
      <dsp:txXfrm>
        <a:off x="1949767" y="611747"/>
        <a:ext cx="1708784" cy="1534454"/>
      </dsp:txXfrm>
    </dsp:sp>
    <dsp:sp modelId="{5BA52C8B-8AF7-4C30-A298-ACFD4C238FC0}">
      <dsp:nvSpPr>
        <dsp:cNvPr id="0" name=""/>
        <dsp:cNvSpPr/>
      </dsp:nvSpPr>
      <dsp:spPr>
        <a:xfrm>
          <a:off x="3897782" y="140749"/>
          <a:ext cx="1708784" cy="4709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52832" rIns="92456" bIns="5283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Usage:</a:t>
          </a:r>
          <a:endParaRPr lang="en-US" sz="1300" kern="1200"/>
        </a:p>
      </dsp:txBody>
      <dsp:txXfrm>
        <a:off x="3897782" y="140749"/>
        <a:ext cx="1708784" cy="470998"/>
      </dsp:txXfrm>
    </dsp:sp>
    <dsp:sp modelId="{167BC518-5434-45C7-A568-D85977922FDF}">
      <dsp:nvSpPr>
        <dsp:cNvPr id="0" name=""/>
        <dsp:cNvSpPr/>
      </dsp:nvSpPr>
      <dsp:spPr>
        <a:xfrm>
          <a:off x="3897782" y="611747"/>
          <a:ext cx="1708784" cy="15344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342" tIns="69342" rIns="92456" bIns="104013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Production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Development/Test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Disaster Recovery</a:t>
          </a:r>
        </a:p>
      </dsp:txBody>
      <dsp:txXfrm>
        <a:off x="3897782" y="611747"/>
        <a:ext cx="1708784" cy="1534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4EB0D5D-32EC-0E1A-EF2E-D9BDB56A7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69AAD1D-0FF8-641A-9F3C-8376C77DE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E781080-2FF0-84CB-D7C4-C4373989B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76AB4B-8B52-551E-995A-D9EE3F8F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E6BC5EC-F90D-1BBA-FE9C-8583C4AEE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9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B629E3-3002-4FC7-122D-02B9465B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CABD52-5EDA-B278-20DC-42CC58380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D3F9347-4CD6-2938-422E-8A41E9721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F36F8D6-7911-9716-BB9F-4B4DB27C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FACD1DB-4548-30AE-8F12-78354BF2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84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D099994-BDA9-54A1-E480-28E39A377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DEE0F18-0A3D-FCC3-E799-001C4A937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E7BC0C0-80AE-9D07-F124-BC4757C0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CD9FE3-3F27-89F7-261B-48FD50B3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C7AB58B-934D-AB0D-0589-8AE38D6F2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37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3FE9973-3EB1-0997-E5DB-652AD260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34D74A6-5B33-32E1-35D1-BC31121D93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C992869-374B-B120-62D5-D2A008063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0401290-BB65-C152-04AA-0084D3E2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F96B515-D158-0BD9-8029-E534D6AB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FC09B51-77AB-765F-E375-FF08C9ED6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5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D8BAB7-09F9-83C7-CFD9-B5A0E0DB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A4D2872-633B-0132-FD8E-6AD0903DD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0176EB1-8F6E-30A1-3CE6-F48168A43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8085E12E-1C85-3744-85A0-BFA94E7A7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C56FBB59-16F4-E9EC-1594-D32F953DA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93D7F5FA-4ED0-C48F-D468-6457A721D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DB0514F-5845-B88D-0287-4C6113EA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E1450082-1463-3FAE-B723-43AB111C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8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A9A4F6-6CC4-1F1D-A8FA-5DF8E73A8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A818699-5E8C-5F96-2E9C-6A8181BA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BC13DE6-E867-1368-94C1-FD06348F9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8DD9097A-0625-B124-04B6-A2BFAE9BC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6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D5E7078-60CB-7980-97BD-6A90403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29FC300-B902-AAFD-509A-619C9E1A3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AC1DF01-F78C-12AB-B416-89B9A238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1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022958-9F26-293C-8CDA-15A9C2D7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9C291CC-16F9-09D5-90B5-319EF05F8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964A63E-9DE1-8BFF-16B8-D393D6F18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492482E-1D63-7D6C-E61D-82ED7120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15131FA-DD8F-510B-3EB6-3F72F58B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913B2FB-C478-0164-4362-6A002B0D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16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20C38C-4F39-6372-86C4-876D2C0C9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AF5C47C-BF6C-A560-0F43-4123F648FCE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A5895C6-3051-C515-2987-99DFBC041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4747E57-9F0A-BBA3-66A9-B9B22F46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DB724DC-7C1D-1A3F-6191-854AFFA4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BE3667D-69E9-A433-001B-EAF75EC2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528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035F55-ADA5-6427-C6F2-E90E7FE1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2889B30-06D3-2A9A-BA8D-8868EB140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1234C4-B3D5-4BB5-0017-A8B911BB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FD8DCD4-DDFF-078D-7B55-6C619C04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1E2C56B-9F54-51E2-7D7F-DADA5298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8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F3D115DC-BA90-35EE-7DD0-A460D376F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F2E5F91-C6D5-6520-9615-9A4D09963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1EEF87E-4E67-3AB3-6A06-E0075AB87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8BB27E3-1530-48FD-5A8A-C057D135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6C14D90-A04C-FFE0-0314-F61C12ECB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37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B832BAB6-AF2F-52BB-54FB-46F10EA9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6C03F01-25A9-A9A4-105F-D87E74C2B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AFEFE3C-E119-EEA0-5FDA-C536C77C4F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8E10E-54AF-417A-9707-FF7B5F4AC52D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DAB8B2F-8242-556A-C21E-E0E622BF2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CE2D71-D046-8511-14BE-25318FF6E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2DFB9E-BBF1-4677-92BC-3517343FF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8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423C9ED-D707-9AE5-83A3-C02C7048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470" y="3041077"/>
            <a:ext cx="10640754" cy="775845"/>
          </a:xfrm>
        </p:spPr>
        <p:txBody>
          <a:bodyPr anchor="b"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Red Hat System Administration I 10.0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223D44DA-3ADE-E856-31FA-44C8B6343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9131" y="3993384"/>
            <a:ext cx="8409368" cy="825508"/>
          </a:xfrm>
        </p:spPr>
        <p:txBody>
          <a:bodyPr anchor="ctr">
            <a:normAutofit/>
          </a:bodyPr>
          <a:lstStyle/>
          <a:p>
            <a:pPr algn="r"/>
            <a:r>
              <a:rPr lang="tr-TR" sz="2000" b="1" dirty="0" err="1">
                <a:solidFill>
                  <a:schemeClr val="tx2"/>
                </a:solidFill>
              </a:rPr>
              <a:t>Chapter</a:t>
            </a:r>
            <a:r>
              <a:rPr lang="tr-TR" sz="2000" b="1" dirty="0">
                <a:solidFill>
                  <a:schemeClr val="tx2"/>
                </a:solidFill>
              </a:rPr>
              <a:t>  4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4B38AA2-095D-634B-3059-51BECAEE5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9" y="375972"/>
            <a:ext cx="2916879" cy="122129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A8F42B92-EC7C-16BE-57B9-677AD7A323BA}"/>
              </a:ext>
            </a:extLst>
          </p:cNvPr>
          <p:cNvSpPr txBox="1"/>
          <p:nvPr/>
        </p:nvSpPr>
        <p:spPr>
          <a:xfrm>
            <a:off x="9413823" y="5503820"/>
            <a:ext cx="184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Dilara Gülenç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248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E986297-C486-5436-B9F4-D4E850B2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Registering Systems for Red Hat Support</a:t>
            </a: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40A0504-0573-7BD5-F944-927F0B8FD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749" y="3052233"/>
            <a:ext cx="6699499" cy="3496734"/>
          </a:xfrm>
        </p:spPr>
        <p:txBody>
          <a:bodyPr vert="horz" lIns="91440" tIns="45720" rIns="91440" bIns="45720" rtlCol="0" anchor="b">
            <a:noAutofit/>
          </a:bodyPr>
          <a:lstStyle/>
          <a:p>
            <a:pPr lvl="0" algn="just"/>
            <a:r>
              <a:rPr lang="en-US" sz="2400" b="1" dirty="0"/>
              <a:t>Red Hat CDN Access:</a:t>
            </a:r>
            <a:r>
              <a:rPr lang="en-US" sz="2400" dirty="0"/>
              <a:t> Delivers regular updates, security patches, bug fixes, and software enhancements.</a:t>
            </a:r>
          </a:p>
          <a:p>
            <a:pPr lvl="0" algn="just"/>
            <a:r>
              <a:rPr lang="en-US" sz="2400" b="1" dirty="0"/>
              <a:t>Support Resources:</a:t>
            </a:r>
            <a:r>
              <a:rPr lang="en-US" sz="2400" dirty="0"/>
              <a:t> Active subscriptions include Customer Portal Labs, Knowledgebase, documentation, Red Hat Insights, and expert technical support.</a:t>
            </a:r>
          </a:p>
          <a:p>
            <a:pPr lvl="0" algn="just"/>
            <a:r>
              <a:rPr lang="en-US" sz="2400" b="1" dirty="0"/>
              <a:t>Simple Content Access (SCA):</a:t>
            </a:r>
            <a:r>
              <a:rPr lang="en-US" sz="2400" dirty="0"/>
              <a:t> Validates subscriptions at the organization level, removing the need to manually attach subscriptions per system.</a:t>
            </a:r>
          </a:p>
          <a:p>
            <a:pPr lvl="0" algn="just"/>
            <a:r>
              <a:rPr lang="en-US" sz="2400" b="1" dirty="0"/>
              <a:t>Hybrid Cloud Console (console.redhat.com):</a:t>
            </a:r>
            <a:r>
              <a:rPr lang="en-US" sz="2400" dirty="0"/>
              <a:t> Serves as the central interface for inventory and subscription management.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4908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C747B-1CDD-E95F-E5CD-7564860B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E0021399-9A40-F446-C3FE-2CC57AD0B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91B6B40-7BC5-0CF8-7A98-CF420BE12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507"/>
            <a:ext cx="3494362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Registering Systems for Red Hat Support</a:t>
            </a:r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0696D538-A80F-52F8-FA6B-3E2F11F2B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0D42C389-7637-344B-7234-EAA3A4178DBF}"/>
              </a:ext>
            </a:extLst>
          </p:cNvPr>
          <p:cNvSpPr txBox="1">
            <a:spLocks/>
          </p:cNvSpPr>
          <p:nvPr/>
        </p:nvSpPr>
        <p:spPr>
          <a:xfrm>
            <a:off x="4849198" y="1303866"/>
            <a:ext cx="6250940" cy="2304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rPr lang="en-US" sz="2400" b="1" dirty="0"/>
              <a:t>Identity Certificates:</a:t>
            </a:r>
            <a:r>
              <a:rPr lang="en-US" sz="2400" dirty="0"/>
              <a:t> Issues unique identity certificates to authenticate the system to Red Hat subscription services.</a:t>
            </a:r>
          </a:p>
          <a:p>
            <a:pPr lvl="0" algn="just"/>
            <a:r>
              <a:rPr lang="en-US" sz="2400" b="1" dirty="0"/>
              <a:t>Repository Enablement:</a:t>
            </a:r>
            <a:r>
              <a:rPr lang="en-US" sz="2400" dirty="0"/>
              <a:t> Automatically enables default repositories for installed products with the ability to add optional repositories.</a:t>
            </a:r>
          </a:p>
          <a:p>
            <a:pPr lvl="0" algn="just"/>
            <a:r>
              <a:rPr lang="en-US" sz="2400" b="1" dirty="0"/>
              <a:t>Inventory Tracking:</a:t>
            </a:r>
            <a:r>
              <a:rPr lang="en-US" sz="2400" dirty="0"/>
              <a:t> Tracks entitlements directly on the Subscription Inventory page in the Hybrid Cloud Console.</a:t>
            </a:r>
          </a:p>
          <a:p>
            <a:pPr lvl="0" algn="just"/>
            <a:r>
              <a:rPr lang="en-US" sz="2400" b="1" dirty="0"/>
              <a:t>Insights Connectivity:</a:t>
            </a:r>
            <a:r>
              <a:rPr lang="en-US" sz="2400" dirty="0"/>
              <a:t> Connects systems to Red Hat Insights for predictive analytics and automated issue resolution.</a:t>
            </a:r>
          </a:p>
        </p:txBody>
      </p:sp>
    </p:spTree>
    <p:extLst>
      <p:ext uri="{BB962C8B-B14F-4D97-AF65-F5344CB8AC3E}">
        <p14:creationId xmlns:p14="http://schemas.microsoft.com/office/powerpoint/2010/main" val="403055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3775626-3A03-4489-5CC2-1F244D794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dirty="0"/>
              <a:t>Modern System Registration: The </a:t>
            </a:r>
            <a:r>
              <a:rPr lang="en-US" dirty="0" err="1"/>
              <a:t>rhc</a:t>
            </a:r>
            <a:r>
              <a:rPr lang="en-US" dirty="0"/>
              <a:t> Tool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E4CB9CD-5884-C423-59D2-6584D549C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r>
              <a:rPr lang="en-US" sz="2000" b="1"/>
              <a:t>rhc Tool Overview (RHEL 8.8+):</a:t>
            </a:r>
            <a:endParaRPr lang="en-US" sz="2000"/>
          </a:p>
          <a:p>
            <a:pPr lvl="0"/>
            <a:r>
              <a:rPr lang="en-US" sz="2000"/>
              <a:t>Integrates three services in a single workflow: </a:t>
            </a:r>
            <a:r>
              <a:rPr lang="en-US" sz="2000" b="1"/>
              <a:t>content</a:t>
            </a:r>
            <a:r>
              <a:rPr lang="en-US" sz="2000"/>
              <a:t>, </a:t>
            </a:r>
            <a:r>
              <a:rPr lang="en-US" sz="2000" b="1"/>
              <a:t>analytics</a:t>
            </a:r>
            <a:r>
              <a:rPr lang="en-US" sz="2000"/>
              <a:t>, and </a:t>
            </a:r>
            <a:r>
              <a:rPr lang="en-US" sz="2000" b="1"/>
              <a:t>remote-management</a:t>
            </a:r>
            <a:r>
              <a:rPr lang="en-US" sz="2000"/>
              <a:t>.</a:t>
            </a:r>
          </a:p>
          <a:p>
            <a:pPr lvl="0"/>
            <a:r>
              <a:rPr lang="en-US" sz="2000"/>
              <a:t>Requires a valid Red Hat account and </a:t>
            </a:r>
            <a:r>
              <a:rPr lang="en-US" sz="2000" b="1"/>
              <a:t>root</a:t>
            </a:r>
            <a:r>
              <a:rPr lang="en-US" sz="2000"/>
              <a:t> privileges on the managed system.</a:t>
            </a:r>
          </a:p>
          <a:p>
            <a:r>
              <a:rPr lang="en-US" sz="2000" b="1"/>
              <a:t>1. Default Connection (All Features Enabled):</a:t>
            </a:r>
            <a:endParaRPr lang="en-US" sz="2000"/>
          </a:p>
          <a:p>
            <a:endParaRPr lang="en-US" sz="200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8C8816B-A1DB-7337-844F-28EDD9D10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288" y="4777740"/>
            <a:ext cx="3716335" cy="1755967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D4793E4C-77E2-1617-EAAD-6623F88B1AFB}"/>
              </a:ext>
            </a:extLst>
          </p:cNvPr>
          <p:cNvSpPr txBox="1"/>
          <p:nvPr/>
        </p:nvSpPr>
        <p:spPr>
          <a:xfrm>
            <a:off x="6127093" y="2198361"/>
            <a:ext cx="53874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Disabling Optional Features (</a:t>
            </a:r>
            <a:r>
              <a:rPr lang="en-US" b="1" dirty="0">
                <a:latin typeface="Courier New" panose="02070309020205020404" pitchFamily="49" charset="0"/>
              </a:rPr>
              <a:t>--disable-feature</a:t>
            </a:r>
            <a:r>
              <a:rPr lang="en-US" b="1" dirty="0"/>
              <a:t>):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Exclude Insights and remote management to permit repository access only: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B1811D83-CCEC-ED59-2F57-47E9F1B55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645" y="3772231"/>
            <a:ext cx="6064903" cy="137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9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151AEAC-BD69-7032-4B0A-01F2BB8E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Automation via Activation Keys &amp; </a:t>
            </a:r>
            <a:r>
              <a:rPr lang="en-US" sz="4100">
                <a:latin typeface="Courier New" panose="02070309020205020404" pitchFamily="49" charset="0"/>
              </a:rPr>
              <a:t>rhc</a:t>
            </a:r>
            <a:r>
              <a:rPr lang="en-US" sz="4100"/>
              <a:t> Disconnection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122A35A4-8C33-E148-B100-957A9B8CF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7407" y="2397737"/>
                <a:ext cx="10308373" cy="3144948"/>
              </a:xfrm>
            </p:spPr>
            <p:txBody>
              <a:bodyPr anchor="ctr">
                <a:normAutofit/>
              </a:bodyPr>
              <a:lstStyle/>
              <a:p>
                <a:pPr lvl="0"/>
                <a:r>
                  <a:rPr lang="en-US" sz="1600" b="1" dirty="0"/>
                  <a:t>Security &amp; Automation:</a:t>
                </a:r>
                <a:r>
                  <a:rPr lang="en-US" sz="1600" dirty="0"/>
                  <a:t> Replaces interactive usernames and passwords with a pre-shared authentication token and organization ID.</a:t>
                </a:r>
              </a:p>
              <a:p>
                <a:pPr lvl="0"/>
                <a:r>
                  <a:rPr lang="en-US" sz="1600" b="1" dirty="0"/>
                  <a:t>Hybrid Cloud Console Path:</a:t>
                </a:r>
                <a:endParaRPr lang="en-US" sz="1600" dirty="0"/>
              </a:p>
              <a:p>
                <a:pPr lvl="1"/>
                <a:r>
                  <a:rPr lang="en-US" sz="1600" i="1" dirty="0"/>
                  <a:t>Insights for RHEL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i="1" dirty="0"/>
                  <a:t>Inventory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i="1" dirty="0"/>
                  <a:t>System Configuration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600" i="1" dirty="0"/>
                  <a:t>Activation Keys</a:t>
                </a:r>
                <a:r>
                  <a:rPr lang="en-US" sz="1600" dirty="0"/>
                  <a:t>.</a:t>
                </a:r>
              </a:p>
              <a:p>
                <a:pPr lvl="0"/>
                <a:r>
                  <a:rPr lang="en-US" sz="1600" b="1" dirty="0"/>
                  <a:t>Customization Options:</a:t>
                </a:r>
                <a:endParaRPr lang="en-US" sz="1600" dirty="0"/>
              </a:p>
              <a:p>
                <a:pPr lvl="1"/>
                <a:r>
                  <a:rPr lang="en-US" sz="1600" dirty="0"/>
                  <a:t>Lock to a specific RHEL release or track the latest version.</a:t>
                </a:r>
              </a:p>
              <a:p>
                <a:pPr lvl="1"/>
                <a:r>
                  <a:rPr lang="en-US" sz="1600" dirty="0"/>
                  <a:t>Pre-define system purpose tags and attach extra software repositories.</a:t>
                </a:r>
              </a:p>
              <a:p>
                <a:pPr lvl="0"/>
                <a:r>
                  <a:rPr lang="en-US" sz="1600" b="1" dirty="0"/>
                  <a:t>Registration Execution:</a:t>
                </a:r>
                <a:endParaRPr lang="en-US" sz="1600" dirty="0"/>
              </a:p>
              <a:p>
                <a:endParaRPr lang="en-US" sz="1600" dirty="0"/>
              </a:p>
            </p:txBody>
          </p:sp>
        </mc:Choice>
        <mc:Fallback>
          <p:sp>
            <p:nvSpPr>
              <p:cNvPr id="3" name="İçerik Yer Tutucusu 2">
                <a:extLst>
                  <a:ext uri="{FF2B5EF4-FFF2-40B4-BE49-F238E27FC236}">
                    <a16:creationId xmlns:a16="http://schemas.microsoft.com/office/drawing/2014/main" id="{122A35A4-8C33-E148-B100-957A9B8CF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7407" y="2397737"/>
                <a:ext cx="10308373" cy="3144948"/>
              </a:xfrm>
              <a:blipFill>
                <a:blip r:embed="rId2"/>
                <a:stretch>
                  <a:fillRect l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Resim 4">
            <a:extLst>
              <a:ext uri="{FF2B5EF4-FFF2-40B4-BE49-F238E27FC236}">
                <a16:creationId xmlns:a16="http://schemas.microsoft.com/office/drawing/2014/main" id="{5360F955-A63A-FD26-DE2A-6D48E698E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259" y="4898459"/>
            <a:ext cx="4723482" cy="151151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5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21CB0-841D-EBCE-A4DA-C16E9792A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0913387-5277-CDB3-3183-63291299A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5E95574-2BFF-6C7A-C18E-C71A2144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Automation via Activation Keys &amp; </a:t>
            </a:r>
            <a:r>
              <a:rPr lang="en-US" sz="4100">
                <a:latin typeface="Courier New" panose="02070309020205020404" pitchFamily="49" charset="0"/>
              </a:rPr>
              <a:t>rhc</a:t>
            </a:r>
            <a:r>
              <a:rPr lang="en-US" sz="4100"/>
              <a:t> Disconnection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02348-5E43-E914-F00C-DC28C12F7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FE1E7-C4D5-8391-6956-6C4447BC8D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4F396C-D230-A574-44AD-0C2D37644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E152CC06-A050-69BB-1DC8-4844A2967A14}"/>
              </a:ext>
            </a:extLst>
          </p:cNvPr>
          <p:cNvSpPr txBox="1"/>
          <p:nvPr/>
        </p:nvSpPr>
        <p:spPr>
          <a:xfrm>
            <a:off x="737407" y="2591880"/>
            <a:ext cx="6172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Single Command Teardown: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Stops the </a:t>
            </a:r>
            <a:r>
              <a:rPr lang="en-US" dirty="0" err="1">
                <a:latin typeface="+mn-lt"/>
              </a:rPr>
              <a:t>yggdrasil</a:t>
            </a:r>
            <a:r>
              <a:rPr lang="en-US" dirty="0"/>
              <a:t> service.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Disconnects the host from Red Hat Insights.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Removes the host from Red Hat Subscription Management.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46242B82-788F-610C-71BA-7E420B0FF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843" y="4337074"/>
            <a:ext cx="4202312" cy="164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1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BD480B-DEEC-673A-CDCD-E5438DF6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Legacy Registration with </a:t>
            </a:r>
            <a:r>
              <a:rPr lang="en-US" sz="3600" dirty="0"/>
              <a:t>subscription-manager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4DA1F68-7C20-C02B-B3D3-76EBDB98A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85660" cy="1603375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Tool Characteristics:</a:t>
            </a:r>
            <a:endParaRPr lang="en-US" dirty="0"/>
          </a:p>
          <a:p>
            <a:pPr lvl="0"/>
            <a:r>
              <a:rPr lang="en-US" dirty="0"/>
              <a:t>Usable on all RHEL versions (required for RHEL 8.7 and earlier; fully functional in RHEL 10).</a:t>
            </a:r>
          </a:p>
          <a:p>
            <a:pPr lvl="0"/>
            <a:r>
              <a:rPr lang="en-US" dirty="0"/>
              <a:t>Modules for per-system subscription attachment have been removed under SCA.</a:t>
            </a:r>
          </a:p>
          <a:p>
            <a:pPr lvl="0"/>
            <a:r>
              <a:rPr lang="en-US" dirty="0"/>
              <a:t>Does </a:t>
            </a:r>
            <a:r>
              <a:rPr lang="en-US" b="1" dirty="0"/>
              <a:t>not</a:t>
            </a:r>
            <a:r>
              <a:rPr lang="en-US" dirty="0"/>
              <a:t> auto-register systems with Red Hat Insights.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o 3">
                <a:extLst>
                  <a:ext uri="{FF2B5EF4-FFF2-40B4-BE49-F238E27FC236}">
                    <a16:creationId xmlns:a16="http://schemas.microsoft.com/office/drawing/2014/main" id="{EED68254-5D5D-702D-7946-FE51374FAC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0616889"/>
                  </p:ext>
                </p:extLst>
              </p:nvPr>
            </p:nvGraphicFramePr>
            <p:xfrm>
              <a:off x="838200" y="3119279"/>
              <a:ext cx="10515600" cy="24688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2330125295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65276751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Method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Syntax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3168608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Interactive Credentials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root@host:~# subscription-manager register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48210709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Activation Key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root@host:~# subscription-manager register --activationkey &lt;key&gt; --org &lt;id&gt;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2224027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Status Verification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 dirty="0" err="1">
                              <a:effectLst/>
                            </a:rPr>
                            <a:t>root@host</a:t>
                          </a:r>
                          <a:r>
                            <a:rPr lang="en-US" sz="1600" dirty="0">
                              <a:effectLst/>
                            </a:rPr>
                            <a:t>:~# subscription-manager status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smtClean="0"/>
                                <m:t>→</m:t>
                              </m:r>
                            </m:oMath>
                          </a14:m>
                          <a:r>
                            <a:rPr lang="en-US" sz="1600" dirty="0">
                              <a:effectLst/>
                            </a:rPr>
                            <a:t>Overall Status: Registered</a:t>
                          </a:r>
                          <a:endParaRPr lang="en-US" sz="16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9888274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Unregister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 dirty="0" err="1">
                              <a:effectLst/>
                            </a:rPr>
                            <a:t>root@host</a:t>
                          </a:r>
                          <a:r>
                            <a:rPr lang="en-US" sz="1600" dirty="0">
                              <a:effectLst/>
                            </a:rPr>
                            <a:t>:~# subscription-manager unregister</a:t>
                          </a:r>
                          <a:endParaRPr lang="en-US" sz="16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7779171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o 3">
                <a:extLst>
                  <a:ext uri="{FF2B5EF4-FFF2-40B4-BE49-F238E27FC236}">
                    <a16:creationId xmlns:a16="http://schemas.microsoft.com/office/drawing/2014/main" id="{EED68254-5D5D-702D-7946-FE51374FAC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0616889"/>
                  </p:ext>
                </p:extLst>
              </p:nvPr>
            </p:nvGraphicFramePr>
            <p:xfrm>
              <a:off x="838200" y="3119279"/>
              <a:ext cx="10515600" cy="246888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2330125295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652767511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Method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Syntax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1316860809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Interactive Credentials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root@host:~# subscription-manager register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48210709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Activation Key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root@host:~# subscription-manager register --activationkey &lt;key&gt; --org &lt;id&gt;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22240275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Status Verification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0" marR="114300" marT="76200" marB="76200" anchor="ctr">
                        <a:blipFill>
                          <a:blip r:embed="rId2"/>
                          <a:stretch>
                            <a:fillRect l="-100116" t="-225714" r="-232" b="-695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882746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>
                              <a:effectLst/>
                            </a:rPr>
                            <a:t>Unregister</a:t>
                          </a:r>
                          <a:endParaRPr lang="en-US" sz="16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tc>
                      <a:txBody>
                        <a:bodyPr/>
                        <a:lstStyle/>
                        <a:p>
                          <a:pPr marL="0" marR="0" rtl="0">
                            <a:spcAft>
                              <a:spcPts val="2400"/>
                            </a:spcAft>
                            <a:buNone/>
                          </a:pPr>
                          <a:r>
                            <a:rPr lang="en-US" sz="1600" dirty="0" err="1">
                              <a:effectLst/>
                            </a:rPr>
                            <a:t>root@host</a:t>
                          </a:r>
                          <a:r>
                            <a:rPr lang="en-US" sz="1600" dirty="0">
                              <a:effectLst/>
                            </a:rPr>
                            <a:t>:~# subscription-manager unregister</a:t>
                          </a:r>
                          <a:endParaRPr lang="en-US" sz="1600" dirty="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114300" marR="114300" marT="76200" marB="76200" anchor="ctr"/>
                    </a:tc>
                    <a:extLst>
                      <a:ext uri="{0D108BD9-81ED-4DB2-BD59-A6C34878D82A}">
                        <a16:rowId xmlns:a16="http://schemas.microsoft.com/office/drawing/2014/main" val="27779171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Metin kutusu 5">
            <a:extLst>
              <a:ext uri="{FF2B5EF4-FFF2-40B4-BE49-F238E27FC236}">
                <a16:creationId xmlns:a16="http://schemas.microsoft.com/office/drawing/2014/main" id="{20AC698C-8BA4-A010-3B05-BD24FF61C30C}"/>
              </a:ext>
            </a:extLst>
          </p:cNvPr>
          <p:cNvSpPr txBox="1"/>
          <p:nvPr/>
        </p:nvSpPr>
        <p:spPr>
          <a:xfrm>
            <a:off x="838200" y="6123543"/>
            <a:ext cx="6092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Manual Insights Enablement (</a:t>
            </a:r>
            <a:r>
              <a:rPr lang="en-US" dirty="0">
                <a:latin typeface="+mn-lt"/>
              </a:rPr>
              <a:t>insights-client</a:t>
            </a:r>
            <a:r>
              <a:rPr lang="en-US" dirty="0"/>
              <a:t>):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08F7BEAB-9E88-6815-37B5-42B965AF5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5725954"/>
            <a:ext cx="3611880" cy="112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53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7A1918-E29C-31FC-59C3-D4592DB4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System Purpose Attributes</a:t>
            </a:r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6C444288-227D-5932-A8CC-DA9F9C6C83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375579"/>
              </p:ext>
            </p:extLst>
          </p:nvPr>
        </p:nvGraphicFramePr>
        <p:xfrm>
          <a:off x="1089660" y="1690688"/>
          <a:ext cx="5608320" cy="2286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Metin kutusu 5">
            <a:extLst>
              <a:ext uri="{FF2B5EF4-FFF2-40B4-BE49-F238E27FC236}">
                <a16:creationId xmlns:a16="http://schemas.microsoft.com/office/drawing/2014/main" id="{FEFE679A-EE97-1288-35CC-170016232410}"/>
              </a:ext>
            </a:extLst>
          </p:cNvPr>
          <p:cNvSpPr txBox="1"/>
          <p:nvPr/>
        </p:nvSpPr>
        <p:spPr>
          <a:xfrm>
            <a:off x="6697980" y="1690688"/>
            <a:ext cx="6092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b="1" dirty="0"/>
              <a:t>Setting Attributes:</a:t>
            </a:r>
            <a:endParaRPr lang="en-US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FC3BDDA-E4D3-ED05-17E7-55982BA04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7513" y="2205455"/>
            <a:ext cx="3744827" cy="1621592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750D5CDA-DDF4-393B-BE7F-D289D4D7F6E3}"/>
              </a:ext>
            </a:extLst>
          </p:cNvPr>
          <p:cNvSpPr txBox="1"/>
          <p:nvPr/>
        </p:nvSpPr>
        <p:spPr>
          <a:xfrm>
            <a:off x="1067606" y="4008775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Listing Valid Values (</a:t>
            </a:r>
            <a:r>
              <a:rPr lang="en-US" b="1" dirty="0">
                <a:latin typeface="+mn-lt"/>
              </a:rPr>
              <a:t>--list</a:t>
            </a:r>
            <a:r>
              <a:rPr lang="en-US" b="1" dirty="0"/>
              <a:t>):</a:t>
            </a:r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71ADE26A-EF66-8BDE-BDE0-8C496273E4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6840" y="4648428"/>
            <a:ext cx="4709160" cy="167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716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7BA8B7A0-5166-71F9-B189-9A4DDFCD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Graphical Registration via RHEL Web Console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CF7B184-BD5C-2EE9-BCCE-F2EE40B62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pPr lvl="0"/>
            <a:r>
              <a:rPr lang="en-US" sz="1700" b="1"/>
              <a:t>Access Requirement:</a:t>
            </a:r>
            <a:r>
              <a:rPr lang="en-US" sz="1700"/>
              <a:t> Log in to the RHEL web console as a privileged user. </a:t>
            </a:r>
          </a:p>
          <a:p>
            <a:pPr lvl="0"/>
            <a:r>
              <a:rPr lang="en-US" sz="1700" b="1"/>
              <a:t>Navigation:</a:t>
            </a:r>
            <a:r>
              <a:rPr lang="en-US" sz="1700"/>
              <a:t> Click </a:t>
            </a:r>
            <a:r>
              <a:rPr lang="en-US" sz="1700" b="1"/>
              <a:t>Subscriptions</a:t>
            </a:r>
            <a:r>
              <a:rPr lang="en-US" sz="1700"/>
              <a:t> in the side menu to view subscription status and installed products. </a:t>
            </a:r>
          </a:p>
          <a:p>
            <a:pPr lvl="0"/>
            <a:r>
              <a:rPr lang="en-US" sz="1700" b="1"/>
              <a:t>Initiation:</a:t>
            </a:r>
            <a:r>
              <a:rPr lang="en-US" sz="1700"/>
              <a:t> Click </a:t>
            </a:r>
            <a:r>
              <a:rPr lang="en-US" sz="1700" b="1"/>
              <a:t>Register</a:t>
            </a:r>
            <a:r>
              <a:rPr lang="en-US" sz="1700"/>
              <a:t> in the Overview pane to launch the modal dialog. </a:t>
            </a:r>
          </a:p>
          <a:p>
            <a:pPr lvl="0"/>
            <a:r>
              <a:rPr lang="en-US" sz="1700" b="1"/>
              <a:t>Authentication Choices:</a:t>
            </a:r>
            <a:endParaRPr lang="en-US" sz="1700"/>
          </a:p>
          <a:p>
            <a:pPr lvl="1"/>
            <a:r>
              <a:rPr lang="en-US" sz="1700" b="1"/>
              <a:t>Account:</a:t>
            </a:r>
            <a:r>
              <a:rPr lang="en-US" sz="1700"/>
              <a:t> Red Hat username and password. </a:t>
            </a:r>
          </a:p>
          <a:p>
            <a:pPr lvl="1"/>
            <a:r>
              <a:rPr lang="en-US" sz="1700" b="1"/>
              <a:t>Activation Key:</a:t>
            </a:r>
            <a:r>
              <a:rPr lang="en-US" sz="1700"/>
              <a:t> Pre-shared token combined with an Organization ID. </a:t>
            </a:r>
          </a:p>
          <a:p>
            <a:pPr lvl="0"/>
            <a:r>
              <a:rPr lang="en-US" sz="1700" b="1"/>
              <a:t>Insights Default:</a:t>
            </a:r>
            <a:r>
              <a:rPr lang="en-US" sz="1700"/>
              <a:t> The option </a:t>
            </a:r>
            <a:r>
              <a:rPr lang="en-US" sz="1700" i="1"/>
              <a:t>Connect this system to Red Hat Insights</a:t>
            </a:r>
            <a:r>
              <a:rPr lang="en-US" sz="1700"/>
              <a:t> is preselected by default. </a:t>
            </a:r>
          </a:p>
          <a:p>
            <a:endParaRPr lang="en-US" sz="170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1A30EFC4-4BD0-D670-C439-D43BC3DC3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517" y="581892"/>
            <a:ext cx="4287245" cy="2518756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136B977E-22C2-FB33-05BB-37D00F2AF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585" y="3707894"/>
            <a:ext cx="4287245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30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F5EE5EA5-876B-05FF-C29E-265F40AE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Target Registration During Installation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DC9C75C-6E22-85AB-B138-445283F55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1700" b="1">
                <a:effectLst/>
                <a:latin typeface="Google Sans Text"/>
              </a:rPr>
              <a:t>Interactive Installation (Anaconda):</a:t>
            </a:r>
            <a:endParaRPr lang="en-US" sz="1700">
              <a:effectLst/>
              <a:latin typeface="Google Sans Text"/>
            </a:endParaRP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US" sz="1700">
                <a:effectLst/>
                <a:latin typeface="Google Sans Text"/>
              </a:rPr>
              <a:t>Target bare-metal or virtual instances register before package installation begins. 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US" sz="1700">
                <a:effectLst/>
                <a:latin typeface="Google Sans Text"/>
              </a:rPr>
              <a:t>From the Installation Summary screen, select </a:t>
            </a:r>
            <a:r>
              <a:rPr lang="en-US" sz="1700" b="1">
                <a:effectLst/>
                <a:latin typeface="Google Sans Text"/>
              </a:rPr>
              <a:t>Connect to Red Hat</a:t>
            </a:r>
            <a:r>
              <a:rPr lang="en-US" sz="1700">
                <a:effectLst/>
                <a:latin typeface="Google Sans Text"/>
              </a:rPr>
              <a:t>. 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US" sz="1700">
                <a:effectLst/>
                <a:latin typeface="Google Sans Text"/>
              </a:rPr>
              <a:t>Authenticate via Account credentials or an </a:t>
            </a:r>
            <a:r>
              <a:rPr lang="en-US" sz="1700" b="1">
                <a:effectLst/>
                <a:latin typeface="Google Sans Text"/>
              </a:rPr>
              <a:t>Activation Key</a:t>
            </a:r>
            <a:r>
              <a:rPr lang="en-US" sz="1700">
                <a:effectLst/>
                <a:latin typeface="Google Sans Text"/>
              </a:rPr>
              <a:t>. 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US" sz="1700">
                <a:effectLst/>
                <a:latin typeface="Google Sans Text"/>
              </a:rPr>
              <a:t>Optionally configure </a:t>
            </a:r>
            <a:r>
              <a:rPr lang="en-US" sz="1700" b="1">
                <a:effectLst/>
                <a:latin typeface="Google Sans Text"/>
              </a:rPr>
              <a:t>System Purpose</a:t>
            </a:r>
            <a:r>
              <a:rPr lang="en-US" sz="1700">
                <a:effectLst/>
                <a:latin typeface="Google Sans Text"/>
              </a:rPr>
              <a:t> tags and enable </a:t>
            </a:r>
            <a:r>
              <a:rPr lang="en-US" sz="1700" b="1">
                <a:effectLst/>
                <a:latin typeface="Google Sans Text"/>
              </a:rPr>
              <a:t>Red Hat Insights</a:t>
            </a:r>
            <a:r>
              <a:rPr lang="en-US" sz="1700">
                <a:effectLst/>
                <a:latin typeface="Google Sans Text"/>
              </a:rPr>
              <a:t>. </a:t>
            </a:r>
          </a:p>
          <a:p>
            <a:pPr marL="0" marR="0" lvl="0" indent="-342900">
              <a:buFont typeface="Arial" panose="020B0604020202020204" pitchFamily="34" charset="0"/>
              <a:buChar char="•"/>
            </a:pPr>
            <a:r>
              <a:rPr lang="en-US" sz="1700" b="1">
                <a:effectLst/>
                <a:latin typeface="Google Sans Text"/>
              </a:rPr>
              <a:t>Automated Installation (Kickstart):</a:t>
            </a:r>
            <a:endParaRPr lang="en-US" sz="1700">
              <a:effectLst/>
              <a:latin typeface="Google Sans Text"/>
            </a:endParaRP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US" sz="1700">
                <a:effectLst/>
                <a:latin typeface="Google Sans Text"/>
              </a:rPr>
              <a:t>Use the </a:t>
            </a:r>
            <a:r>
              <a:rPr lang="en-US" sz="1700" b="1">
                <a:effectLst/>
                <a:latin typeface="Google Sans Text"/>
              </a:rPr>
              <a:t>rhsm</a:t>
            </a:r>
            <a:r>
              <a:rPr lang="en-US" sz="1700">
                <a:effectLst/>
                <a:latin typeface="Google Sans Text"/>
              </a:rPr>
              <a:t> Kickstart command in configuration files.</a:t>
            </a:r>
          </a:p>
          <a:p>
            <a:pPr marL="0" marR="0" lvl="1" indent="-285750">
              <a:buFont typeface="Arial" panose="020B0604020202020204" pitchFamily="34" charset="0"/>
              <a:buChar char="•"/>
            </a:pPr>
            <a:r>
              <a:rPr lang="en-US" sz="1700" i="1">
                <a:effectLst/>
                <a:latin typeface="Google Sans Text"/>
              </a:rPr>
              <a:t>Requirement:</a:t>
            </a:r>
            <a:r>
              <a:rPr lang="en-US" sz="1700">
                <a:effectLst/>
                <a:latin typeface="Google Sans Text"/>
              </a:rPr>
              <a:t> Must supply an activation key and organization identifier.</a:t>
            </a:r>
          </a:p>
          <a:p>
            <a:endParaRPr lang="en-US" sz="17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8646FF7-B8DA-C2E8-1BC6-78642229C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042" y="581892"/>
            <a:ext cx="4046194" cy="251875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D78F03F-23F8-2748-76BC-E63AC7E1A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96" y="3707894"/>
            <a:ext cx="3982223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950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94B5DA-47FE-55F5-D240-2DAFB8ED7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System Identity Certificates &amp; Inspection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İçerik Yer Tutucusu 3">
            <a:extLst>
              <a:ext uri="{FF2B5EF4-FFF2-40B4-BE49-F238E27FC236}">
                <a16:creationId xmlns:a16="http://schemas.microsoft.com/office/drawing/2014/main" id="{EBA0AF69-A055-6950-4DD7-C11FA73F2E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3369622"/>
              </p:ext>
            </p:extLst>
          </p:nvPr>
        </p:nvGraphicFramePr>
        <p:xfrm>
          <a:off x="0" y="0"/>
          <a:ext cx="12192000" cy="45490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41081343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355211971"/>
                    </a:ext>
                  </a:extLst>
                </a:gridCol>
              </a:tblGrid>
              <a:tr h="76730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Certificate Path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Certificate &amp; Key Purpose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47296504"/>
                  </a:ext>
                </a:extLst>
              </a:tr>
              <a:tr h="126057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>
                          <a:effectLst/>
                        </a:rPr>
                        <a:t>/etc/pki/product-default/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Identifies the specific Red Hat products installed on the system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58924343"/>
                  </a:ext>
                </a:extLst>
              </a:tr>
              <a:tr h="126057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/</a:t>
                      </a:r>
                      <a:r>
                        <a:rPr lang="en-US" sz="2000" dirty="0" err="1">
                          <a:effectLst/>
                        </a:rPr>
                        <a:t>etc</a:t>
                      </a:r>
                      <a:r>
                        <a:rPr lang="en-US" sz="2000" dirty="0">
                          <a:effectLst/>
                        </a:rPr>
                        <a:t>/</a:t>
                      </a:r>
                      <a:r>
                        <a:rPr lang="en-US" sz="2000" dirty="0" err="1">
                          <a:effectLst/>
                        </a:rPr>
                        <a:t>pki</a:t>
                      </a:r>
                      <a:r>
                        <a:rPr lang="en-US" sz="2000" dirty="0">
                          <a:effectLst/>
                        </a:rPr>
                        <a:t>/consumer/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>
                          <a:effectLst/>
                        </a:rPr>
                        <a:t>Certificate and key pair identifying the registered system instance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07721555"/>
                  </a:ext>
                </a:extLst>
              </a:tr>
              <a:tr h="126057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/</a:t>
                      </a:r>
                      <a:r>
                        <a:rPr lang="en-US" sz="2000" dirty="0" err="1">
                          <a:effectLst/>
                        </a:rPr>
                        <a:t>etc</a:t>
                      </a:r>
                      <a:r>
                        <a:rPr lang="en-US" sz="2000" dirty="0">
                          <a:effectLst/>
                        </a:rPr>
                        <a:t>/</a:t>
                      </a:r>
                      <a:r>
                        <a:rPr lang="en-US" sz="2000" dirty="0" err="1">
                          <a:effectLst/>
                        </a:rPr>
                        <a:t>pki</a:t>
                      </a:r>
                      <a:r>
                        <a:rPr lang="en-US" sz="2000" dirty="0">
                          <a:effectLst/>
                        </a:rPr>
                        <a:t>/entitlement/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US" dirty="0">
                          <a:effectLst/>
                        </a:rPr>
                        <a:t>Certificate and key pair authenticating the system to content repositories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9382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841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2B506DB-1F5B-F640-754B-3DAE75F5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100"/>
              <a:t>System Identity Certificates &amp; Inspection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BFC441-40FD-02A7-D3DE-30296F40F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b="1"/>
              <a:t>Inspecting Product Certificates (rct cat-cert):</a:t>
            </a:r>
            <a:endParaRPr lang="en-US" sz="1800"/>
          </a:p>
          <a:p>
            <a:pPr lvl="0"/>
            <a:r>
              <a:rPr lang="en-US" sz="1800"/>
              <a:t>Use rct cat-cert to read metadata (version, serial, validity dates, architecture, product name, and release tags):</a:t>
            </a:r>
          </a:p>
          <a:p>
            <a:endParaRPr 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3BD0B15-04E3-5F36-4275-101F0FF344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180" b="1"/>
          <a:stretch>
            <a:fillRect/>
          </a:stretch>
        </p:blipFill>
        <p:spPr>
          <a:xfrm>
            <a:off x="6055621" y="650494"/>
            <a:ext cx="5492252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761</Words>
  <Application>Microsoft Office PowerPoint</Application>
  <PresentationFormat>Geniş ekran</PresentationFormat>
  <Paragraphs>93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Courier New</vt:lpstr>
      <vt:lpstr>Office Teması</vt:lpstr>
      <vt:lpstr>Red Hat System Administration I 10.0</vt:lpstr>
      <vt:lpstr>Registering Systems for Red Hat Support</vt:lpstr>
      <vt:lpstr>Registering Systems for Red Hat Support</vt:lpstr>
      <vt:lpstr>Modern System Registration: The rhc Tool</vt:lpstr>
      <vt:lpstr>Automation via Activation Keys &amp; rhc Disconnection</vt:lpstr>
      <vt:lpstr>Automation via Activation Keys &amp; rhc Disconnection</vt:lpstr>
      <vt:lpstr>Legacy Registration with subscription-manager</vt:lpstr>
      <vt:lpstr>Setting System Purpose Attributes</vt:lpstr>
      <vt:lpstr>Graphical Registration via RHEL Web Console</vt:lpstr>
      <vt:lpstr>Target Registration During Installation</vt:lpstr>
      <vt:lpstr>System Identity Certificates &amp; Inspection</vt:lpstr>
      <vt:lpstr>System Identity Certificates &amp; Inspection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Dilara Gülenç</dc:creator>
  <cp:lastModifiedBy>Dilara Gülenç</cp:lastModifiedBy>
  <cp:revision>1</cp:revision>
  <dcterms:created xsi:type="dcterms:W3CDTF">2026-10-27T12:09:37Z</dcterms:created>
  <dcterms:modified xsi:type="dcterms:W3CDTF">2026-10-27T12:41:09Z</dcterms:modified>
</cp:coreProperties>
</file>